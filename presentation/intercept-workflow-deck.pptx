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7"/>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Let them settle, then go straight to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after this is either "here is the standard workflow" or "here is where analytics bends it". If a practice does not serve that sentence, do not adopt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for assumptions on the slides. Flag the second out loud. If a client contract stops their data living in our storage, the data slide is wrong and risk four becomes the real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killer detail is that Drive loses work silently. Nobody finds out. If they push on version history, the answer is that it is per file, and a result is not produced by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Saying this early buys credibility cheaply. It signals you know the standard answer and are not inventing a bespoke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This slide is the argument. Land number two hardest: a join that duplicates rows does not throw an exception, it just hands you a bigger number. Nothing goes red. That changes what review is for and what tests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the difference, right is the decision. If anyone challenges a recommendation later, come back here and show which difference it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tag is the direct answer to "last month’s numbers cannot be rebuilt", and it comes from difference one. If pushed on evidence for short branches, see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specifically whether trunk based logic holds for a small analytics team. Do not overclaim DORA. Say it is suggestive, not proof, and that the two axis point is what you actually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reviews take three days, people batch work into enormous pull requests to amortise the wait, and then they are too big to review. That is the death spiral. Labelling removes ambiguity about what must be addressed, and that ambiguity is what makes review feel adversarial.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card is the bridge into CI. Git guarantees the text lines up. It has no idea what the code means. Automated checks are the only thing that catches that, which is why merging and CI are one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Checks three and four come from differences four and two. A software team would have one and two and stop. The model gate is the expensive one, so gate it to run only when model or feature files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Likeliest technical question, so know it cold. Also require one approving review and require the branch to be up to date. That last rule is what drags a merge conflict into the pull request instead of onto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column is the contrarian call. Concede early: DVC is right the moment a project needs to pin a snapshot. You are arguing against it as a default at five people, not against the tool. It also survives a data residency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Comes from difference three. A minor version bump in a library shifts your numbers and nobody joins those two facts up. Rebuilding an August deliverable in November is four commands: check out the tag, restore the lockfile, read the recorded path,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lane rule pre empts "is this not heavy for five people". It comes from the sixth difference, which is that a lot of this work dies quietly, unlike software where nearly everything you write is meant to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hitting their first merge conflict alone at six in the evening before a client deadline is the single thing most likely to kill this. The number to watch is time from pull request opened to merged. Past a day and staying there means the process is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for the judgement to know which two or three decisions matter most. This is that answer. Everything else, DVC or LFS, MLflow or a metadata file, is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these. The fourth is a real dependency, not a hedge. It is the second assumption from slide three, and if it is true the data answer gets rebuilt around the client’s own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on questions rather than a summary signals the recommendation is conditional on things you could not find out. Stop here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C"/>
        </a:solidFill>
      </p:bgPr>
    </p:bg>
    <p:spTree>
      <p:nvGrpSpPr>
        <p:cNvPr id="1" name=""/>
        <p:cNvGrpSpPr/>
        <p:nvPr/>
      </p:nvGrpSpPr>
      <p:grpSpPr>
        <a:xfrm>
          <a:off x="0" y="0"/>
          <a:ext cx="0" cy="0"/>
          <a:chOff x="0" y="0"/>
          <a:chExt cx="0" cy="0"/>
        </a:xfrm>
      </p:grpSpPr>
      <p:sp>
        <p:nvSpPr>
          <p:cNvPr id="2" name="Text 0"/>
          <p:cNvSpPr txBox="1"/>
          <p:nvPr/>
        </p:nvSpPr>
        <p:spPr>
          <a:xfrm>
            <a:off x="731520" y="2286000"/>
            <a:ext cx="10698480" cy="237744"/>
          </a:xfrm>
          <a:prstGeom prst="rect">
            <a:avLst/>
          </a:prstGeom>
          <a:noFill/>
          <a:ln/>
        </p:spPr>
        <p:txBody>
          <a:bodyPr wrap="square" lIns="0" tIns="0" rIns="0" bIns="0" rtlCol="0" anchor="ctr"/>
          <a:lstStyle/>
          <a:p>
            <a:pPr indent="0" marL="0">
              <a:buNone/>
            </a:pPr>
            <a:r>
              <a:rPr lang="en-US" sz="1100" b="1" spc="220" kern="0" dirty="0">
                <a:solidFill>
                  <a:srgbClr val="8FA6C2"/>
                </a:solidFill>
                <a:latin typeface="Arial" pitchFamily="34" charset="0"/>
                <a:ea typeface="Arial" pitchFamily="34" charset="-122"/>
                <a:cs typeface="Arial" pitchFamily="34" charset="-120"/>
              </a:rPr>
              <a:t>INTERCEPT  ·  TAKE-HOME CASE</a:t>
            </a:r>
            <a:endParaRPr lang="en-US" sz="1100" dirty="0"/>
          </a:p>
        </p:txBody>
      </p:sp>
      <p:sp>
        <p:nvSpPr>
          <p:cNvPr id="3" name="Text 1"/>
          <p:cNvSpPr txBox="1"/>
          <p:nvPr/>
        </p:nvSpPr>
        <p:spPr>
          <a:xfrm>
            <a:off x="731520" y="2743200"/>
            <a:ext cx="7315200" cy="91440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Analytics on GitHub</a:t>
            </a:r>
            <a:endParaRPr lang="en-US" sz="4600" dirty="0"/>
          </a:p>
        </p:txBody>
      </p:sp>
      <p:sp>
        <p:nvSpPr>
          <p:cNvPr id="4" name="Text 2"/>
          <p:cNvSpPr txBox="1"/>
          <p:nvPr/>
        </p:nvSpPr>
        <p:spPr>
          <a:xfrm>
            <a:off x="731520" y="3794760"/>
            <a:ext cx="7315200" cy="365760"/>
          </a:xfrm>
          <a:prstGeom prst="rect">
            <a:avLst/>
          </a:prstGeom>
          <a:noFill/>
          <a:ln/>
        </p:spPr>
        <p:txBody>
          <a:bodyPr wrap="square" lIns="0" tIns="0" rIns="0" bIns="0" rtlCol="0" anchor="ctr"/>
          <a:lstStyle/>
          <a:p>
            <a:pPr indent="0" marL="0">
              <a:buNone/>
            </a:pPr>
            <a:r>
              <a:rPr lang="en-US" sz="1500" dirty="0">
                <a:solidFill>
                  <a:srgbClr val="C3D2E2"/>
                </a:solidFill>
                <a:latin typeface="Calibri" pitchFamily="34" charset="0"/>
                <a:ea typeface="Calibri" pitchFamily="34" charset="-122"/>
                <a:cs typeface="Calibri" pitchFamily="34" charset="-120"/>
              </a:rPr>
              <a:t>A workflow for five analysts, and why it is not quite the software one</a:t>
            </a:r>
            <a:endParaRPr lang="en-US" sz="1500" dirty="0"/>
          </a:p>
        </p:txBody>
      </p:sp>
      <p:sp>
        <p:nvSpPr>
          <p:cNvPr id="5" name="Shape 3"/>
          <p:cNvSpPr/>
          <p:nvPr/>
        </p:nvSpPr>
        <p:spPr>
          <a:xfrm>
            <a:off x="9418320" y="2377440"/>
            <a:ext cx="0" cy="2743200"/>
          </a:xfrm>
          <a:prstGeom prst="line">
            <a:avLst/>
          </a:prstGeom>
          <a:noFill/>
          <a:ln w="19050">
            <a:solidFill>
              <a:srgbClr val="8FA6C2"/>
            </a:solidFill>
            <a:prstDash val="solid"/>
          </a:ln>
        </p:spPr>
        <p:txBody>
          <a:bodyPr/>
          <a:p/>
        </p:txBody>
      </p:sp>
      <p:sp>
        <p:nvSpPr>
          <p:cNvPr id="6" name="Shape 4"/>
          <p:cNvSpPr/>
          <p:nvPr/>
        </p:nvSpPr>
        <p:spPr>
          <a:xfrm>
            <a:off x="9345168" y="2304288"/>
            <a:ext cx="146304" cy="146304"/>
          </a:xfrm>
          <a:prstGeom prst="ellipse">
            <a:avLst/>
          </a:prstGeom>
          <a:solidFill>
            <a:srgbClr val="FFFFFF"/>
          </a:solidFill>
          <a:ln w="12700">
            <a:solidFill>
              <a:srgbClr val="FFFFFF"/>
            </a:solidFill>
            <a:prstDash val="solid"/>
          </a:ln>
        </p:spPr>
        <p:txBody>
          <a:bodyPr/>
          <a:p/>
        </p:txBody>
      </p:sp>
      <p:sp>
        <p:nvSpPr>
          <p:cNvPr id="7" name="Shape 5"/>
          <p:cNvSpPr/>
          <p:nvPr/>
        </p:nvSpPr>
        <p:spPr>
          <a:xfrm>
            <a:off x="9345168" y="2852928"/>
            <a:ext cx="146304" cy="146304"/>
          </a:xfrm>
          <a:prstGeom prst="ellipse">
            <a:avLst/>
          </a:prstGeom>
          <a:solidFill>
            <a:srgbClr val="FFFFFF"/>
          </a:solidFill>
          <a:ln w="12700">
            <a:solidFill>
              <a:srgbClr val="FFFFFF"/>
            </a:solidFill>
            <a:prstDash val="solid"/>
          </a:ln>
        </p:spPr>
        <p:txBody>
          <a:bodyPr/>
          <a:p/>
        </p:txBody>
      </p:sp>
      <p:sp>
        <p:nvSpPr>
          <p:cNvPr id="8" name="Shape 6"/>
          <p:cNvSpPr/>
          <p:nvPr/>
        </p:nvSpPr>
        <p:spPr>
          <a:xfrm>
            <a:off x="9345168" y="3401568"/>
            <a:ext cx="146304" cy="146304"/>
          </a:xfrm>
          <a:prstGeom prst="ellipse">
            <a:avLst/>
          </a:prstGeom>
          <a:solidFill>
            <a:srgbClr val="FFFFFF"/>
          </a:solidFill>
          <a:ln w="12700">
            <a:solidFill>
              <a:srgbClr val="FFFFFF"/>
            </a:solidFill>
            <a:prstDash val="solid"/>
          </a:ln>
        </p:spPr>
        <p:txBody>
          <a:bodyPr/>
          <a:p/>
        </p:txBody>
      </p:sp>
      <p:sp>
        <p:nvSpPr>
          <p:cNvPr id="9" name="Shape 7"/>
          <p:cNvSpPr/>
          <p:nvPr/>
        </p:nvSpPr>
        <p:spPr>
          <a:xfrm>
            <a:off x="9345168" y="5047488"/>
            <a:ext cx="146304" cy="146304"/>
          </a:xfrm>
          <a:prstGeom prst="ellipse">
            <a:avLst/>
          </a:prstGeom>
          <a:solidFill>
            <a:srgbClr val="FFFFFF"/>
          </a:solidFill>
          <a:ln w="12700">
            <a:solidFill>
              <a:srgbClr val="FFFFFF"/>
            </a:solidFill>
            <a:prstDash val="solid"/>
          </a:ln>
        </p:spPr>
        <p:txBody>
          <a:bodyPr/>
          <a:p/>
        </p:txBody>
      </p:sp>
      <p:sp>
        <p:nvSpPr>
          <p:cNvPr id="10" name="Shape 8"/>
          <p:cNvSpPr/>
          <p:nvPr/>
        </p:nvSpPr>
        <p:spPr>
          <a:xfrm>
            <a:off x="9418320" y="3474720"/>
            <a:ext cx="914400" cy="548640"/>
          </a:xfrm>
          <a:prstGeom prst="line">
            <a:avLst/>
          </a:prstGeom>
          <a:noFill/>
          <a:ln w="19050">
            <a:solidFill>
              <a:srgbClr val="D6A24A"/>
            </a:solidFill>
            <a:prstDash val="solid"/>
          </a:ln>
        </p:spPr>
        <p:txBody>
          <a:bodyPr/>
          <a:p/>
        </p:txBody>
      </p:sp>
      <p:sp>
        <p:nvSpPr>
          <p:cNvPr id="11" name="Shape 9"/>
          <p:cNvSpPr/>
          <p:nvPr/>
        </p:nvSpPr>
        <p:spPr>
          <a:xfrm>
            <a:off x="10332720" y="4023360"/>
            <a:ext cx="0" cy="548640"/>
          </a:xfrm>
          <a:prstGeom prst="line">
            <a:avLst/>
          </a:prstGeom>
          <a:noFill/>
          <a:ln w="19050">
            <a:solidFill>
              <a:srgbClr val="D6A24A"/>
            </a:solidFill>
            <a:prstDash val="solid"/>
          </a:ln>
        </p:spPr>
        <p:txBody>
          <a:bodyPr/>
          <a:p/>
        </p:txBody>
      </p:sp>
      <p:sp>
        <p:nvSpPr>
          <p:cNvPr id="12" name="Shape 10"/>
          <p:cNvSpPr/>
          <p:nvPr/>
        </p:nvSpPr>
        <p:spPr>
          <a:xfrm flipH="1">
            <a:off x="9418320" y="4572000"/>
            <a:ext cx="914400" cy="548640"/>
          </a:xfrm>
          <a:prstGeom prst="line">
            <a:avLst/>
          </a:prstGeom>
          <a:noFill/>
          <a:ln w="19050">
            <a:solidFill>
              <a:srgbClr val="D6A24A"/>
            </a:solidFill>
            <a:prstDash val="solid"/>
          </a:ln>
        </p:spPr>
        <p:txBody>
          <a:bodyPr/>
          <a:p/>
        </p:txBody>
      </p:sp>
      <p:sp>
        <p:nvSpPr>
          <p:cNvPr id="13" name="Shape 11"/>
          <p:cNvSpPr/>
          <p:nvPr/>
        </p:nvSpPr>
        <p:spPr>
          <a:xfrm>
            <a:off x="10259568" y="3950208"/>
            <a:ext cx="146304" cy="146304"/>
          </a:xfrm>
          <a:prstGeom prst="ellipse">
            <a:avLst/>
          </a:prstGeom>
          <a:solidFill>
            <a:srgbClr val="D6A24A"/>
          </a:solidFill>
          <a:ln w="12700">
            <a:solidFill>
              <a:srgbClr val="D6A24A"/>
            </a:solidFill>
            <a:prstDash val="solid"/>
          </a:ln>
        </p:spPr>
        <p:txBody>
          <a:bodyPr/>
          <a:p/>
        </p:txBody>
      </p:sp>
      <p:sp>
        <p:nvSpPr>
          <p:cNvPr id="14" name="Shape 12"/>
          <p:cNvSpPr/>
          <p:nvPr/>
        </p:nvSpPr>
        <p:spPr>
          <a:xfrm>
            <a:off x="10259568" y="4498848"/>
            <a:ext cx="146304" cy="146304"/>
          </a:xfrm>
          <a:prstGeom prst="ellipse">
            <a:avLst/>
          </a:prstGeom>
          <a:solidFill>
            <a:srgbClr val="D6A24A"/>
          </a:solidFill>
          <a:ln w="12700">
            <a:solidFill>
              <a:srgbClr val="D6A24A"/>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3B5C"/>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237744"/>
          </a:xfrm>
          <a:prstGeom prst="rect">
            <a:avLst/>
          </a:prstGeom>
          <a:noFill/>
          <a:ln/>
        </p:spPr>
        <p:txBody>
          <a:bodyPr wrap="square" lIns="0" tIns="0" rIns="0" bIns="0" rtlCol="0" anchor="ctr"/>
          <a:lstStyle/>
          <a:p>
            <a:pPr indent="0" marL="0">
              <a:buNone/>
            </a:pPr>
            <a:r>
              <a:rPr lang="en-US" sz="1050" b="1" spc="200" kern="0" dirty="0">
                <a:solidFill>
                  <a:srgbClr val="D6A24A"/>
                </a:solidFill>
                <a:latin typeface="Arial" pitchFamily="34" charset="0"/>
                <a:ea typeface="Arial" pitchFamily="34" charset="-122"/>
                <a:cs typeface="Arial" pitchFamily="34" charset="-120"/>
              </a:rPr>
              <a:t>THE CLAIM</a:t>
            </a:r>
            <a:endParaRPr lang="en-US" sz="1050" dirty="0"/>
          </a:p>
        </p:txBody>
      </p:sp>
      <p:sp>
        <p:nvSpPr>
          <p:cNvPr id="3" name="Text 1"/>
          <p:cNvSpPr txBox="1"/>
          <p:nvPr/>
        </p:nvSpPr>
        <p:spPr>
          <a:xfrm>
            <a:off x="731520" y="1828800"/>
            <a:ext cx="9601200" cy="1463040"/>
          </a:xfrm>
          <a:prstGeom prst="rect">
            <a:avLst/>
          </a:prstGeom>
          <a:noFill/>
          <a:ln/>
        </p:spPr>
        <p:txBody>
          <a:bodyPr wrap="square" lIns="0" tIns="0" rIns="0" bIns="0" rtlCol="0" anchor="ctr"/>
          <a:lstStyle/>
          <a:p>
            <a:pPr indent="0" marL="0">
              <a:lnSpc>
                <a:spcPts val="4600"/>
              </a:lnSpc>
              <a:buNone/>
            </a:pPr>
            <a:r>
              <a:rPr lang="en-US" sz="3300" b="1" dirty="0">
                <a:solidFill>
                  <a:srgbClr val="FFFFFF"/>
                </a:solidFill>
                <a:latin typeface="Arial" pitchFamily="34" charset="0"/>
                <a:ea typeface="Arial" pitchFamily="34" charset="-122"/>
                <a:cs typeface="Arial" pitchFamily="34" charset="-120"/>
              </a:rPr>
              <a:t>Adopt the standard GitHub workflow.</a:t>
            </a:r>
            <a:endParaRPr lang="en-US" sz="3300" dirty="0"/>
          </a:p>
          <a:p>
            <a:pPr indent="0" marL="0">
              <a:lnSpc>
                <a:spcPts val="4600"/>
              </a:lnSpc>
              <a:buNone/>
            </a:pPr>
            <a:r>
              <a:rPr lang="en-US" sz="3300" b="1" dirty="0">
                <a:solidFill>
                  <a:srgbClr val="FFFFFF"/>
                </a:solidFill>
                <a:latin typeface="Arial" pitchFamily="34" charset="0"/>
                <a:ea typeface="Arial" pitchFamily="34" charset="-122"/>
                <a:cs typeface="Arial" pitchFamily="34" charset="-120"/>
              </a:rPr>
              <a:t>Not for the reason software teams do.</a:t>
            </a:r>
            <a:endParaRPr lang="en-US" sz="3300" dirty="0"/>
          </a:p>
        </p:txBody>
      </p:sp>
      <p:sp>
        <p:nvSpPr>
          <p:cNvPr id="4" name="Text 2"/>
          <p:cNvSpPr txBox="1"/>
          <p:nvPr/>
        </p:nvSpPr>
        <p:spPr>
          <a:xfrm>
            <a:off x="731520" y="3520440"/>
            <a:ext cx="8686800" cy="640080"/>
          </a:xfrm>
          <a:prstGeom prst="rect">
            <a:avLst/>
          </a:prstGeom>
          <a:noFill/>
          <a:ln/>
        </p:spPr>
        <p:txBody>
          <a:bodyPr wrap="square" lIns="0" tIns="0" rIns="0" bIns="0" rtlCol="0" anchor="ctr"/>
          <a:lstStyle/>
          <a:p>
            <a:pPr indent="0" marL="0">
              <a:lnSpc>
                <a:spcPts val="2200"/>
              </a:lnSpc>
              <a:buNone/>
            </a:pPr>
            <a:r>
              <a:rPr lang="en-US" sz="1500" dirty="0">
                <a:solidFill>
                  <a:srgbClr val="C3D2E2"/>
                </a:solidFill>
                <a:latin typeface="Calibri" pitchFamily="34" charset="0"/>
                <a:ea typeface="Calibri" pitchFamily="34" charset="-122"/>
                <a:cs typeface="Calibri" pitchFamily="34" charset="-120"/>
              </a:rPr>
              <a:t>They do it to keep a system running. You would do it so that any number you have sent a client can be rebuilt exactly, by someone who did not write it.</a:t>
            </a:r>
            <a:endParaRPr lang="en-US" sz="1500" dirty="0"/>
          </a:p>
        </p:txBody>
      </p:sp>
      <p:sp>
        <p:nvSpPr>
          <p:cNvPr id="5" name="Shape 3"/>
          <p:cNvSpPr/>
          <p:nvPr/>
        </p:nvSpPr>
        <p:spPr>
          <a:xfrm>
            <a:off x="731520" y="4572000"/>
            <a:ext cx="10698480" cy="0"/>
          </a:xfrm>
          <a:prstGeom prst="line">
            <a:avLst/>
          </a:prstGeom>
          <a:noFill/>
          <a:ln w="12700">
            <a:solidFill>
              <a:srgbClr val="3D628C"/>
            </a:solidFill>
            <a:prstDash val="solid"/>
          </a:ln>
        </p:spPr>
        <p:txBody>
          <a:bodyPr/>
          <a:p/>
        </p:txBody>
      </p:sp>
      <p:sp>
        <p:nvSpPr>
          <p:cNvPr id="6" name="Text 4"/>
          <p:cNvSpPr txBox="1"/>
          <p:nvPr/>
        </p:nvSpPr>
        <p:spPr>
          <a:xfrm>
            <a:off x="731520" y="4800600"/>
            <a:ext cx="5486400" cy="219456"/>
          </a:xfrm>
          <a:prstGeom prst="rect">
            <a:avLst/>
          </a:prstGeom>
          <a:noFill/>
          <a:ln/>
        </p:spPr>
        <p:txBody>
          <a:bodyPr wrap="square" lIns="0" tIns="0" rIns="0" bIns="0" rtlCol="0" anchor="ctr"/>
          <a:lstStyle/>
          <a:p>
            <a:pPr indent="0" marL="0">
              <a:buNone/>
            </a:pPr>
            <a:r>
              <a:rPr lang="en-US" sz="950" b="1" spc="170" kern="0" dirty="0">
                <a:solidFill>
                  <a:srgbClr val="7C93AE"/>
                </a:solidFill>
                <a:latin typeface="Arial" pitchFamily="34" charset="0"/>
                <a:ea typeface="Arial" pitchFamily="34" charset="-122"/>
                <a:cs typeface="Arial" pitchFamily="34" charset="-120"/>
              </a:rPr>
              <a:t>THE THREE FAILURES IN THE BRIEF</a:t>
            </a:r>
            <a:endParaRPr lang="en-US" sz="950" dirty="0"/>
          </a:p>
        </p:txBody>
      </p:sp>
      <p:sp>
        <p:nvSpPr>
          <p:cNvPr id="7" name="Text 5"/>
          <p:cNvSpPr txBox="1"/>
          <p:nvPr/>
        </p:nvSpPr>
        <p:spPr>
          <a:xfrm>
            <a:off x="731520" y="5193792"/>
            <a:ext cx="310896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Work disappears</a:t>
            </a:r>
            <a:endParaRPr lang="en-US" sz="1600" dirty="0"/>
          </a:p>
        </p:txBody>
      </p:sp>
      <p:sp>
        <p:nvSpPr>
          <p:cNvPr id="8" name="Text 6"/>
          <p:cNvSpPr txBox="1"/>
          <p:nvPr/>
        </p:nvSpPr>
        <p:spPr>
          <a:xfrm>
            <a:off x="731520" y="5577840"/>
            <a:ext cx="3108960" cy="274320"/>
          </a:xfrm>
          <a:prstGeom prst="rect">
            <a:avLst/>
          </a:prstGeom>
          <a:noFill/>
          <a:ln/>
        </p:spPr>
        <p:txBody>
          <a:bodyPr wrap="square" lIns="0" tIns="0" rIns="0" bIns="0" rtlCol="0" anchor="ctr"/>
          <a:lstStyle/>
          <a:p>
            <a:pPr indent="0" marL="0">
              <a:buNone/>
            </a:pPr>
            <a:r>
              <a:rPr lang="en-US" sz="1300" dirty="0">
                <a:solidFill>
                  <a:srgbClr val="D6A24A"/>
                </a:solidFill>
                <a:latin typeface="Courier New" pitchFamily="34" charset="0"/>
                <a:ea typeface="Courier New" pitchFamily="34" charset="-122"/>
                <a:cs typeface="Courier New" pitchFamily="34" charset="-120"/>
              </a:rPr>
              <a:t>branches</a:t>
            </a:r>
            <a:endParaRPr lang="en-US" sz="1300" dirty="0"/>
          </a:p>
        </p:txBody>
      </p:sp>
      <p:sp>
        <p:nvSpPr>
          <p:cNvPr id="9" name="Text 7"/>
          <p:cNvSpPr txBox="1"/>
          <p:nvPr/>
        </p:nvSpPr>
        <p:spPr>
          <a:xfrm>
            <a:off x="4297680" y="5193792"/>
            <a:ext cx="310896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Cannot rebuild numbers</a:t>
            </a:r>
            <a:endParaRPr lang="en-US" sz="1600" dirty="0"/>
          </a:p>
        </p:txBody>
      </p:sp>
      <p:sp>
        <p:nvSpPr>
          <p:cNvPr id="10" name="Text 8"/>
          <p:cNvSpPr txBox="1"/>
          <p:nvPr/>
        </p:nvSpPr>
        <p:spPr>
          <a:xfrm>
            <a:off x="4297680" y="5577840"/>
            <a:ext cx="3108960" cy="274320"/>
          </a:xfrm>
          <a:prstGeom prst="rect">
            <a:avLst/>
          </a:prstGeom>
          <a:noFill/>
          <a:ln/>
        </p:spPr>
        <p:txBody>
          <a:bodyPr wrap="square" lIns="0" tIns="0" rIns="0" bIns="0" rtlCol="0" anchor="ctr"/>
          <a:lstStyle/>
          <a:p>
            <a:pPr indent="0" marL="0">
              <a:buNone/>
            </a:pPr>
            <a:r>
              <a:rPr lang="en-US" sz="1300" dirty="0">
                <a:solidFill>
                  <a:srgbClr val="D6A24A"/>
                </a:solidFill>
                <a:latin typeface="Courier New" pitchFamily="34" charset="0"/>
                <a:ea typeface="Courier New" pitchFamily="34" charset="-122"/>
                <a:cs typeface="Courier New" pitchFamily="34" charset="-120"/>
              </a:rPr>
              <a:t>tags</a:t>
            </a:r>
            <a:endParaRPr lang="en-US" sz="1300" dirty="0"/>
          </a:p>
        </p:txBody>
      </p:sp>
      <p:sp>
        <p:nvSpPr>
          <p:cNvPr id="11" name="Text 9"/>
          <p:cNvSpPr txBox="1"/>
          <p:nvPr/>
        </p:nvSpPr>
        <p:spPr>
          <a:xfrm>
            <a:off x="7863840" y="5193792"/>
            <a:ext cx="310896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Bugs reach clients</a:t>
            </a:r>
            <a:endParaRPr lang="en-US" sz="1600" dirty="0"/>
          </a:p>
        </p:txBody>
      </p:sp>
      <p:sp>
        <p:nvSpPr>
          <p:cNvPr id="12" name="Text 10"/>
          <p:cNvSpPr txBox="1"/>
          <p:nvPr/>
        </p:nvSpPr>
        <p:spPr>
          <a:xfrm>
            <a:off x="7863840" y="5577840"/>
            <a:ext cx="3108960" cy="274320"/>
          </a:xfrm>
          <a:prstGeom prst="rect">
            <a:avLst/>
          </a:prstGeom>
          <a:noFill/>
          <a:ln/>
        </p:spPr>
        <p:txBody>
          <a:bodyPr wrap="square" lIns="0" tIns="0" rIns="0" bIns="0" rtlCol="0" anchor="ctr"/>
          <a:lstStyle/>
          <a:p>
            <a:pPr indent="0" marL="0">
              <a:buNone/>
            </a:pPr>
            <a:r>
              <a:rPr lang="en-US" sz="1300" dirty="0">
                <a:solidFill>
                  <a:srgbClr val="D6A24A"/>
                </a:solidFill>
                <a:latin typeface="Courier New" pitchFamily="34" charset="0"/>
                <a:ea typeface="Courier New" pitchFamily="34" charset="-122"/>
                <a:cs typeface="Courier New" pitchFamily="34" charset="-120"/>
              </a:rPr>
              <a:t>checks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STATED UP FRONT</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What I am assuming</a:t>
            </a:r>
            <a:endParaRPr lang="en-US" sz="3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0698480" cy="914400"/>
        </p:xfrm>
        <a:graphic>
          <a:graphicData uri="http://schemas.openxmlformats.org/drawingml/2006/table">
            <a:tbl>
              <a:tblPr/>
              <a:tblGrid>
                <a:gridCol w="6309360"/>
                <a:gridCol w="4389120"/>
              </a:tblGrid>
              <a:tr h="576072">
                <a:tc>
                  <a:txBody>
                    <a:bodyPr/>
                    <a:lstStyle/>
                    <a:p>
                      <a:pPr indent="0" marL="0">
                        <a:buNone/>
                      </a:pPr>
                      <a:endParaRPr lang="en-US" sz="1000" dirty="0"/>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2F4F7"/>
                    </a:solidFill>
                  </a:tcPr>
                </a:tc>
                <a:tc>
                  <a:txBody>
                    <a:bodyPr/>
                    <a:lstStyle/>
                    <a:p>
                      <a:pPr indent="0" marL="0">
                        <a:buNone/>
                      </a:pPr>
                      <a:r>
                        <a:rPr lang="en-US" sz="950" b="1" dirty="0">
                          <a:solidFill>
                            <a:srgbClr val="6E7A8C"/>
                          </a:solidFill>
                          <a:latin typeface="Arial" pitchFamily="34" charset="0"/>
                          <a:ea typeface="Arial" pitchFamily="34" charset="-122"/>
                          <a:cs typeface="Arial" pitchFamily="34" charset="-120"/>
                        </a:rPr>
                        <a:t>IF I AM WRONG</a:t>
                      </a:r>
                      <a:endParaRPr lang="en-US" sz="950" dirty="0">
                        <a:latin typeface="Arial" charset="0"/>
                        <a:ea typeface="Arial" charset="0"/>
                        <a:cs typeface="Arial"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2F4F7"/>
                    </a:solidFill>
                  </a:tcPr>
                </a:tc>
              </a:tr>
              <a:tr h="576072">
                <a:tc>
                  <a:txBody>
                    <a:bodyPr/>
                    <a:lstStyle/>
                    <a:p>
                      <a:pPr indent="0" marL="0">
                        <a:buNone/>
                      </a:pPr>
                      <a:r>
                        <a:rPr lang="en-US" sz="1400" dirty="0">
                          <a:solidFill>
                            <a:srgbClr val="121821"/>
                          </a:solidFill>
                          <a:latin typeface="Calibri" pitchFamily="34" charset="0"/>
                          <a:ea typeface="Calibri" pitchFamily="34" charset="-122"/>
                          <a:cs typeface="Calibri" pitchFamily="34" charset="-120"/>
                        </a:rPr>
                        <a:t>We hand clients numbers and models, not software they run</a:t>
                      </a:r>
                      <a:endParaRPr lang="en-US" sz="140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c>
                  <a:txBody>
                    <a:bodyPr/>
                    <a:lstStyle/>
                    <a:p>
                      <a:pPr indent="0" marL="0">
                        <a:buNone/>
                      </a:pPr>
                      <a:r>
                        <a:rPr lang="en-US" sz="1250" dirty="0">
                          <a:solidFill>
                            <a:srgbClr val="6E7A8C"/>
                          </a:solidFill>
                          <a:latin typeface="Calibri" pitchFamily="34" charset="0"/>
                          <a:ea typeface="Calibri" pitchFamily="34" charset="-122"/>
                          <a:cs typeface="Calibri" pitchFamily="34" charset="-120"/>
                        </a:rPr>
                        <a:t>We would need a way to fix old versions</a:t>
                      </a:r>
                      <a:endParaRPr lang="en-US" sz="125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r>
              <a:tr h="576072">
                <a:tc>
                  <a:txBody>
                    <a:bodyPr/>
                    <a:lstStyle/>
                    <a:p>
                      <a:pPr indent="0" marL="0">
                        <a:buNone/>
                      </a:pPr>
                      <a:r>
                        <a:rPr lang="en-US" sz="1400" b="1" dirty="0">
                          <a:solidFill>
                            <a:srgbClr val="121821"/>
                          </a:solidFill>
                          <a:latin typeface="Calibri" pitchFamily="34" charset="0"/>
                          <a:ea typeface="Calibri" pitchFamily="34" charset="-122"/>
                          <a:cs typeface="Calibri" pitchFamily="34" charset="-120"/>
                        </a:rPr>
                        <a:t>We are allowed to store the client’s data</a:t>
                      </a:r>
                      <a:endParaRPr lang="en-US" sz="140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BF3E4"/>
                    </a:solidFill>
                  </a:tcPr>
                </a:tc>
                <a:tc>
                  <a:txBody>
                    <a:bodyPr/>
                    <a:lstStyle/>
                    <a:p>
                      <a:pPr indent="0" marL="0">
                        <a:buNone/>
                      </a:pPr>
                      <a:r>
                        <a:rPr lang="en-US" sz="1250" dirty="0">
                          <a:solidFill>
                            <a:srgbClr val="8A5E14"/>
                          </a:solidFill>
                          <a:latin typeface="Calibri" pitchFamily="34" charset="0"/>
                          <a:ea typeface="Calibri" pitchFamily="34" charset="-122"/>
                          <a:cs typeface="Calibri" pitchFamily="34" charset="-120"/>
                        </a:rPr>
                        <a:t>The whole data answer changes</a:t>
                      </a:r>
                      <a:endParaRPr lang="en-US" sz="125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BF3E4"/>
                    </a:solidFill>
                  </a:tcPr>
                </a:tc>
              </a:tr>
              <a:tr h="576072">
                <a:tc>
                  <a:txBody>
                    <a:bodyPr/>
                    <a:lstStyle/>
                    <a:p>
                      <a:pPr indent="0" marL="0">
                        <a:buNone/>
                      </a:pPr>
                      <a:r>
                        <a:rPr lang="en-US" sz="1400" dirty="0">
                          <a:solidFill>
                            <a:srgbClr val="121821"/>
                          </a:solidFill>
                          <a:latin typeface="Calibri" pitchFamily="34" charset="0"/>
                          <a:ea typeface="Calibri" pitchFamily="34" charset="-122"/>
                          <a:cs typeface="Calibri" pitchFamily="34" charset="-120"/>
                        </a:rPr>
                        <a:t>The team stays around five this year</a:t>
                      </a:r>
                      <a:endParaRPr lang="en-US" sz="140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c>
                  <a:txBody>
                    <a:bodyPr/>
                    <a:lstStyle/>
                    <a:p>
                      <a:pPr indent="0" marL="0">
                        <a:buNone/>
                      </a:pPr>
                      <a:r>
                        <a:rPr lang="en-US" sz="1250" dirty="0">
                          <a:solidFill>
                            <a:srgbClr val="6E7A8C"/>
                          </a:solidFill>
                          <a:latin typeface="Calibri" pitchFamily="34" charset="0"/>
                          <a:ea typeface="Calibri" pitchFamily="34" charset="-122"/>
                          <a:cs typeface="Calibri" pitchFamily="34" charset="-120"/>
                        </a:rPr>
                        <a:t>Past ten, we need a practice copy to test on</a:t>
                      </a:r>
                      <a:endParaRPr lang="en-US" sz="125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r>
              <a:tr h="576072">
                <a:tc>
                  <a:txBody>
                    <a:bodyPr/>
                    <a:lstStyle/>
                    <a:p>
                      <a:pPr indent="0" marL="0">
                        <a:buNone/>
                      </a:pPr>
                      <a:r>
                        <a:rPr lang="en-US" sz="1400" dirty="0">
                          <a:solidFill>
                            <a:srgbClr val="121821"/>
                          </a:solidFill>
                          <a:latin typeface="Calibri" pitchFamily="34" charset="0"/>
                          <a:ea typeface="Calibri" pitchFamily="34" charset="-122"/>
                          <a:cs typeface="Calibri" pitchFamily="34" charset="-120"/>
                        </a:rPr>
                        <a:t>Python, GitHub, some budget for CI minutes</a:t>
                      </a:r>
                      <a:endParaRPr lang="en-US" sz="140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c>
                  <a:txBody>
                    <a:bodyPr/>
                    <a:lstStyle/>
                    <a:p>
                      <a:pPr indent="0" marL="0">
                        <a:buNone/>
                      </a:pPr>
                      <a:r>
                        <a:rPr lang="en-US" sz="1250" dirty="0">
                          <a:solidFill>
                            <a:srgbClr val="6E7A8C"/>
                          </a:solidFill>
                          <a:latin typeface="Calibri" pitchFamily="34" charset="0"/>
                          <a:ea typeface="Calibri" pitchFamily="34" charset="-122"/>
                          <a:cs typeface="Calibri" pitchFamily="34" charset="-120"/>
                        </a:rPr>
                        <a:t>We run the checks on our own machines</a:t>
                      </a:r>
                      <a:endParaRPr lang="en-US" sz="125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r>
              <a:tr h="576072">
                <a:tc>
                  <a:txBody>
                    <a:bodyPr/>
                    <a:lstStyle/>
                    <a:p>
                      <a:pPr indent="0" marL="0">
                        <a:buNone/>
                      </a:pPr>
                      <a:r>
                        <a:rPr lang="en-US" sz="1400" dirty="0">
                          <a:solidFill>
                            <a:srgbClr val="121821"/>
                          </a:solidFill>
                          <a:latin typeface="Calibri" pitchFamily="34" charset="0"/>
                          <a:ea typeface="Calibri" pitchFamily="34" charset="-122"/>
                          <a:cs typeface="Calibri" pitchFamily="34" charset="-120"/>
                        </a:rPr>
                        <a:t>Most work becomes a client artifact</a:t>
                      </a:r>
                      <a:endParaRPr lang="en-US" sz="140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c>
                  <a:txBody>
                    <a:bodyPr/>
                    <a:lstStyle/>
                    <a:p>
                      <a:pPr indent="0" marL="0">
                        <a:buNone/>
                      </a:pPr>
                      <a:r>
                        <a:rPr lang="en-US" sz="1250" dirty="0">
                          <a:solidFill>
                            <a:srgbClr val="6E7A8C"/>
                          </a:solidFill>
                          <a:latin typeface="Calibri" pitchFamily="34" charset="0"/>
                          <a:ea typeface="Calibri" pitchFamily="34" charset="-122"/>
                          <a:cs typeface="Calibri" pitchFamily="34" charset="-120"/>
                        </a:rPr>
                        <a:t>Making everyone review everything wastes time</a:t>
                      </a:r>
                      <a:endParaRPr lang="en-US" sz="1250" dirty="0">
                        <a:latin typeface="Calibri" charset="0"/>
                        <a:ea typeface="Calibri" charset="0"/>
                        <a:cs typeface="Calibri" charset="0"/>
                      </a:endParaRPr>
                    </a:p>
                  </a:txBody>
                  <a:tcPr marL="177800" marR="177800" marT="88900" marB="88900" anchor="ctr">
                    <a:lnL w="9525" cap="flat" cmpd="sng" algn="ctr">
                      <a:solidFill>
                        <a:srgbClr val="CDD4DE"/>
                      </a:solidFill>
                      <a:prstDash val="solid"/>
                      <a:round/>
                      <a:headEnd type="none" w="med" len="med"/>
                      <a:tailEnd type="none" w="med" len="med"/>
                    </a:lnL>
                    <a:lnR w="9525" cap="flat" cmpd="sng" algn="ctr">
                      <a:solidFill>
                        <a:srgbClr val="CDD4DE"/>
                      </a:solidFill>
                      <a:prstDash val="solid"/>
                      <a:round/>
                      <a:headEnd type="none" w="med" len="med"/>
                      <a:tailEnd type="none" w="med" len="med"/>
                    </a:lnR>
                    <a:lnT w="9525" cap="flat" cmpd="sng" algn="ctr">
                      <a:solidFill>
                        <a:srgbClr val="CDD4DE"/>
                      </a:solidFill>
                      <a:prstDash val="solid"/>
                      <a:round/>
                      <a:headEnd type="none" w="med" len="med"/>
                      <a:tailEnd type="none" w="med" len="med"/>
                    </a:lnT>
                    <a:lnB w="9525" cap="flat" cmpd="sng" algn="ctr">
                      <a:solidFill>
                        <a:srgbClr val="CDD4D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31520" y="5623560"/>
            <a:ext cx="10698480" cy="292608"/>
          </a:xfrm>
          <a:prstGeom prst="rect">
            <a:avLst/>
          </a:prstGeom>
          <a:noFill/>
          <a:ln/>
        </p:spPr>
        <p:txBody>
          <a:bodyPr wrap="square" lIns="0" tIns="0" rIns="0" bIns="0" rtlCol="0" anchor="ctr"/>
          <a:lstStyle/>
          <a:p>
            <a:pPr indent="0" marL="0">
              <a:buNone/>
            </a:pPr>
            <a:r>
              <a:rPr lang="en-US" sz="1400" b="1" dirty="0">
                <a:solidFill>
                  <a:srgbClr val="8A5E14"/>
                </a:solidFill>
                <a:latin typeface="Calibri" pitchFamily="34" charset="0"/>
                <a:ea typeface="Calibri" pitchFamily="34" charset="-122"/>
                <a:cs typeface="Calibri" pitchFamily="34" charset="-120"/>
              </a:rPr>
              <a:t>The second one is load bearing. It is the first thing I would check.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1</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Drive does not know what a result is</a:t>
            </a:r>
            <a:endParaRPr lang="en-US" sz="3300" dirty="0"/>
          </a:p>
        </p:txBody>
      </p:sp>
      <p:sp>
        <p:nvSpPr>
          <p:cNvPr id="4" name="Text 2"/>
          <p:cNvSpPr txBox="1"/>
          <p:nvPr/>
        </p:nvSpPr>
        <p:spPr>
          <a:xfrm>
            <a:off x="731520" y="1828800"/>
            <a:ext cx="9601200" cy="822960"/>
          </a:xfrm>
          <a:prstGeom prst="rect">
            <a:avLst/>
          </a:prstGeom>
          <a:noFill/>
          <a:ln/>
        </p:spPr>
        <p:txBody>
          <a:bodyPr wrap="square" lIns="0" tIns="0" rIns="0" bIns="0" rtlCol="0" anchor="ctr"/>
          <a:lstStyle/>
          <a:p>
            <a:pPr indent="0" marL="0">
              <a:lnSpc>
                <a:spcPts val="2600"/>
              </a:lnSpc>
              <a:buNone/>
            </a:pPr>
            <a:r>
              <a:rPr lang="en-US" sz="1700" dirty="0">
                <a:solidFill>
                  <a:srgbClr val="121821"/>
                </a:solidFill>
                <a:latin typeface="Calibri" pitchFamily="34" charset="0"/>
                <a:ea typeface="Calibri" pitchFamily="34" charset="-122"/>
                <a:cs typeface="Calibri" pitchFamily="34" charset="-120"/>
              </a:rPr>
              <a:t>A number comes from the code, the data you pulled, the software versions you had installed, and the settings you chose.</a:t>
            </a:r>
            <a:endParaRPr lang="en-US" sz="1700" dirty="0"/>
          </a:p>
          <a:p>
            <a:pPr indent="0" marL="0">
              <a:lnSpc>
                <a:spcPts val="2600"/>
              </a:lnSpc>
              <a:buNone/>
            </a:pPr>
            <a:r>
              <a:rPr lang="en-US" sz="1700" dirty="0">
                <a:solidFill>
                  <a:srgbClr val="121821"/>
                </a:solidFill>
                <a:latin typeface="Calibri" pitchFamily="34" charset="0"/>
                <a:ea typeface="Calibri" pitchFamily="34" charset="-122"/>
                <a:cs typeface="Calibri" pitchFamily="34" charset="-120"/>
              </a:rPr>
              <a:t>All at once. Drive keeps history for one file at a time.</a:t>
            </a:r>
            <a:endParaRPr lang="en-US" sz="1700" dirty="0"/>
          </a:p>
        </p:txBody>
      </p:sp>
      <p:sp>
        <p:nvSpPr>
          <p:cNvPr id="5" name="Shape 3"/>
          <p:cNvSpPr/>
          <p:nvPr/>
        </p:nvSpPr>
        <p:spPr>
          <a:xfrm>
            <a:off x="731520" y="3063240"/>
            <a:ext cx="10698480" cy="0"/>
          </a:xfrm>
          <a:prstGeom prst="line">
            <a:avLst/>
          </a:prstGeom>
          <a:noFill/>
          <a:ln w="12700">
            <a:solidFill>
              <a:srgbClr val="CDD4DE"/>
            </a:solidFill>
            <a:prstDash val="solid"/>
          </a:ln>
        </p:spPr>
        <p:txBody>
          <a:bodyPr/>
          <a:p/>
        </p:txBody>
      </p:sp>
      <p:sp>
        <p:nvSpPr>
          <p:cNvPr id="6" name="Text 4"/>
          <p:cNvSpPr txBox="1"/>
          <p:nvPr/>
        </p:nvSpPr>
        <p:spPr>
          <a:xfrm>
            <a:off x="731520" y="3383280"/>
            <a:ext cx="3200400" cy="256032"/>
          </a:xfrm>
          <a:prstGeom prst="rect">
            <a:avLst/>
          </a:prstGeom>
          <a:noFill/>
          <a:ln/>
        </p:spPr>
        <p:txBody>
          <a:bodyPr wrap="square" lIns="0" tIns="0" rIns="0" bIns="0" rtlCol="0" anchor="ctr"/>
          <a:lstStyle/>
          <a:p>
            <a:pPr indent="0" marL="0">
              <a:buNone/>
            </a:pPr>
            <a:r>
              <a:rPr lang="en-US" sz="1100" b="1" spc="170" kern="0" dirty="0">
                <a:solidFill>
                  <a:srgbClr val="9B3720"/>
                </a:solidFill>
                <a:latin typeface="Arial" pitchFamily="34" charset="0"/>
                <a:ea typeface="Arial" pitchFamily="34" charset="-122"/>
                <a:cs typeface="Arial" pitchFamily="34" charset="-120"/>
              </a:rPr>
              <a:t>DRIVE</a:t>
            </a:r>
            <a:endParaRPr lang="en-US" sz="1100" dirty="0"/>
          </a:p>
        </p:txBody>
      </p:sp>
      <p:sp>
        <p:nvSpPr>
          <p:cNvPr id="7" name="Text 5"/>
          <p:cNvSpPr txBox="1"/>
          <p:nvPr/>
        </p:nvSpPr>
        <p:spPr>
          <a:xfrm>
            <a:off x="731520" y="3703320"/>
            <a:ext cx="3200400" cy="457200"/>
          </a:xfrm>
          <a:prstGeom prst="rect">
            <a:avLst/>
          </a:prstGeom>
          <a:noFill/>
          <a:ln/>
        </p:spPr>
        <p:txBody>
          <a:bodyPr wrap="square" lIns="0" tIns="0" rIns="0" bIns="0" rtlCol="0" anchor="ctr"/>
          <a:lstStyle/>
          <a:p>
            <a:pPr indent="0" marL="0">
              <a:buNone/>
            </a:pPr>
            <a:r>
              <a:rPr lang="en-US" sz="1500" dirty="0">
                <a:solidFill>
                  <a:srgbClr val="121821"/>
                </a:solidFill>
                <a:latin typeface="Calibri" pitchFamily="34" charset="0"/>
                <a:ea typeface="Calibri" pitchFamily="34" charset="-122"/>
                <a:cs typeface="Calibri" pitchFamily="34" charset="-120"/>
              </a:rPr>
              <a:t>Versions one file, not the whole result</a:t>
            </a:r>
            <a:endParaRPr lang="en-US" sz="1500" dirty="0"/>
          </a:p>
        </p:txBody>
      </p:sp>
      <p:sp>
        <p:nvSpPr>
          <p:cNvPr id="8" name="Text 6"/>
          <p:cNvSpPr txBox="1"/>
          <p:nvPr/>
        </p:nvSpPr>
        <p:spPr>
          <a:xfrm>
            <a:off x="4297680" y="3383280"/>
            <a:ext cx="3200400" cy="256032"/>
          </a:xfrm>
          <a:prstGeom prst="rect">
            <a:avLst/>
          </a:prstGeom>
          <a:noFill/>
          <a:ln/>
        </p:spPr>
        <p:txBody>
          <a:bodyPr wrap="square" lIns="0" tIns="0" rIns="0" bIns="0" rtlCol="0" anchor="ctr"/>
          <a:lstStyle/>
          <a:p>
            <a:pPr indent="0" marL="0">
              <a:buNone/>
            </a:pPr>
            <a:r>
              <a:rPr lang="en-US" sz="1100" b="1" spc="170" kern="0" dirty="0">
                <a:solidFill>
                  <a:srgbClr val="9B3720"/>
                </a:solidFill>
                <a:latin typeface="Arial" pitchFamily="34" charset="0"/>
                <a:ea typeface="Arial" pitchFamily="34" charset="-122"/>
                <a:cs typeface="Arial" pitchFamily="34" charset="-120"/>
              </a:rPr>
              <a:t>DROPBOX</a:t>
            </a:r>
            <a:endParaRPr lang="en-US" sz="1100" dirty="0"/>
          </a:p>
        </p:txBody>
      </p:sp>
      <p:sp>
        <p:nvSpPr>
          <p:cNvPr id="9" name="Text 7"/>
          <p:cNvSpPr txBox="1"/>
          <p:nvPr/>
        </p:nvSpPr>
        <p:spPr>
          <a:xfrm>
            <a:off x="4297680" y="3703320"/>
            <a:ext cx="3200400" cy="457200"/>
          </a:xfrm>
          <a:prstGeom prst="rect">
            <a:avLst/>
          </a:prstGeom>
          <a:noFill/>
          <a:ln/>
        </p:spPr>
        <p:txBody>
          <a:bodyPr wrap="square" lIns="0" tIns="0" rIns="0" bIns="0" rtlCol="0" anchor="ctr"/>
          <a:lstStyle/>
          <a:p>
            <a:pPr indent="0" marL="0">
              <a:buNone/>
            </a:pPr>
            <a:r>
              <a:rPr lang="en-US" sz="1500" dirty="0">
                <a:solidFill>
                  <a:srgbClr val="121821"/>
                </a:solidFill>
                <a:latin typeface="Calibri" pitchFamily="34" charset="0"/>
                <a:ea typeface="Calibri" pitchFamily="34" charset="-122"/>
                <a:cs typeface="Calibri" pitchFamily="34" charset="-120"/>
              </a:rPr>
              <a:t>Keeps copies, not reviewed changes</a:t>
            </a:r>
            <a:endParaRPr lang="en-US" sz="1500" dirty="0"/>
          </a:p>
        </p:txBody>
      </p:sp>
      <p:sp>
        <p:nvSpPr>
          <p:cNvPr id="10" name="Text 8"/>
          <p:cNvSpPr txBox="1"/>
          <p:nvPr/>
        </p:nvSpPr>
        <p:spPr>
          <a:xfrm>
            <a:off x="7863840" y="3383280"/>
            <a:ext cx="3200400" cy="256032"/>
          </a:xfrm>
          <a:prstGeom prst="rect">
            <a:avLst/>
          </a:prstGeom>
          <a:noFill/>
          <a:ln/>
        </p:spPr>
        <p:txBody>
          <a:bodyPr wrap="square" lIns="0" tIns="0" rIns="0" bIns="0" rtlCol="0" anchor="ctr"/>
          <a:lstStyle/>
          <a:p>
            <a:pPr indent="0" marL="0">
              <a:buNone/>
            </a:pPr>
            <a:r>
              <a:rPr lang="en-US" sz="1100" b="1" spc="170" kern="0" dirty="0">
                <a:solidFill>
                  <a:srgbClr val="9B3720"/>
                </a:solidFill>
                <a:latin typeface="Arial" pitchFamily="34" charset="0"/>
                <a:ea typeface="Arial" pitchFamily="34" charset="-122"/>
                <a:cs typeface="Arial" pitchFamily="34" charset="-120"/>
              </a:rPr>
              <a:t>EMAIL</a:t>
            </a:r>
            <a:endParaRPr lang="en-US" sz="1100" dirty="0"/>
          </a:p>
        </p:txBody>
      </p:sp>
      <p:sp>
        <p:nvSpPr>
          <p:cNvPr id="11" name="Text 9"/>
          <p:cNvSpPr txBox="1"/>
          <p:nvPr/>
        </p:nvSpPr>
        <p:spPr>
          <a:xfrm>
            <a:off x="7863840" y="3703320"/>
            <a:ext cx="3200400" cy="457200"/>
          </a:xfrm>
          <a:prstGeom prst="rect">
            <a:avLst/>
          </a:prstGeom>
          <a:noFill/>
          <a:ln/>
        </p:spPr>
        <p:txBody>
          <a:bodyPr wrap="square" lIns="0" tIns="0" rIns="0" bIns="0" rtlCol="0" anchor="ctr"/>
          <a:lstStyle/>
          <a:p>
            <a:pPr indent="0" marL="0">
              <a:buNone/>
            </a:pPr>
            <a:r>
              <a:rPr lang="en-US" sz="1500" dirty="0">
                <a:solidFill>
                  <a:srgbClr val="121821"/>
                </a:solidFill>
                <a:latin typeface="Calibri" pitchFamily="34" charset="0"/>
                <a:ea typeface="Calibri" pitchFamily="34" charset="-122"/>
                <a:cs typeface="Calibri" pitchFamily="34" charset="-120"/>
              </a:rPr>
              <a:t>Everyone has a different version</a:t>
            </a:r>
            <a:endParaRPr lang="en-US" sz="1500" dirty="0"/>
          </a:p>
        </p:txBody>
      </p:sp>
      <p:sp>
        <p:nvSpPr>
          <p:cNvPr id="12" name="Shape 10"/>
          <p:cNvSpPr/>
          <p:nvPr/>
        </p:nvSpPr>
        <p:spPr>
          <a:xfrm>
            <a:off x="731520" y="4526280"/>
            <a:ext cx="10698480" cy="0"/>
          </a:xfrm>
          <a:prstGeom prst="line">
            <a:avLst/>
          </a:prstGeom>
          <a:noFill/>
          <a:ln w="12700">
            <a:solidFill>
              <a:srgbClr val="CDD4DE"/>
            </a:solidFill>
            <a:prstDash val="solid"/>
          </a:ln>
        </p:spPr>
        <p:txBody>
          <a:bodyPr/>
          <a:p/>
        </p:txBody>
      </p:sp>
      <p:sp>
        <p:nvSpPr>
          <p:cNvPr id="13" name="Text 11"/>
          <p:cNvSpPr txBox="1"/>
          <p:nvPr/>
        </p:nvSpPr>
        <p:spPr>
          <a:xfrm>
            <a:off x="731520" y="4892040"/>
            <a:ext cx="10698480" cy="365760"/>
          </a:xfrm>
          <a:prstGeom prst="rect">
            <a:avLst/>
          </a:prstGeom>
          <a:noFill/>
          <a:ln/>
        </p:spPr>
        <p:txBody>
          <a:bodyPr wrap="square" lIns="0" tIns="0" rIns="0" bIns="0" rtlCol="0" anchor="ctr"/>
          <a:lstStyle/>
          <a:p>
            <a:pPr indent="0" marL="0">
              <a:buNone/>
            </a:pPr>
            <a:r>
              <a:rPr lang="en-US" sz="1700" b="1" dirty="0">
                <a:solidFill>
                  <a:srgbClr val="1F3B5C"/>
                </a:solidFill>
                <a:latin typeface="Calibri" pitchFamily="34" charset="0"/>
                <a:ea typeface="Calibri" pitchFamily="34" charset="-122"/>
                <a:cs typeface="Calibri" pitchFamily="34" charset="-120"/>
              </a:rPr>
              <a:t>And none of them let you check the work automatically before it goes out.</a:t>
            </a:r>
            <a:endParaRPr lang="en-US" sz="1700" dirty="0"/>
          </a:p>
        </p:txBody>
      </p:sp>
      <p:sp>
        <p:nvSpPr>
          <p:cNvPr id="14" name="Text 12"/>
          <p:cNvSpPr txBox="1"/>
          <p:nvPr/>
        </p:nvSpPr>
        <p:spPr>
          <a:xfrm>
            <a:off x="731520" y="5349240"/>
            <a:ext cx="10698480" cy="27432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That is the one that solves the third failure.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STARTING POINT</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Most of this is off the shelf</a:t>
            </a:r>
            <a:endParaRPr lang="en-US" sz="3300" dirty="0"/>
          </a:p>
        </p:txBody>
      </p:sp>
      <p:sp>
        <p:nvSpPr>
          <p:cNvPr id="4" name="Shape 2"/>
          <p:cNvSpPr/>
          <p:nvPr/>
        </p:nvSpPr>
        <p:spPr>
          <a:xfrm>
            <a:off x="731520" y="2286000"/>
            <a:ext cx="292608" cy="292608"/>
          </a:xfrm>
          <a:prstGeom prst="ellipse">
            <a:avLst/>
          </a:prstGeom>
          <a:solidFill>
            <a:srgbClr val="256B4F"/>
          </a:solidFill>
          <a:ln w="12700">
            <a:solidFill>
              <a:srgbClr val="256B4F"/>
            </a:solidFill>
            <a:prstDash val="solid"/>
          </a:ln>
        </p:spPr>
        <p:txBody>
          <a:bodyPr/>
          <a:p/>
        </p:txBody>
      </p:sp>
      <p:sp>
        <p:nvSpPr>
          <p:cNvPr id="5" name="Text 3"/>
          <p:cNvSpPr txBox="1"/>
          <p:nvPr/>
        </p:nvSpPr>
        <p:spPr>
          <a:xfrm>
            <a:off x="731520" y="2322576"/>
            <a:ext cx="292608"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txBox="1"/>
          <p:nvPr/>
        </p:nvSpPr>
        <p:spPr>
          <a:xfrm>
            <a:off x="731520" y="2743200"/>
            <a:ext cx="1920240" cy="310896"/>
          </a:xfrm>
          <a:prstGeom prst="rect">
            <a:avLst/>
          </a:prstGeom>
          <a:noFill/>
          <a:ln/>
        </p:spPr>
        <p:txBody>
          <a:bodyPr wrap="square" lIns="0" tIns="0" rIns="0" bIns="0" rtlCol="0" anchor="ctr"/>
          <a:lstStyle/>
          <a:p>
            <a:pPr indent="0" marL="0">
              <a:buNone/>
            </a:pPr>
            <a:r>
              <a:rPr lang="en-US" sz="1600" b="1" dirty="0">
                <a:solidFill>
                  <a:srgbClr val="121821"/>
                </a:solidFill>
                <a:latin typeface="Arial" pitchFamily="34" charset="0"/>
                <a:ea typeface="Arial" pitchFamily="34" charset="-122"/>
                <a:cs typeface="Arial" pitchFamily="34" charset="-120"/>
              </a:rPr>
              <a:t>Branches</a:t>
            </a:r>
            <a:endParaRPr lang="en-US" sz="1600" dirty="0"/>
          </a:p>
        </p:txBody>
      </p:sp>
      <p:sp>
        <p:nvSpPr>
          <p:cNvPr id="7" name="Shape 5"/>
          <p:cNvSpPr/>
          <p:nvPr/>
        </p:nvSpPr>
        <p:spPr>
          <a:xfrm>
            <a:off x="2889504" y="2286000"/>
            <a:ext cx="292608" cy="292608"/>
          </a:xfrm>
          <a:prstGeom prst="ellipse">
            <a:avLst/>
          </a:prstGeom>
          <a:solidFill>
            <a:srgbClr val="256B4F"/>
          </a:solidFill>
          <a:ln w="12700">
            <a:solidFill>
              <a:srgbClr val="256B4F"/>
            </a:solidFill>
            <a:prstDash val="solid"/>
          </a:ln>
        </p:spPr>
        <p:txBody>
          <a:bodyPr/>
          <a:p/>
        </p:txBody>
      </p:sp>
      <p:sp>
        <p:nvSpPr>
          <p:cNvPr id="8" name="Text 6"/>
          <p:cNvSpPr txBox="1"/>
          <p:nvPr/>
        </p:nvSpPr>
        <p:spPr>
          <a:xfrm>
            <a:off x="2889504" y="2322576"/>
            <a:ext cx="292608"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9" name="Text 7"/>
          <p:cNvSpPr txBox="1"/>
          <p:nvPr/>
        </p:nvSpPr>
        <p:spPr>
          <a:xfrm>
            <a:off x="2889504" y="2743200"/>
            <a:ext cx="1920240" cy="310896"/>
          </a:xfrm>
          <a:prstGeom prst="rect">
            <a:avLst/>
          </a:prstGeom>
          <a:noFill/>
          <a:ln/>
        </p:spPr>
        <p:txBody>
          <a:bodyPr wrap="square" lIns="0" tIns="0" rIns="0" bIns="0" rtlCol="0" anchor="ctr"/>
          <a:lstStyle/>
          <a:p>
            <a:pPr indent="0" marL="0">
              <a:buNone/>
            </a:pPr>
            <a:r>
              <a:rPr lang="en-US" sz="1600" b="1" dirty="0">
                <a:solidFill>
                  <a:srgbClr val="121821"/>
                </a:solidFill>
                <a:latin typeface="Arial" pitchFamily="34" charset="0"/>
                <a:ea typeface="Arial" pitchFamily="34" charset="-122"/>
                <a:cs typeface="Arial" pitchFamily="34" charset="-120"/>
              </a:rPr>
              <a:t>Pull requests</a:t>
            </a:r>
            <a:endParaRPr lang="en-US" sz="1600" dirty="0"/>
          </a:p>
        </p:txBody>
      </p:sp>
      <p:sp>
        <p:nvSpPr>
          <p:cNvPr id="10" name="Shape 8"/>
          <p:cNvSpPr/>
          <p:nvPr/>
        </p:nvSpPr>
        <p:spPr>
          <a:xfrm>
            <a:off x="5047488" y="2286000"/>
            <a:ext cx="292608" cy="292608"/>
          </a:xfrm>
          <a:prstGeom prst="ellipse">
            <a:avLst/>
          </a:prstGeom>
          <a:solidFill>
            <a:srgbClr val="256B4F"/>
          </a:solidFill>
          <a:ln w="12700">
            <a:solidFill>
              <a:srgbClr val="256B4F"/>
            </a:solidFill>
            <a:prstDash val="solid"/>
          </a:ln>
        </p:spPr>
        <p:txBody>
          <a:bodyPr/>
          <a:p/>
        </p:txBody>
      </p:sp>
      <p:sp>
        <p:nvSpPr>
          <p:cNvPr id="11" name="Text 9"/>
          <p:cNvSpPr txBox="1"/>
          <p:nvPr/>
        </p:nvSpPr>
        <p:spPr>
          <a:xfrm>
            <a:off x="5047488" y="2322576"/>
            <a:ext cx="292608"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2" name="Text 10"/>
          <p:cNvSpPr txBox="1"/>
          <p:nvPr/>
        </p:nvSpPr>
        <p:spPr>
          <a:xfrm>
            <a:off x="5047488" y="2743200"/>
            <a:ext cx="1920240" cy="310896"/>
          </a:xfrm>
          <a:prstGeom prst="rect">
            <a:avLst/>
          </a:prstGeom>
          <a:noFill/>
          <a:ln/>
        </p:spPr>
        <p:txBody>
          <a:bodyPr wrap="square" lIns="0" tIns="0" rIns="0" bIns="0" rtlCol="0" anchor="ctr"/>
          <a:lstStyle/>
          <a:p>
            <a:pPr indent="0" marL="0">
              <a:buNone/>
            </a:pPr>
            <a:r>
              <a:rPr lang="en-US" sz="1600" b="1" dirty="0">
                <a:solidFill>
                  <a:srgbClr val="121821"/>
                </a:solidFill>
                <a:latin typeface="Arial" pitchFamily="34" charset="0"/>
                <a:ea typeface="Arial" pitchFamily="34" charset="-122"/>
                <a:cs typeface="Arial" pitchFamily="34" charset="-120"/>
              </a:rPr>
              <a:t>Review</a:t>
            </a:r>
            <a:endParaRPr lang="en-US" sz="1600" dirty="0"/>
          </a:p>
        </p:txBody>
      </p:sp>
      <p:sp>
        <p:nvSpPr>
          <p:cNvPr id="13" name="Shape 11"/>
          <p:cNvSpPr/>
          <p:nvPr/>
        </p:nvSpPr>
        <p:spPr>
          <a:xfrm>
            <a:off x="7205472" y="2286000"/>
            <a:ext cx="292608" cy="292608"/>
          </a:xfrm>
          <a:prstGeom prst="ellipse">
            <a:avLst/>
          </a:prstGeom>
          <a:solidFill>
            <a:srgbClr val="256B4F"/>
          </a:solidFill>
          <a:ln w="12700">
            <a:solidFill>
              <a:srgbClr val="256B4F"/>
            </a:solidFill>
            <a:prstDash val="solid"/>
          </a:ln>
        </p:spPr>
        <p:txBody>
          <a:bodyPr/>
          <a:p/>
        </p:txBody>
      </p:sp>
      <p:sp>
        <p:nvSpPr>
          <p:cNvPr id="14" name="Text 12"/>
          <p:cNvSpPr txBox="1"/>
          <p:nvPr/>
        </p:nvSpPr>
        <p:spPr>
          <a:xfrm>
            <a:off x="7205472" y="2322576"/>
            <a:ext cx="292608"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5" name="Text 13"/>
          <p:cNvSpPr txBox="1"/>
          <p:nvPr/>
        </p:nvSpPr>
        <p:spPr>
          <a:xfrm>
            <a:off x="7205472" y="2743200"/>
            <a:ext cx="1920240" cy="310896"/>
          </a:xfrm>
          <a:prstGeom prst="rect">
            <a:avLst/>
          </a:prstGeom>
          <a:noFill/>
          <a:ln/>
        </p:spPr>
        <p:txBody>
          <a:bodyPr wrap="square" lIns="0" tIns="0" rIns="0" bIns="0" rtlCol="0" anchor="ctr"/>
          <a:lstStyle/>
          <a:p>
            <a:pPr indent="0" marL="0">
              <a:buNone/>
            </a:pPr>
            <a:r>
              <a:rPr lang="en-US" sz="1600" b="1" dirty="0">
                <a:solidFill>
                  <a:srgbClr val="121821"/>
                </a:solidFill>
                <a:latin typeface="Arial" pitchFamily="34" charset="0"/>
                <a:ea typeface="Arial" pitchFamily="34" charset="-122"/>
                <a:cs typeface="Arial" pitchFamily="34" charset="-120"/>
              </a:rPr>
              <a:t>Protected main</a:t>
            </a:r>
            <a:endParaRPr lang="en-US" sz="1600" dirty="0"/>
          </a:p>
        </p:txBody>
      </p:sp>
      <p:sp>
        <p:nvSpPr>
          <p:cNvPr id="16" name="Shape 14"/>
          <p:cNvSpPr/>
          <p:nvPr/>
        </p:nvSpPr>
        <p:spPr>
          <a:xfrm>
            <a:off x="9363456" y="2286000"/>
            <a:ext cx="292608" cy="292608"/>
          </a:xfrm>
          <a:prstGeom prst="ellipse">
            <a:avLst/>
          </a:prstGeom>
          <a:solidFill>
            <a:srgbClr val="256B4F"/>
          </a:solidFill>
          <a:ln w="12700">
            <a:solidFill>
              <a:srgbClr val="256B4F"/>
            </a:solidFill>
            <a:prstDash val="solid"/>
          </a:ln>
        </p:spPr>
        <p:txBody>
          <a:bodyPr/>
          <a:p/>
        </p:txBody>
      </p:sp>
      <p:sp>
        <p:nvSpPr>
          <p:cNvPr id="17" name="Text 15"/>
          <p:cNvSpPr txBox="1"/>
          <p:nvPr/>
        </p:nvSpPr>
        <p:spPr>
          <a:xfrm>
            <a:off x="9363456" y="2322576"/>
            <a:ext cx="292608"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8" name="Text 16"/>
          <p:cNvSpPr txBox="1"/>
          <p:nvPr/>
        </p:nvSpPr>
        <p:spPr>
          <a:xfrm>
            <a:off x="9363456" y="2743200"/>
            <a:ext cx="1920240" cy="310896"/>
          </a:xfrm>
          <a:prstGeom prst="rect">
            <a:avLst/>
          </a:prstGeom>
          <a:noFill/>
          <a:ln/>
        </p:spPr>
        <p:txBody>
          <a:bodyPr wrap="square" lIns="0" tIns="0" rIns="0" bIns="0" rtlCol="0" anchor="ctr"/>
          <a:lstStyle/>
          <a:p>
            <a:pPr indent="0" marL="0">
              <a:buNone/>
            </a:pPr>
            <a:r>
              <a:rPr lang="en-US" sz="1600" b="1" dirty="0">
                <a:solidFill>
                  <a:srgbClr val="121821"/>
                </a:solidFill>
                <a:latin typeface="Arial" pitchFamily="34" charset="0"/>
                <a:ea typeface="Arial" pitchFamily="34" charset="-122"/>
                <a:cs typeface="Arial" pitchFamily="34" charset="-120"/>
              </a:rPr>
              <a:t>CI</a:t>
            </a:r>
            <a:endParaRPr lang="en-US" sz="1600" dirty="0"/>
          </a:p>
        </p:txBody>
      </p:sp>
      <p:sp>
        <p:nvSpPr>
          <p:cNvPr id="19" name="Text 17"/>
          <p:cNvSpPr txBox="1"/>
          <p:nvPr/>
        </p:nvSpPr>
        <p:spPr>
          <a:xfrm>
            <a:off x="731520" y="3566160"/>
            <a:ext cx="9601200" cy="365760"/>
          </a:xfrm>
          <a:prstGeom prst="rect">
            <a:avLst/>
          </a:prstGeom>
          <a:noFill/>
          <a:ln/>
        </p:spPr>
        <p:txBody>
          <a:bodyPr wrap="square" lIns="0" tIns="0" rIns="0" bIns="0" rtlCol="0" anchor="ctr"/>
          <a:lstStyle/>
          <a:p>
            <a:pPr indent="0" marL="0">
              <a:buNone/>
            </a:pPr>
            <a:r>
              <a:rPr lang="en-US" sz="1600" dirty="0">
                <a:solidFill>
                  <a:srgbClr val="121821"/>
                </a:solidFill>
                <a:latin typeface="Calibri" pitchFamily="34" charset="0"/>
                <a:ea typeface="Calibri" pitchFamily="34" charset="-122"/>
                <a:cs typeface="Calibri" pitchFamily="34" charset="-120"/>
              </a:rPr>
              <a:t>All five work exactly as they do for software teams. I would not change any of them.</a:t>
            </a:r>
            <a:endParaRPr lang="en-US" sz="1600" dirty="0"/>
          </a:p>
        </p:txBody>
      </p:sp>
      <p:sp>
        <p:nvSpPr>
          <p:cNvPr id="20" name="Shape 18"/>
          <p:cNvSpPr/>
          <p:nvPr/>
        </p:nvSpPr>
        <p:spPr>
          <a:xfrm>
            <a:off x="731520" y="4297680"/>
            <a:ext cx="10698480" cy="0"/>
          </a:xfrm>
          <a:prstGeom prst="line">
            <a:avLst/>
          </a:prstGeom>
          <a:noFill/>
          <a:ln w="12700">
            <a:solidFill>
              <a:srgbClr val="CDD4DE"/>
            </a:solidFill>
            <a:prstDash val="solid"/>
          </a:ln>
        </p:spPr>
        <p:txBody>
          <a:bodyPr/>
          <a:p/>
        </p:txBody>
      </p:sp>
      <p:sp>
        <p:nvSpPr>
          <p:cNvPr id="21" name="Text 19"/>
          <p:cNvSpPr txBox="1"/>
          <p:nvPr/>
        </p:nvSpPr>
        <p:spPr>
          <a:xfrm>
            <a:off x="731520" y="4663440"/>
            <a:ext cx="10698480" cy="457200"/>
          </a:xfrm>
          <a:prstGeom prst="rect">
            <a:avLst/>
          </a:prstGeom>
          <a:noFill/>
          <a:ln/>
        </p:spPr>
        <p:txBody>
          <a:bodyPr wrap="square" lIns="0" tIns="0" rIns="0" bIns="0" rtlCol="0" anchor="ctr"/>
          <a:lstStyle/>
          <a:p>
            <a:pPr indent="0" marL="0">
              <a:buNone/>
            </a:pPr>
            <a:r>
              <a:rPr lang="en-US" sz="2600" b="1" dirty="0">
                <a:solidFill>
                  <a:srgbClr val="8A5E14"/>
                </a:solidFill>
                <a:latin typeface="Arial" pitchFamily="34" charset="0"/>
                <a:ea typeface="Arial" pitchFamily="34" charset="-122"/>
                <a:cs typeface="Arial" pitchFamily="34" charset="-120"/>
              </a:rPr>
              <a:t>Five things about analytics bend the rest.</a:t>
            </a:r>
            <a:endParaRPr lang="en-US" sz="2600" dirty="0"/>
          </a:p>
        </p:txBody>
      </p:sp>
      <p:sp>
        <p:nvSpPr>
          <p:cNvPr id="22" name="Text 20"/>
          <p:cNvSpPr txBox="1"/>
          <p:nvPr/>
        </p:nvSpPr>
        <p:spPr>
          <a:xfrm>
            <a:off x="731520" y="5257800"/>
            <a:ext cx="10698480" cy="320040"/>
          </a:xfrm>
          <a:prstGeom prst="rect">
            <a:avLst/>
          </a:prstGeom>
          <a:noFill/>
          <a:ln/>
        </p:spPr>
        <p:txBody>
          <a:bodyPr wrap="square" lIns="0" tIns="0" rIns="0" bIns="0" rtlCol="0" anchor="ctr"/>
          <a:lstStyle/>
          <a:p>
            <a:pPr indent="0" marL="0">
              <a:buNone/>
            </a:pPr>
            <a:r>
              <a:rPr lang="en-US" sz="1500" dirty="0">
                <a:solidFill>
                  <a:srgbClr val="6E7A8C"/>
                </a:solidFill>
                <a:latin typeface="Calibri" pitchFamily="34" charset="0"/>
                <a:ea typeface="Calibri" pitchFamily="34" charset="-122"/>
                <a:cs typeface="Calibri" pitchFamily="34" charset="-120"/>
              </a:rPr>
              <a:t>That is the rest of the deck.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THE HEART OF IT</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What is different about analytics</a:t>
            </a:r>
            <a:endParaRPr lang="en-US" sz="3300" dirty="0"/>
          </a:p>
        </p:txBody>
      </p:sp>
      <p:sp>
        <p:nvSpPr>
          <p:cNvPr id="4" name="Text 2"/>
          <p:cNvSpPr txBox="1"/>
          <p:nvPr/>
        </p:nvSpPr>
        <p:spPr>
          <a:xfrm>
            <a:off x="1005840" y="1737360"/>
            <a:ext cx="4114800" cy="219456"/>
          </a:xfrm>
          <a:prstGeom prst="rect">
            <a:avLst/>
          </a:prstGeom>
          <a:noFill/>
          <a:ln/>
        </p:spPr>
        <p:txBody>
          <a:bodyPr wrap="square" lIns="0" tIns="0" rIns="0" bIns="0" rtlCol="0" anchor="ctr"/>
          <a:lstStyle/>
          <a:p>
            <a:pPr indent="0" marL="0">
              <a:buNone/>
            </a:pPr>
            <a:r>
              <a:rPr lang="en-US" sz="1000" b="1" spc="170" kern="0" dirty="0">
                <a:solidFill>
                  <a:srgbClr val="6E7A8C"/>
                </a:solidFill>
                <a:latin typeface="Arial" pitchFamily="34" charset="0"/>
                <a:ea typeface="Arial" pitchFamily="34" charset="-122"/>
                <a:cs typeface="Arial" pitchFamily="34" charset="-120"/>
              </a:rPr>
              <a:t>SOFTWARE</a:t>
            </a:r>
            <a:endParaRPr lang="en-US" sz="1000" dirty="0"/>
          </a:p>
        </p:txBody>
      </p:sp>
      <p:sp>
        <p:nvSpPr>
          <p:cNvPr id="5" name="Text 3"/>
          <p:cNvSpPr txBox="1"/>
          <p:nvPr/>
        </p:nvSpPr>
        <p:spPr>
          <a:xfrm>
            <a:off x="6400800" y="1737360"/>
            <a:ext cx="4114800" cy="219456"/>
          </a:xfrm>
          <a:prstGeom prst="rect">
            <a:avLst/>
          </a:prstGeom>
          <a:noFill/>
          <a:ln/>
        </p:spPr>
        <p:txBody>
          <a:bodyPr wrap="square" lIns="0" tIns="0" rIns="0" bIns="0" rtlCol="0" anchor="ctr"/>
          <a:lstStyle/>
          <a:p>
            <a:pPr indent="0" marL="0">
              <a:buNone/>
            </a:pPr>
            <a:r>
              <a:rPr lang="en-US" sz="1000" b="1" spc="170" kern="0" dirty="0">
                <a:solidFill>
                  <a:srgbClr val="8A5E14"/>
                </a:solidFill>
                <a:latin typeface="Arial" pitchFamily="34" charset="0"/>
                <a:ea typeface="Arial" pitchFamily="34" charset="-122"/>
                <a:cs typeface="Arial" pitchFamily="34" charset="-120"/>
              </a:rPr>
              <a:t>ANALYTICS</a:t>
            </a:r>
            <a:endParaRPr lang="en-US" sz="1000" dirty="0"/>
          </a:p>
        </p:txBody>
      </p:sp>
      <p:sp>
        <p:nvSpPr>
          <p:cNvPr id="6" name="Shape 4"/>
          <p:cNvSpPr/>
          <p:nvPr/>
        </p:nvSpPr>
        <p:spPr>
          <a:xfrm>
            <a:off x="731520" y="2084832"/>
            <a:ext cx="5029200" cy="713232"/>
          </a:xfrm>
          <a:prstGeom prst="rect">
            <a:avLst/>
          </a:prstGeom>
          <a:solidFill>
            <a:srgbClr val="FFFFFF"/>
          </a:solidFill>
          <a:ln w="9525">
            <a:solidFill>
              <a:srgbClr val="CDD4DE"/>
            </a:solidFill>
            <a:prstDash val="solid"/>
          </a:ln>
        </p:spPr>
        <p:txBody>
          <a:bodyPr/>
          <a:p/>
        </p:txBody>
      </p:sp>
      <p:sp>
        <p:nvSpPr>
          <p:cNvPr id="7" name="Shape 5"/>
          <p:cNvSpPr/>
          <p:nvPr/>
        </p:nvSpPr>
        <p:spPr>
          <a:xfrm>
            <a:off x="6309360" y="2084832"/>
            <a:ext cx="5120640" cy="713232"/>
          </a:xfrm>
          <a:prstGeom prst="rect">
            <a:avLst/>
          </a:prstGeom>
          <a:solidFill>
            <a:srgbClr val="FDF8EE"/>
          </a:solidFill>
          <a:ln w="9525">
            <a:solidFill>
              <a:srgbClr val="E0CFA8"/>
            </a:solidFill>
            <a:prstDash val="solid"/>
          </a:ln>
        </p:spPr>
        <p:txBody>
          <a:bodyPr/>
          <a:p/>
        </p:txBody>
      </p:sp>
      <p:sp>
        <p:nvSpPr>
          <p:cNvPr id="8" name="Shape 6"/>
          <p:cNvSpPr/>
          <p:nvPr/>
        </p:nvSpPr>
        <p:spPr>
          <a:xfrm>
            <a:off x="5961888" y="2304288"/>
            <a:ext cx="274320" cy="274320"/>
          </a:xfrm>
          <a:prstGeom prst="ellipse">
            <a:avLst/>
          </a:prstGeom>
          <a:solidFill>
            <a:srgbClr val="1F3B5C"/>
          </a:solidFill>
          <a:ln w="12700">
            <a:solidFill>
              <a:srgbClr val="1F3B5C"/>
            </a:solidFill>
            <a:prstDash val="solid"/>
          </a:ln>
        </p:spPr>
        <p:txBody>
          <a:bodyPr/>
          <a:p/>
        </p:txBody>
      </p:sp>
      <p:sp>
        <p:nvSpPr>
          <p:cNvPr id="9" name="Text 7"/>
          <p:cNvSpPr txBox="1"/>
          <p:nvPr/>
        </p:nvSpPr>
        <p:spPr>
          <a:xfrm>
            <a:off x="5961888" y="2340864"/>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txBox="1"/>
          <p:nvPr/>
        </p:nvSpPr>
        <p:spPr>
          <a:xfrm>
            <a:off x="1005840" y="2267712"/>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6E7A8C"/>
                </a:solidFill>
                <a:latin typeface="Calibri" pitchFamily="34" charset="0"/>
                <a:ea typeface="Calibri" pitchFamily="34" charset="-122"/>
                <a:cs typeface="Calibri" pitchFamily="34" charset="-120"/>
              </a:rPr>
              <a:t>Ships a system that keeps running</a:t>
            </a:r>
            <a:endParaRPr lang="en-US" sz="1400" dirty="0"/>
          </a:p>
        </p:txBody>
      </p:sp>
      <p:sp>
        <p:nvSpPr>
          <p:cNvPr id="11" name="Text 9"/>
          <p:cNvSpPr txBox="1"/>
          <p:nvPr/>
        </p:nvSpPr>
        <p:spPr>
          <a:xfrm>
            <a:off x="6583680" y="2267712"/>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121821"/>
                </a:solidFill>
                <a:latin typeface="Calibri" pitchFamily="34" charset="0"/>
                <a:ea typeface="Calibri" pitchFamily="34" charset="-122"/>
                <a:cs typeface="Calibri" pitchFamily="34" charset="-120"/>
              </a:rPr>
              <a:t>Ships a number that is already in a client’s slides</a:t>
            </a:r>
            <a:endParaRPr lang="en-US" sz="1400" dirty="0"/>
          </a:p>
        </p:txBody>
      </p:sp>
      <p:sp>
        <p:nvSpPr>
          <p:cNvPr id="12" name="Shape 10"/>
          <p:cNvSpPr/>
          <p:nvPr/>
        </p:nvSpPr>
        <p:spPr>
          <a:xfrm>
            <a:off x="731520" y="2926080"/>
            <a:ext cx="5029200" cy="713232"/>
          </a:xfrm>
          <a:prstGeom prst="rect">
            <a:avLst/>
          </a:prstGeom>
          <a:solidFill>
            <a:srgbClr val="FFFFFF"/>
          </a:solidFill>
          <a:ln w="9525">
            <a:solidFill>
              <a:srgbClr val="CDD4DE"/>
            </a:solidFill>
            <a:prstDash val="solid"/>
          </a:ln>
        </p:spPr>
        <p:txBody>
          <a:bodyPr/>
          <a:p/>
        </p:txBody>
      </p:sp>
      <p:sp>
        <p:nvSpPr>
          <p:cNvPr id="13" name="Shape 11"/>
          <p:cNvSpPr/>
          <p:nvPr/>
        </p:nvSpPr>
        <p:spPr>
          <a:xfrm>
            <a:off x="6309360" y="2926080"/>
            <a:ext cx="5120640" cy="713232"/>
          </a:xfrm>
          <a:prstGeom prst="rect">
            <a:avLst/>
          </a:prstGeom>
          <a:solidFill>
            <a:srgbClr val="FDF8EE"/>
          </a:solidFill>
          <a:ln w="9525">
            <a:solidFill>
              <a:srgbClr val="E0CFA8"/>
            </a:solidFill>
            <a:prstDash val="solid"/>
          </a:ln>
        </p:spPr>
        <p:txBody>
          <a:bodyPr/>
          <a:p/>
        </p:txBody>
      </p:sp>
      <p:sp>
        <p:nvSpPr>
          <p:cNvPr id="14" name="Shape 12"/>
          <p:cNvSpPr/>
          <p:nvPr/>
        </p:nvSpPr>
        <p:spPr>
          <a:xfrm>
            <a:off x="5961888" y="3145536"/>
            <a:ext cx="274320" cy="274320"/>
          </a:xfrm>
          <a:prstGeom prst="ellipse">
            <a:avLst/>
          </a:prstGeom>
          <a:solidFill>
            <a:srgbClr val="1F3B5C"/>
          </a:solidFill>
          <a:ln w="12700">
            <a:solidFill>
              <a:srgbClr val="1F3B5C"/>
            </a:solidFill>
            <a:prstDash val="solid"/>
          </a:ln>
        </p:spPr>
        <p:txBody>
          <a:bodyPr/>
          <a:p/>
        </p:txBody>
      </p:sp>
      <p:sp>
        <p:nvSpPr>
          <p:cNvPr id="15" name="Text 13"/>
          <p:cNvSpPr txBox="1"/>
          <p:nvPr/>
        </p:nvSpPr>
        <p:spPr>
          <a:xfrm>
            <a:off x="5961888" y="3182112"/>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4"/>
          <p:cNvSpPr txBox="1"/>
          <p:nvPr/>
        </p:nvSpPr>
        <p:spPr>
          <a:xfrm>
            <a:off x="1005840" y="3108960"/>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6E7A8C"/>
                </a:solidFill>
                <a:latin typeface="Calibri" pitchFamily="34" charset="0"/>
                <a:ea typeface="Calibri" pitchFamily="34" charset="-122"/>
                <a:cs typeface="Calibri" pitchFamily="34" charset="-120"/>
              </a:rPr>
              <a:t>Broken code crashes</a:t>
            </a:r>
            <a:endParaRPr lang="en-US" sz="1400" dirty="0"/>
          </a:p>
        </p:txBody>
      </p:sp>
      <p:sp>
        <p:nvSpPr>
          <p:cNvPr id="17" name="Text 15"/>
          <p:cNvSpPr txBox="1"/>
          <p:nvPr/>
        </p:nvSpPr>
        <p:spPr>
          <a:xfrm>
            <a:off x="6583680" y="3108960"/>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121821"/>
                </a:solidFill>
                <a:latin typeface="Calibri" pitchFamily="34" charset="0"/>
                <a:ea typeface="Calibri" pitchFamily="34" charset="-122"/>
                <a:cs typeface="Calibri" pitchFamily="34" charset="-120"/>
              </a:rPr>
              <a:t>Wrong code runs fine</a:t>
            </a:r>
            <a:endParaRPr lang="en-US" sz="1400" dirty="0"/>
          </a:p>
        </p:txBody>
      </p:sp>
      <p:sp>
        <p:nvSpPr>
          <p:cNvPr id="18" name="Shape 16"/>
          <p:cNvSpPr/>
          <p:nvPr/>
        </p:nvSpPr>
        <p:spPr>
          <a:xfrm>
            <a:off x="731520" y="3767328"/>
            <a:ext cx="5029200" cy="713232"/>
          </a:xfrm>
          <a:prstGeom prst="rect">
            <a:avLst/>
          </a:prstGeom>
          <a:solidFill>
            <a:srgbClr val="FFFFFF"/>
          </a:solidFill>
          <a:ln w="9525">
            <a:solidFill>
              <a:srgbClr val="CDD4DE"/>
            </a:solidFill>
            <a:prstDash val="solid"/>
          </a:ln>
        </p:spPr>
        <p:txBody>
          <a:bodyPr/>
          <a:p/>
        </p:txBody>
      </p:sp>
      <p:sp>
        <p:nvSpPr>
          <p:cNvPr id="19" name="Shape 17"/>
          <p:cNvSpPr/>
          <p:nvPr/>
        </p:nvSpPr>
        <p:spPr>
          <a:xfrm>
            <a:off x="6309360" y="3767328"/>
            <a:ext cx="5120640" cy="713232"/>
          </a:xfrm>
          <a:prstGeom prst="rect">
            <a:avLst/>
          </a:prstGeom>
          <a:solidFill>
            <a:srgbClr val="FDF8EE"/>
          </a:solidFill>
          <a:ln w="9525">
            <a:solidFill>
              <a:srgbClr val="E0CFA8"/>
            </a:solidFill>
            <a:prstDash val="solid"/>
          </a:ln>
        </p:spPr>
        <p:txBody>
          <a:bodyPr/>
          <a:p/>
        </p:txBody>
      </p:sp>
      <p:sp>
        <p:nvSpPr>
          <p:cNvPr id="20" name="Shape 18"/>
          <p:cNvSpPr/>
          <p:nvPr/>
        </p:nvSpPr>
        <p:spPr>
          <a:xfrm>
            <a:off x="5961888" y="3986784"/>
            <a:ext cx="274320" cy="274320"/>
          </a:xfrm>
          <a:prstGeom prst="ellipse">
            <a:avLst/>
          </a:prstGeom>
          <a:solidFill>
            <a:srgbClr val="1F3B5C"/>
          </a:solidFill>
          <a:ln w="12700">
            <a:solidFill>
              <a:srgbClr val="1F3B5C"/>
            </a:solidFill>
            <a:prstDash val="solid"/>
          </a:ln>
        </p:spPr>
        <p:txBody>
          <a:bodyPr/>
          <a:p/>
        </p:txBody>
      </p:sp>
      <p:sp>
        <p:nvSpPr>
          <p:cNvPr id="21" name="Text 19"/>
          <p:cNvSpPr txBox="1"/>
          <p:nvPr/>
        </p:nvSpPr>
        <p:spPr>
          <a:xfrm>
            <a:off x="5961888" y="4023360"/>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1005840" y="3950208"/>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6E7A8C"/>
                </a:solidFill>
                <a:latin typeface="Calibri" pitchFamily="34" charset="0"/>
                <a:ea typeface="Calibri" pitchFamily="34" charset="-122"/>
                <a:cs typeface="Calibri" pitchFamily="34" charset="-120"/>
              </a:rPr>
              <a:t>The program is built from the code alone</a:t>
            </a:r>
            <a:endParaRPr lang="en-US" sz="1400" dirty="0"/>
          </a:p>
        </p:txBody>
      </p:sp>
      <p:sp>
        <p:nvSpPr>
          <p:cNvPr id="23" name="Text 21"/>
          <p:cNvSpPr txBox="1"/>
          <p:nvPr/>
        </p:nvSpPr>
        <p:spPr>
          <a:xfrm>
            <a:off x="6583680" y="3950208"/>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121821"/>
                </a:solidFill>
                <a:latin typeface="Calibri" pitchFamily="34" charset="0"/>
                <a:ea typeface="Calibri" pitchFamily="34" charset="-122"/>
                <a:cs typeface="Calibri" pitchFamily="34" charset="-120"/>
              </a:rPr>
              <a:t>The answer also depends on the data, the software versions and the settings</a:t>
            </a:r>
            <a:endParaRPr lang="en-US" sz="1400" dirty="0"/>
          </a:p>
        </p:txBody>
      </p:sp>
      <p:sp>
        <p:nvSpPr>
          <p:cNvPr id="24" name="Shape 22"/>
          <p:cNvSpPr/>
          <p:nvPr/>
        </p:nvSpPr>
        <p:spPr>
          <a:xfrm>
            <a:off x="731520" y="4608576"/>
            <a:ext cx="5029200" cy="713232"/>
          </a:xfrm>
          <a:prstGeom prst="rect">
            <a:avLst/>
          </a:prstGeom>
          <a:solidFill>
            <a:srgbClr val="FFFFFF"/>
          </a:solidFill>
          <a:ln w="9525">
            <a:solidFill>
              <a:srgbClr val="CDD4DE"/>
            </a:solidFill>
            <a:prstDash val="solid"/>
          </a:ln>
        </p:spPr>
        <p:txBody>
          <a:bodyPr/>
          <a:p/>
        </p:txBody>
      </p:sp>
      <p:sp>
        <p:nvSpPr>
          <p:cNvPr id="25" name="Shape 23"/>
          <p:cNvSpPr/>
          <p:nvPr/>
        </p:nvSpPr>
        <p:spPr>
          <a:xfrm>
            <a:off x="6309360" y="4608576"/>
            <a:ext cx="5120640" cy="713232"/>
          </a:xfrm>
          <a:prstGeom prst="rect">
            <a:avLst/>
          </a:prstGeom>
          <a:solidFill>
            <a:srgbClr val="FDF8EE"/>
          </a:solidFill>
          <a:ln w="9525">
            <a:solidFill>
              <a:srgbClr val="E0CFA8"/>
            </a:solidFill>
            <a:prstDash val="solid"/>
          </a:ln>
        </p:spPr>
        <p:txBody>
          <a:bodyPr/>
          <a:p/>
        </p:txBody>
      </p:sp>
      <p:sp>
        <p:nvSpPr>
          <p:cNvPr id="26" name="Shape 24"/>
          <p:cNvSpPr/>
          <p:nvPr/>
        </p:nvSpPr>
        <p:spPr>
          <a:xfrm>
            <a:off x="5961888" y="4828032"/>
            <a:ext cx="274320" cy="274320"/>
          </a:xfrm>
          <a:prstGeom prst="ellipse">
            <a:avLst/>
          </a:prstGeom>
          <a:solidFill>
            <a:srgbClr val="1F3B5C"/>
          </a:solidFill>
          <a:ln w="12700">
            <a:solidFill>
              <a:srgbClr val="1F3B5C"/>
            </a:solidFill>
            <a:prstDash val="solid"/>
          </a:ln>
        </p:spPr>
        <p:txBody>
          <a:bodyPr/>
          <a:p/>
        </p:txBody>
      </p:sp>
      <p:sp>
        <p:nvSpPr>
          <p:cNvPr id="27" name="Text 25"/>
          <p:cNvSpPr txBox="1"/>
          <p:nvPr/>
        </p:nvSpPr>
        <p:spPr>
          <a:xfrm>
            <a:off x="5961888" y="4864608"/>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8" name="Text 26"/>
          <p:cNvSpPr txBox="1"/>
          <p:nvPr/>
        </p:nvSpPr>
        <p:spPr>
          <a:xfrm>
            <a:off x="1005840" y="4791456"/>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6E7A8C"/>
                </a:solidFill>
                <a:latin typeface="Calibri" pitchFamily="34" charset="0"/>
                <a:ea typeface="Calibri" pitchFamily="34" charset="-122"/>
                <a:cs typeface="Calibri" pitchFamily="34" charset="-120"/>
              </a:rPr>
              <a:t>You decide when anything changes</a:t>
            </a:r>
            <a:endParaRPr lang="en-US" sz="1400" dirty="0"/>
          </a:p>
        </p:txBody>
      </p:sp>
      <p:sp>
        <p:nvSpPr>
          <p:cNvPr id="29" name="Text 27"/>
          <p:cNvSpPr txBox="1"/>
          <p:nvPr/>
        </p:nvSpPr>
        <p:spPr>
          <a:xfrm>
            <a:off x="6583680" y="4791456"/>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121821"/>
                </a:solidFill>
                <a:latin typeface="Calibri" pitchFamily="34" charset="0"/>
                <a:ea typeface="Calibri" pitchFamily="34" charset="-122"/>
                <a:cs typeface="Calibri" pitchFamily="34" charset="-120"/>
              </a:rPr>
              <a:t>The client’s data changes without warning</a:t>
            </a:r>
            <a:endParaRPr lang="en-US" sz="1400" dirty="0"/>
          </a:p>
        </p:txBody>
      </p:sp>
      <p:sp>
        <p:nvSpPr>
          <p:cNvPr id="30" name="Shape 28"/>
          <p:cNvSpPr/>
          <p:nvPr/>
        </p:nvSpPr>
        <p:spPr>
          <a:xfrm>
            <a:off x="731520" y="5449824"/>
            <a:ext cx="5029200" cy="713232"/>
          </a:xfrm>
          <a:prstGeom prst="rect">
            <a:avLst/>
          </a:prstGeom>
          <a:solidFill>
            <a:srgbClr val="FFFFFF"/>
          </a:solidFill>
          <a:ln w="9525">
            <a:solidFill>
              <a:srgbClr val="CDD4DE"/>
            </a:solidFill>
            <a:prstDash val="solid"/>
          </a:ln>
        </p:spPr>
        <p:txBody>
          <a:bodyPr/>
          <a:p/>
        </p:txBody>
      </p:sp>
      <p:sp>
        <p:nvSpPr>
          <p:cNvPr id="31" name="Shape 29"/>
          <p:cNvSpPr/>
          <p:nvPr/>
        </p:nvSpPr>
        <p:spPr>
          <a:xfrm>
            <a:off x="6309360" y="5449824"/>
            <a:ext cx="5120640" cy="713232"/>
          </a:xfrm>
          <a:prstGeom prst="rect">
            <a:avLst/>
          </a:prstGeom>
          <a:solidFill>
            <a:srgbClr val="FDF8EE"/>
          </a:solidFill>
          <a:ln w="9525">
            <a:solidFill>
              <a:srgbClr val="E0CFA8"/>
            </a:solidFill>
            <a:prstDash val="solid"/>
          </a:ln>
        </p:spPr>
        <p:txBody>
          <a:bodyPr/>
          <a:p/>
        </p:txBody>
      </p:sp>
      <p:sp>
        <p:nvSpPr>
          <p:cNvPr id="32" name="Shape 30"/>
          <p:cNvSpPr/>
          <p:nvPr/>
        </p:nvSpPr>
        <p:spPr>
          <a:xfrm>
            <a:off x="5961888" y="5669280"/>
            <a:ext cx="274320" cy="274320"/>
          </a:xfrm>
          <a:prstGeom prst="ellipse">
            <a:avLst/>
          </a:prstGeom>
          <a:solidFill>
            <a:srgbClr val="1F3B5C"/>
          </a:solidFill>
          <a:ln w="12700">
            <a:solidFill>
              <a:srgbClr val="1F3B5C"/>
            </a:solidFill>
            <a:prstDash val="solid"/>
          </a:ln>
        </p:spPr>
        <p:txBody>
          <a:bodyPr/>
          <a:p/>
        </p:txBody>
      </p:sp>
      <p:sp>
        <p:nvSpPr>
          <p:cNvPr id="33" name="Text 31"/>
          <p:cNvSpPr txBox="1"/>
          <p:nvPr/>
        </p:nvSpPr>
        <p:spPr>
          <a:xfrm>
            <a:off x="5961888" y="5705856"/>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2"/>
          <p:cNvSpPr txBox="1"/>
          <p:nvPr/>
        </p:nvSpPr>
        <p:spPr>
          <a:xfrm>
            <a:off x="1005840" y="5632704"/>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6E7A8C"/>
                </a:solidFill>
                <a:latin typeface="Calibri" pitchFamily="34" charset="0"/>
                <a:ea typeface="Calibri" pitchFamily="34" charset="-122"/>
                <a:cs typeface="Calibri" pitchFamily="34" charset="-120"/>
              </a:rPr>
              <a:t>Code is plain text. Nothing big gets saved</a:t>
            </a:r>
            <a:endParaRPr lang="en-US" sz="1400" dirty="0"/>
          </a:p>
        </p:txBody>
      </p:sp>
      <p:sp>
        <p:nvSpPr>
          <p:cNvPr id="35" name="Text 33"/>
          <p:cNvSpPr txBox="1"/>
          <p:nvPr/>
        </p:nvSpPr>
        <p:spPr>
          <a:xfrm>
            <a:off x="6583680" y="5632704"/>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121821"/>
                </a:solidFill>
                <a:latin typeface="Calibri" pitchFamily="34" charset="0"/>
                <a:ea typeface="Calibri" pitchFamily="34" charset="-122"/>
                <a:cs typeface="Calibri" pitchFamily="34" charset="-120"/>
              </a:rPr>
              <a:t>Notebooks are messy files. Data and models are huge</a:t>
            </a:r>
            <a:endParaRPr lang="en-US" sz="1400" dirty="0"/>
          </a:p>
        </p:txBody>
      </p:sp>
      <p:sp>
        <p:nvSpPr>
          <p:cNvPr id="36" name="Text 34"/>
          <p:cNvSpPr txBox="1"/>
          <p:nvPr/>
        </p:nvSpPr>
        <p:spPr>
          <a:xfrm>
            <a:off x="731520" y="6355080"/>
            <a:ext cx="10698480" cy="292608"/>
          </a:xfrm>
          <a:prstGeom prst="rect">
            <a:avLst/>
          </a:prstGeom>
          <a:noFill/>
          <a:ln/>
        </p:spPr>
        <p:txBody>
          <a:bodyPr wrap="square" lIns="0" tIns="0" rIns="0" bIns="0" rtlCol="0" anchor="ctr"/>
          <a:lstStyle/>
          <a:p>
            <a:pPr indent="0" marL="0">
              <a:buNone/>
            </a:pPr>
            <a:r>
              <a:rPr lang="en-US" sz="1500" b="1" dirty="0">
                <a:solidFill>
                  <a:srgbClr val="1F3B5C"/>
                </a:solidFill>
                <a:latin typeface="Calibri" pitchFamily="34" charset="0"/>
                <a:ea typeface="Calibri" pitchFamily="34" charset="-122"/>
                <a:cs typeface="Calibri" pitchFamily="34" charset="-120"/>
              </a:rPr>
              <a:t>Number two is the one that matters.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B5C"/>
        </a:solidFill>
      </p:bgPr>
    </p:bg>
    <p:spTree>
      <p:nvGrpSpPr>
        <p:cNvPr id="1" name=""/>
        <p:cNvGrpSpPr/>
        <p:nvPr/>
      </p:nvGrpSpPr>
      <p:grpSpPr>
        <a:xfrm>
          <a:off x="0" y="0"/>
          <a:ext cx="0" cy="0"/>
          <a:chOff x="0" y="0"/>
          <a:chExt cx="0" cy="0"/>
        </a:xfrm>
      </p:grpSpPr>
      <p:sp>
        <p:nvSpPr>
          <p:cNvPr id="2" name="Text 0"/>
          <p:cNvSpPr txBox="1"/>
          <p:nvPr/>
        </p:nvSpPr>
        <p:spPr>
          <a:xfrm>
            <a:off x="731520" y="731520"/>
            <a:ext cx="10698480" cy="237744"/>
          </a:xfrm>
          <a:prstGeom prst="rect">
            <a:avLst/>
          </a:prstGeom>
          <a:noFill/>
          <a:ln/>
        </p:spPr>
        <p:txBody>
          <a:bodyPr wrap="square" lIns="0" tIns="0" rIns="0" bIns="0" rtlCol="0" anchor="ctr"/>
          <a:lstStyle/>
          <a:p>
            <a:pPr indent="0" marL="0">
              <a:buNone/>
            </a:pPr>
            <a:r>
              <a:rPr lang="en-US" sz="1050" b="1" spc="200" kern="0" dirty="0">
                <a:solidFill>
                  <a:srgbClr val="D6A24A"/>
                </a:solidFill>
                <a:latin typeface="Arial" pitchFamily="34" charset="0"/>
                <a:ea typeface="Arial" pitchFamily="34" charset="-122"/>
                <a:cs typeface="Arial" pitchFamily="34" charset="-120"/>
              </a:rPr>
              <a:t>SO FIVE THINGS BEND</a:t>
            </a:r>
            <a:endParaRPr lang="en-US" sz="1050" dirty="0"/>
          </a:p>
        </p:txBody>
      </p:sp>
      <p:sp>
        <p:nvSpPr>
          <p:cNvPr id="3" name="Text 1"/>
          <p:cNvSpPr txBox="1"/>
          <p:nvPr/>
        </p:nvSpPr>
        <p:spPr>
          <a:xfrm>
            <a:off x="731520" y="1143000"/>
            <a:ext cx="10698480" cy="548640"/>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What I do about each one</a:t>
            </a:r>
            <a:endParaRPr lang="en-US" sz="3100" dirty="0"/>
          </a:p>
        </p:txBody>
      </p:sp>
      <p:sp>
        <p:nvSpPr>
          <p:cNvPr id="4" name="Text 2"/>
          <p:cNvSpPr txBox="1"/>
          <p:nvPr/>
        </p:nvSpPr>
        <p:spPr>
          <a:xfrm>
            <a:off x="731520" y="2121408"/>
            <a:ext cx="365760" cy="365760"/>
          </a:xfrm>
          <a:prstGeom prst="rect">
            <a:avLst/>
          </a:prstGeom>
          <a:noFill/>
          <a:ln/>
        </p:spPr>
        <p:txBody>
          <a:bodyPr wrap="square" lIns="0" tIns="0" rIns="0" bIns="0" rtlCol="0" anchor="ctr"/>
          <a:lstStyle/>
          <a:p>
            <a:pPr indent="0" marL="0">
              <a:buNone/>
            </a:pPr>
            <a:r>
              <a:rPr lang="en-US" sz="2000" b="1" dirty="0">
                <a:solidFill>
                  <a:srgbClr val="D6A24A"/>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1234440" y="2103120"/>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It ships a number</a:t>
            </a:r>
            <a:endParaRPr lang="en-US" sz="1600" dirty="0"/>
          </a:p>
        </p:txBody>
      </p:sp>
      <p:sp>
        <p:nvSpPr>
          <p:cNvPr id="6" name="Text 4"/>
          <p:cNvSpPr txBox="1"/>
          <p:nvPr/>
        </p:nvSpPr>
        <p:spPr>
          <a:xfrm>
            <a:off x="4754880" y="2084832"/>
            <a:ext cx="6675120" cy="640080"/>
          </a:xfrm>
          <a:prstGeom prst="rect">
            <a:avLst/>
          </a:prstGeom>
          <a:noFill/>
          <a:ln/>
        </p:spPr>
        <p:txBody>
          <a:bodyPr wrap="square" lIns="0" tIns="0" rIns="0" bIns="0" rtlCol="0" anchor="ctr"/>
          <a:lstStyle/>
          <a:p>
            <a:pPr indent="0" marL="0">
              <a:lnSpc>
                <a:spcPts val="1900"/>
              </a:lnSpc>
              <a:buNone/>
            </a:pPr>
            <a:r>
              <a:rPr lang="en-US" sz="1400" dirty="0">
                <a:solidFill>
                  <a:srgbClr val="C3D2E2"/>
                </a:solidFill>
                <a:latin typeface="Calibri" pitchFamily="34" charset="0"/>
                <a:ea typeface="Calibri" pitchFamily="34" charset="-122"/>
                <a:cs typeface="Calibri" pitchFamily="34" charset="-120"/>
              </a:rPr>
              <a:t>Put a permanent label on anything we send a client, and record which version of the code made it.</a:t>
            </a:r>
            <a:endParaRPr lang="en-US" sz="1400" dirty="0"/>
          </a:p>
        </p:txBody>
      </p:sp>
      <p:sp>
        <p:nvSpPr>
          <p:cNvPr id="7" name="Text 5"/>
          <p:cNvSpPr txBox="1"/>
          <p:nvPr/>
        </p:nvSpPr>
        <p:spPr>
          <a:xfrm>
            <a:off x="731520" y="2962656"/>
            <a:ext cx="365760" cy="365760"/>
          </a:xfrm>
          <a:prstGeom prst="rect">
            <a:avLst/>
          </a:prstGeom>
          <a:noFill/>
          <a:ln/>
        </p:spPr>
        <p:txBody>
          <a:bodyPr wrap="square" lIns="0" tIns="0" rIns="0" bIns="0" rtlCol="0" anchor="ctr"/>
          <a:lstStyle/>
          <a:p>
            <a:pPr indent="0" marL="0">
              <a:buNone/>
            </a:pPr>
            <a:r>
              <a:rPr lang="en-US" sz="2000" b="1" dirty="0">
                <a:solidFill>
                  <a:srgbClr val="D6A24A"/>
                </a:solidFill>
                <a:latin typeface="Arial" pitchFamily="34" charset="0"/>
                <a:ea typeface="Arial" pitchFamily="34" charset="-122"/>
                <a:cs typeface="Arial" pitchFamily="34" charset="-120"/>
              </a:rPr>
              <a:t>2</a:t>
            </a:r>
            <a:endParaRPr lang="en-US" sz="2000" dirty="0"/>
          </a:p>
        </p:txBody>
      </p:sp>
      <p:sp>
        <p:nvSpPr>
          <p:cNvPr id="8" name="Text 6"/>
          <p:cNvSpPr txBox="1"/>
          <p:nvPr/>
        </p:nvSpPr>
        <p:spPr>
          <a:xfrm>
            <a:off x="1234440" y="2944368"/>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Wrong code is silent</a:t>
            </a:r>
            <a:endParaRPr lang="en-US" sz="1600" dirty="0"/>
          </a:p>
        </p:txBody>
      </p:sp>
      <p:sp>
        <p:nvSpPr>
          <p:cNvPr id="9" name="Text 7"/>
          <p:cNvSpPr txBox="1"/>
          <p:nvPr/>
        </p:nvSpPr>
        <p:spPr>
          <a:xfrm>
            <a:off x="4754880" y="2926080"/>
            <a:ext cx="6675120" cy="640080"/>
          </a:xfrm>
          <a:prstGeom prst="rect">
            <a:avLst/>
          </a:prstGeom>
          <a:noFill/>
          <a:ln/>
        </p:spPr>
        <p:txBody>
          <a:bodyPr wrap="square" lIns="0" tIns="0" rIns="0" bIns="0" rtlCol="0" anchor="ctr"/>
          <a:lstStyle/>
          <a:p>
            <a:pPr indent="0" marL="0">
              <a:lnSpc>
                <a:spcPts val="1900"/>
              </a:lnSpc>
              <a:buNone/>
            </a:pPr>
            <a:r>
              <a:rPr lang="en-US" sz="1400" dirty="0">
                <a:solidFill>
                  <a:srgbClr val="C3D2E2"/>
                </a:solidFill>
                <a:latin typeface="Calibri" pitchFamily="34" charset="0"/>
                <a:ea typeface="Calibri" pitchFamily="34" charset="-122"/>
                <a:cs typeface="Calibri" pitchFamily="34" charset="-120"/>
              </a:rPr>
              <a:t>Reviewers look for double counting and wrong dates, not typos. Tests check the code does what it says.</a:t>
            </a:r>
            <a:endParaRPr lang="en-US" sz="1400" dirty="0"/>
          </a:p>
        </p:txBody>
      </p:sp>
      <p:sp>
        <p:nvSpPr>
          <p:cNvPr id="10" name="Text 8"/>
          <p:cNvSpPr txBox="1"/>
          <p:nvPr/>
        </p:nvSpPr>
        <p:spPr>
          <a:xfrm>
            <a:off x="731520" y="3803904"/>
            <a:ext cx="365760" cy="365760"/>
          </a:xfrm>
          <a:prstGeom prst="rect">
            <a:avLst/>
          </a:prstGeom>
          <a:noFill/>
          <a:ln/>
        </p:spPr>
        <p:txBody>
          <a:bodyPr wrap="square" lIns="0" tIns="0" rIns="0" bIns="0" rtlCol="0" anchor="ctr"/>
          <a:lstStyle/>
          <a:p>
            <a:pPr indent="0" marL="0">
              <a:buNone/>
            </a:pPr>
            <a:r>
              <a:rPr lang="en-US" sz="2000" b="1" dirty="0">
                <a:solidFill>
                  <a:srgbClr val="D6A24A"/>
                </a:solidFill>
                <a:latin typeface="Arial" pitchFamily="34" charset="0"/>
                <a:ea typeface="Arial" pitchFamily="34" charset="-122"/>
                <a:cs typeface="Arial" pitchFamily="34" charset="-120"/>
              </a:rPr>
              <a:t>3</a:t>
            </a:r>
            <a:endParaRPr lang="en-US" sz="2000" dirty="0"/>
          </a:p>
        </p:txBody>
      </p:sp>
      <p:sp>
        <p:nvSpPr>
          <p:cNvPr id="11" name="Text 9"/>
          <p:cNvSpPr txBox="1"/>
          <p:nvPr/>
        </p:nvSpPr>
        <p:spPr>
          <a:xfrm>
            <a:off x="1234440" y="3785616"/>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code is only part of it</a:t>
            </a:r>
            <a:endParaRPr lang="en-US" sz="1600" dirty="0"/>
          </a:p>
        </p:txBody>
      </p:sp>
      <p:sp>
        <p:nvSpPr>
          <p:cNvPr id="12" name="Text 10"/>
          <p:cNvSpPr txBox="1"/>
          <p:nvPr/>
        </p:nvSpPr>
        <p:spPr>
          <a:xfrm>
            <a:off x="4754880" y="3767328"/>
            <a:ext cx="6675120" cy="640080"/>
          </a:xfrm>
          <a:prstGeom prst="rect">
            <a:avLst/>
          </a:prstGeom>
          <a:noFill/>
          <a:ln/>
        </p:spPr>
        <p:txBody>
          <a:bodyPr wrap="square" lIns="0" tIns="0" rIns="0" bIns="0" rtlCol="0" anchor="ctr"/>
          <a:lstStyle/>
          <a:p>
            <a:pPr indent="0" marL="0">
              <a:lnSpc>
                <a:spcPts val="1900"/>
              </a:lnSpc>
              <a:buNone/>
            </a:pPr>
            <a:r>
              <a:rPr lang="en-US" sz="1400" dirty="0">
                <a:solidFill>
                  <a:srgbClr val="C3D2E2"/>
                </a:solidFill>
                <a:latin typeface="Calibri" pitchFamily="34" charset="0"/>
                <a:ea typeface="Calibri" pitchFamily="34" charset="-122"/>
                <a:cs typeface="Calibri" pitchFamily="34" charset="-120"/>
              </a:rPr>
              <a:t>Record all five: code, data, software versions, settings and the random seed.</a:t>
            </a:r>
            <a:endParaRPr lang="en-US" sz="1400" dirty="0"/>
          </a:p>
        </p:txBody>
      </p:sp>
      <p:sp>
        <p:nvSpPr>
          <p:cNvPr id="13" name="Text 11"/>
          <p:cNvSpPr txBox="1"/>
          <p:nvPr/>
        </p:nvSpPr>
        <p:spPr>
          <a:xfrm>
            <a:off x="731520" y="4645152"/>
            <a:ext cx="365760" cy="365760"/>
          </a:xfrm>
          <a:prstGeom prst="rect">
            <a:avLst/>
          </a:prstGeom>
          <a:noFill/>
          <a:ln/>
        </p:spPr>
        <p:txBody>
          <a:bodyPr wrap="square" lIns="0" tIns="0" rIns="0" bIns="0" rtlCol="0" anchor="ctr"/>
          <a:lstStyle/>
          <a:p>
            <a:pPr indent="0" marL="0">
              <a:buNone/>
            </a:pPr>
            <a:r>
              <a:rPr lang="en-US" sz="2000" b="1" dirty="0">
                <a:solidFill>
                  <a:srgbClr val="D6A24A"/>
                </a:solidFill>
                <a:latin typeface="Arial" pitchFamily="34" charset="0"/>
                <a:ea typeface="Arial" pitchFamily="34" charset="-122"/>
                <a:cs typeface="Arial" pitchFamily="34" charset="-120"/>
              </a:rPr>
              <a:t>4</a:t>
            </a:r>
            <a:endParaRPr lang="en-US" sz="2000" dirty="0"/>
          </a:p>
        </p:txBody>
      </p:sp>
      <p:sp>
        <p:nvSpPr>
          <p:cNvPr id="14" name="Text 12"/>
          <p:cNvSpPr txBox="1"/>
          <p:nvPr/>
        </p:nvSpPr>
        <p:spPr>
          <a:xfrm>
            <a:off x="1234440" y="4626864"/>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data changes on its own</a:t>
            </a:r>
            <a:endParaRPr lang="en-US" sz="1600" dirty="0"/>
          </a:p>
        </p:txBody>
      </p:sp>
      <p:sp>
        <p:nvSpPr>
          <p:cNvPr id="15" name="Text 13"/>
          <p:cNvSpPr txBox="1"/>
          <p:nvPr/>
        </p:nvSpPr>
        <p:spPr>
          <a:xfrm>
            <a:off x="4754880" y="4608576"/>
            <a:ext cx="6675120" cy="640080"/>
          </a:xfrm>
          <a:prstGeom prst="rect">
            <a:avLst/>
          </a:prstGeom>
          <a:noFill/>
          <a:ln/>
        </p:spPr>
        <p:txBody>
          <a:bodyPr wrap="square" lIns="0" tIns="0" rIns="0" bIns="0" rtlCol="0" anchor="ctr"/>
          <a:lstStyle/>
          <a:p>
            <a:pPr indent="0" marL="0">
              <a:lnSpc>
                <a:spcPts val="1900"/>
              </a:lnSpc>
              <a:buNone/>
            </a:pPr>
            <a:r>
              <a:rPr lang="en-US" sz="1400" dirty="0">
                <a:solidFill>
                  <a:srgbClr val="C3D2E2"/>
                </a:solidFill>
                <a:latin typeface="Calibri" pitchFamily="34" charset="0"/>
                <a:ea typeface="Calibri" pitchFamily="34" charset="-122"/>
                <a:cs typeface="Calibri" pitchFamily="34" charset="-120"/>
              </a:rPr>
              <a:t>Check the incoming data still looks the way we expect. Software teams rarely do this.</a:t>
            </a:r>
            <a:endParaRPr lang="en-US" sz="1400" dirty="0"/>
          </a:p>
        </p:txBody>
      </p:sp>
      <p:sp>
        <p:nvSpPr>
          <p:cNvPr id="16" name="Text 14"/>
          <p:cNvSpPr txBox="1"/>
          <p:nvPr/>
        </p:nvSpPr>
        <p:spPr>
          <a:xfrm>
            <a:off x="731520" y="5486400"/>
            <a:ext cx="365760" cy="365760"/>
          </a:xfrm>
          <a:prstGeom prst="rect">
            <a:avLst/>
          </a:prstGeom>
          <a:noFill/>
          <a:ln/>
        </p:spPr>
        <p:txBody>
          <a:bodyPr wrap="square" lIns="0" tIns="0" rIns="0" bIns="0" rtlCol="0" anchor="ctr"/>
          <a:lstStyle/>
          <a:p>
            <a:pPr indent="0" marL="0">
              <a:buNone/>
            </a:pPr>
            <a:r>
              <a:rPr lang="en-US" sz="2000" b="1" dirty="0">
                <a:solidFill>
                  <a:srgbClr val="D6A24A"/>
                </a:solidFill>
                <a:latin typeface="Arial" pitchFamily="34" charset="0"/>
                <a:ea typeface="Arial" pitchFamily="34" charset="-122"/>
                <a:cs typeface="Arial" pitchFamily="34" charset="-120"/>
              </a:rPr>
              <a:t>5</a:t>
            </a:r>
            <a:endParaRPr lang="en-US" sz="2000" dirty="0"/>
          </a:p>
        </p:txBody>
      </p:sp>
      <p:sp>
        <p:nvSpPr>
          <p:cNvPr id="17" name="Text 15"/>
          <p:cNvSpPr txBox="1"/>
          <p:nvPr/>
        </p:nvSpPr>
        <p:spPr>
          <a:xfrm>
            <a:off x="1234440" y="5468112"/>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tools fight Git</a:t>
            </a:r>
            <a:endParaRPr lang="en-US" sz="1600" dirty="0"/>
          </a:p>
        </p:txBody>
      </p:sp>
      <p:sp>
        <p:nvSpPr>
          <p:cNvPr id="18" name="Text 16"/>
          <p:cNvSpPr txBox="1"/>
          <p:nvPr/>
        </p:nvSpPr>
        <p:spPr>
          <a:xfrm>
            <a:off x="4754880" y="5449824"/>
            <a:ext cx="6675120" cy="640080"/>
          </a:xfrm>
          <a:prstGeom prst="rect">
            <a:avLst/>
          </a:prstGeom>
          <a:noFill/>
          <a:ln/>
        </p:spPr>
        <p:txBody>
          <a:bodyPr wrap="square" lIns="0" tIns="0" rIns="0" bIns="0" rtlCol="0" anchor="ctr"/>
          <a:lstStyle/>
          <a:p>
            <a:pPr indent="0" marL="0">
              <a:lnSpc>
                <a:spcPts val="1900"/>
              </a:lnSpc>
              <a:buNone/>
            </a:pPr>
            <a:r>
              <a:rPr lang="en-US" sz="1400" dirty="0">
                <a:solidFill>
                  <a:srgbClr val="C3D2E2"/>
                </a:solidFill>
                <a:latin typeface="Calibri" pitchFamily="34" charset="0"/>
                <a:ea typeface="Calibri" pitchFamily="34" charset="-122"/>
                <a:cs typeface="Calibri" pitchFamily="34" charset="-120"/>
              </a:rPr>
              <a:t>Keep notebooks out of anything we send. Keep data and models outside Git.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2</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Short branches off a protected main</a:t>
            </a:r>
            <a:endParaRPr lang="en-US" sz="3300" dirty="0"/>
          </a:p>
        </p:txBody>
      </p:sp>
      <p:sp>
        <p:nvSpPr>
          <p:cNvPr id="4" name="Text 2"/>
          <p:cNvSpPr txBox="1"/>
          <p:nvPr/>
        </p:nvSpPr>
        <p:spPr>
          <a:xfrm>
            <a:off x="731520" y="1572768"/>
            <a:ext cx="10698480" cy="310896"/>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Use GitHub Flow: short branches from main, pull requests, and required checks. It is lightweight trunk-based development with a review gate.</a:t>
            </a:r>
            <a:endParaRPr lang="en-US" sz="1400" dirty="0"/>
          </a:p>
        </p:txBody>
      </p:sp>
      <p:sp>
        <p:nvSpPr>
          <p:cNvPr id="5" name="Shape 3"/>
          <p:cNvSpPr/>
          <p:nvPr/>
        </p:nvSpPr>
        <p:spPr>
          <a:xfrm>
            <a:off x="731520" y="2103120"/>
            <a:ext cx="5029200" cy="1920240"/>
          </a:xfrm>
          <a:prstGeom prst="rect">
            <a:avLst/>
          </a:prstGeom>
          <a:solidFill>
            <a:srgbClr val="FFFFFF"/>
          </a:solidFill>
          <a:ln w="9525">
            <a:solidFill>
              <a:srgbClr val="CDD4DE"/>
            </a:solidFill>
            <a:prstDash val="solid"/>
          </a:ln>
        </p:spPr>
        <p:txBody>
          <a:bodyPr/>
          <a:p/>
        </p:txBody>
      </p:sp>
      <p:sp>
        <p:nvSpPr>
          <p:cNvPr id="6" name="Text 4"/>
          <p:cNvSpPr txBox="1"/>
          <p:nvPr/>
        </p:nvSpPr>
        <p:spPr>
          <a:xfrm>
            <a:off x="1051560" y="2304288"/>
            <a:ext cx="3657600" cy="237744"/>
          </a:xfrm>
          <a:prstGeom prst="rect">
            <a:avLst/>
          </a:prstGeom>
          <a:noFill/>
          <a:ln/>
        </p:spPr>
        <p:txBody>
          <a:bodyPr wrap="square" lIns="0" tIns="0" rIns="0" bIns="0" rtlCol="0" anchor="ctr"/>
          <a:lstStyle/>
          <a:p>
            <a:pPr indent="0" marL="0">
              <a:buNone/>
            </a:pPr>
            <a:r>
              <a:rPr lang="en-US" sz="1050" b="1" spc="170" kern="0" dirty="0">
                <a:solidFill>
                  <a:srgbClr val="1F3B5C"/>
                </a:solidFill>
                <a:latin typeface="Arial" pitchFamily="34" charset="0"/>
                <a:ea typeface="Arial" pitchFamily="34" charset="-122"/>
                <a:cs typeface="Arial" pitchFamily="34" charset="-120"/>
              </a:rPr>
              <a:t>THE RULES</a:t>
            </a:r>
            <a:endParaRPr lang="en-US" sz="1050" dirty="0"/>
          </a:p>
        </p:txBody>
      </p:sp>
      <p:sp>
        <p:nvSpPr>
          <p:cNvPr id="7" name="Shape 5"/>
          <p:cNvSpPr/>
          <p:nvPr/>
        </p:nvSpPr>
        <p:spPr>
          <a:xfrm>
            <a:off x="1097280" y="2715768"/>
            <a:ext cx="91440" cy="91440"/>
          </a:xfrm>
          <a:prstGeom prst="ellipse">
            <a:avLst/>
          </a:prstGeom>
          <a:solidFill>
            <a:srgbClr val="8A5E14"/>
          </a:solidFill>
          <a:ln w="12700">
            <a:solidFill>
              <a:srgbClr val="8A5E14"/>
            </a:solidFill>
            <a:prstDash val="solid"/>
          </a:ln>
        </p:spPr>
        <p:txBody>
          <a:bodyPr/>
          <a:p/>
        </p:txBody>
      </p:sp>
      <p:sp>
        <p:nvSpPr>
          <p:cNvPr id="8" name="Text 6"/>
          <p:cNvSpPr txBox="1"/>
          <p:nvPr/>
        </p:nvSpPr>
        <p:spPr>
          <a:xfrm>
            <a:off x="1353312" y="2642616"/>
            <a:ext cx="4206240" cy="274320"/>
          </a:xfrm>
          <a:prstGeom prst="rect">
            <a:avLst/>
          </a:prstGeom>
          <a:noFill/>
          <a:ln/>
        </p:spPr>
        <p:txBody>
          <a:bodyPr wrap="square" lIns="0" tIns="0" rIns="0" bIns="0" rtlCol="0" anchor="ctr"/>
          <a:lstStyle/>
          <a:p>
            <a:pPr indent="0" marL="0">
              <a:buNone/>
            </a:pPr>
            <a:r>
              <a:rPr lang="en-US" sz="1400" dirty="0">
                <a:solidFill>
                  <a:srgbClr val="121821"/>
                </a:solidFill>
                <a:latin typeface="Calibri" pitchFamily="34" charset="0"/>
                <a:ea typeface="Calibri" pitchFamily="34" charset="-122"/>
                <a:cs typeface="Calibri" pitchFamily="34" charset="-120"/>
              </a:rPr>
              <a:t>One branch, one question</a:t>
            </a:r>
            <a:endParaRPr lang="en-US" sz="1400" dirty="0"/>
          </a:p>
        </p:txBody>
      </p:sp>
      <p:sp>
        <p:nvSpPr>
          <p:cNvPr id="9" name="Shape 7"/>
          <p:cNvSpPr/>
          <p:nvPr/>
        </p:nvSpPr>
        <p:spPr>
          <a:xfrm>
            <a:off x="1097280" y="3017520"/>
            <a:ext cx="91440" cy="91440"/>
          </a:xfrm>
          <a:prstGeom prst="ellipse">
            <a:avLst/>
          </a:prstGeom>
          <a:solidFill>
            <a:srgbClr val="8A5E14"/>
          </a:solidFill>
          <a:ln w="12700">
            <a:solidFill>
              <a:srgbClr val="8A5E14"/>
            </a:solidFill>
            <a:prstDash val="solid"/>
          </a:ln>
        </p:spPr>
        <p:txBody>
          <a:bodyPr/>
          <a:p/>
        </p:txBody>
      </p:sp>
      <p:sp>
        <p:nvSpPr>
          <p:cNvPr id="10" name="Text 8"/>
          <p:cNvSpPr txBox="1"/>
          <p:nvPr/>
        </p:nvSpPr>
        <p:spPr>
          <a:xfrm>
            <a:off x="1353312" y="2944368"/>
            <a:ext cx="4206240" cy="274320"/>
          </a:xfrm>
          <a:prstGeom prst="rect">
            <a:avLst/>
          </a:prstGeom>
          <a:noFill/>
          <a:ln/>
        </p:spPr>
        <p:txBody>
          <a:bodyPr wrap="square" lIns="0" tIns="0" rIns="0" bIns="0" rtlCol="0" anchor="ctr"/>
          <a:lstStyle/>
          <a:p>
            <a:pPr indent="0" marL="0">
              <a:buNone/>
            </a:pPr>
            <a:r>
              <a:rPr lang="en-US" sz="1400" dirty="0">
                <a:solidFill>
                  <a:srgbClr val="121821"/>
                </a:solidFill>
                <a:latin typeface="Calibri" pitchFamily="34" charset="0"/>
                <a:ea typeface="Calibri" pitchFamily="34" charset="-122"/>
                <a:cs typeface="Calibri" pitchFamily="34" charset="-120"/>
              </a:rPr>
              <a:t>Named owner/what-it-does</a:t>
            </a:r>
            <a:endParaRPr lang="en-US" sz="1400" dirty="0"/>
          </a:p>
        </p:txBody>
      </p:sp>
      <p:sp>
        <p:nvSpPr>
          <p:cNvPr id="11" name="Shape 9"/>
          <p:cNvSpPr/>
          <p:nvPr/>
        </p:nvSpPr>
        <p:spPr>
          <a:xfrm>
            <a:off x="1097280" y="3319272"/>
            <a:ext cx="91440" cy="91440"/>
          </a:xfrm>
          <a:prstGeom prst="ellipse">
            <a:avLst/>
          </a:prstGeom>
          <a:solidFill>
            <a:srgbClr val="8A5E14"/>
          </a:solidFill>
          <a:ln w="12700">
            <a:solidFill>
              <a:srgbClr val="8A5E14"/>
            </a:solidFill>
            <a:prstDash val="solid"/>
          </a:ln>
        </p:spPr>
        <p:txBody>
          <a:bodyPr/>
          <a:p/>
        </p:txBody>
      </p:sp>
      <p:sp>
        <p:nvSpPr>
          <p:cNvPr id="12" name="Text 10"/>
          <p:cNvSpPr txBox="1"/>
          <p:nvPr/>
        </p:nvSpPr>
        <p:spPr>
          <a:xfrm>
            <a:off x="1353312" y="3246120"/>
            <a:ext cx="4206240" cy="274320"/>
          </a:xfrm>
          <a:prstGeom prst="rect">
            <a:avLst/>
          </a:prstGeom>
          <a:noFill/>
          <a:ln/>
        </p:spPr>
        <p:txBody>
          <a:bodyPr wrap="square" lIns="0" tIns="0" rIns="0" bIns="0" rtlCol="0" anchor="ctr"/>
          <a:lstStyle/>
          <a:p>
            <a:pPr indent="0" marL="0">
              <a:buNone/>
            </a:pPr>
            <a:r>
              <a:rPr lang="en-US" sz="1400" dirty="0">
                <a:solidFill>
                  <a:srgbClr val="121821"/>
                </a:solidFill>
                <a:latin typeface="Calibri" pitchFamily="34" charset="0"/>
                <a:ea typeface="Calibri" pitchFamily="34" charset="-122"/>
                <a:cs typeface="Calibri" pitchFamily="34" charset="-120"/>
              </a:rPr>
              <a:t>Under two days</a:t>
            </a:r>
            <a:endParaRPr lang="en-US" sz="1400" dirty="0"/>
          </a:p>
        </p:txBody>
      </p:sp>
      <p:sp>
        <p:nvSpPr>
          <p:cNvPr id="13" name="Shape 11"/>
          <p:cNvSpPr/>
          <p:nvPr/>
        </p:nvSpPr>
        <p:spPr>
          <a:xfrm>
            <a:off x="1097280" y="3621024"/>
            <a:ext cx="91440" cy="91440"/>
          </a:xfrm>
          <a:prstGeom prst="ellipse">
            <a:avLst/>
          </a:prstGeom>
          <a:solidFill>
            <a:srgbClr val="8A5E14"/>
          </a:solidFill>
          <a:ln w="12700">
            <a:solidFill>
              <a:srgbClr val="8A5E14"/>
            </a:solidFill>
            <a:prstDash val="solid"/>
          </a:ln>
        </p:spPr>
        <p:txBody>
          <a:bodyPr/>
          <a:p/>
        </p:txBody>
      </p:sp>
      <p:sp>
        <p:nvSpPr>
          <p:cNvPr id="14" name="Text 12"/>
          <p:cNvSpPr txBox="1"/>
          <p:nvPr/>
        </p:nvSpPr>
        <p:spPr>
          <a:xfrm>
            <a:off x="1353312" y="3547872"/>
            <a:ext cx="4206240" cy="274320"/>
          </a:xfrm>
          <a:prstGeom prst="rect">
            <a:avLst/>
          </a:prstGeom>
          <a:noFill/>
          <a:ln/>
        </p:spPr>
        <p:txBody>
          <a:bodyPr wrap="square" lIns="0" tIns="0" rIns="0" bIns="0" rtlCol="0" anchor="ctr"/>
          <a:lstStyle/>
          <a:p>
            <a:pPr indent="0" marL="0">
              <a:buNone/>
            </a:pPr>
            <a:r>
              <a:rPr lang="en-US" sz="1400" dirty="0">
                <a:solidFill>
                  <a:srgbClr val="121821"/>
                </a:solidFill>
                <a:latin typeface="Calibri" pitchFamily="34" charset="0"/>
                <a:ea typeface="Calibri" pitchFamily="34" charset="-122"/>
                <a:cs typeface="Calibri" pitchFamily="34" charset="-120"/>
              </a:rPr>
              <a:t>Deleted on merge</a:t>
            </a:r>
            <a:endParaRPr lang="en-US" sz="1400" dirty="0"/>
          </a:p>
        </p:txBody>
      </p:sp>
      <p:sp>
        <p:nvSpPr>
          <p:cNvPr id="15" name="Shape 13"/>
          <p:cNvSpPr/>
          <p:nvPr/>
        </p:nvSpPr>
        <p:spPr>
          <a:xfrm>
            <a:off x="6309360" y="2103120"/>
            <a:ext cx="5120640" cy="1920240"/>
          </a:xfrm>
          <a:prstGeom prst="rect">
            <a:avLst/>
          </a:prstGeom>
          <a:solidFill>
            <a:srgbClr val="FFFFFF"/>
          </a:solidFill>
          <a:ln w="9525">
            <a:solidFill>
              <a:srgbClr val="CDD4DE"/>
            </a:solidFill>
            <a:prstDash val="solid"/>
          </a:ln>
        </p:spPr>
        <p:txBody>
          <a:bodyPr/>
          <a:p/>
        </p:txBody>
      </p:sp>
      <p:sp>
        <p:nvSpPr>
          <p:cNvPr id="16" name="Text 14"/>
          <p:cNvSpPr txBox="1"/>
          <p:nvPr/>
        </p:nvSpPr>
        <p:spPr>
          <a:xfrm>
            <a:off x="6629400" y="2304288"/>
            <a:ext cx="3657600" cy="237744"/>
          </a:xfrm>
          <a:prstGeom prst="rect">
            <a:avLst/>
          </a:prstGeom>
          <a:noFill/>
          <a:ln/>
        </p:spPr>
        <p:txBody>
          <a:bodyPr wrap="square" lIns="0" tIns="0" rIns="0" bIns="0" rtlCol="0" anchor="ctr"/>
          <a:lstStyle/>
          <a:p>
            <a:pPr indent="0" marL="0">
              <a:buNone/>
            </a:pPr>
            <a:r>
              <a:rPr lang="en-US" sz="1050" b="1" spc="170" kern="0" dirty="0">
                <a:solidFill>
                  <a:srgbClr val="1F3B5C"/>
                </a:solidFill>
                <a:latin typeface="Arial" pitchFamily="34" charset="0"/>
                <a:ea typeface="Arial" pitchFamily="34" charset="-122"/>
                <a:cs typeface="Arial" pitchFamily="34" charset="-120"/>
              </a:rPr>
              <a:t>NOT GITFLOW</a:t>
            </a:r>
            <a:endParaRPr lang="en-US" sz="1050" dirty="0"/>
          </a:p>
        </p:txBody>
      </p:sp>
      <p:sp>
        <p:nvSpPr>
          <p:cNvPr id="17" name="Text 15"/>
          <p:cNvSpPr txBox="1"/>
          <p:nvPr/>
        </p:nvSpPr>
        <p:spPr>
          <a:xfrm>
            <a:off x="6629400" y="2670048"/>
            <a:ext cx="4572000" cy="1005840"/>
          </a:xfrm>
          <a:prstGeom prst="rect">
            <a:avLst/>
          </a:prstGeom>
          <a:noFill/>
          <a:ln/>
        </p:spPr>
        <p:txBody>
          <a:bodyPr wrap="square" lIns="0" tIns="0" rIns="0" bIns="0" rtlCol="0" anchor="ctr"/>
          <a:lstStyle/>
          <a:p>
            <a:pPr indent="0" marL="0">
              <a:lnSpc>
                <a:spcPts val="2000"/>
              </a:lnSpc>
              <a:buNone/>
            </a:pPr>
            <a:r>
              <a:rPr lang="en-US" sz="1400" dirty="0">
                <a:solidFill>
                  <a:srgbClr val="121821"/>
                </a:solidFill>
                <a:latin typeface="Calibri" pitchFamily="34" charset="0"/>
                <a:ea typeface="Calibri" pitchFamily="34" charset="-122"/>
                <a:cs typeface="Calibri" pitchFamily="34" charset="-120"/>
              </a:rPr>
              <a:t>GitFlow lets you fix an old version of a product while building the next one. Intercept has no versions to fix. It has deliverables.</a:t>
            </a:r>
            <a:endParaRPr lang="en-US" sz="1400" dirty="0"/>
          </a:p>
        </p:txBody>
      </p:sp>
      <p:sp>
        <p:nvSpPr>
          <p:cNvPr id="18" name="Shape 16"/>
          <p:cNvSpPr/>
          <p:nvPr/>
        </p:nvSpPr>
        <p:spPr>
          <a:xfrm>
            <a:off x="731520" y="4343400"/>
            <a:ext cx="10698480" cy="1691640"/>
          </a:xfrm>
          <a:prstGeom prst="rect">
            <a:avLst/>
          </a:prstGeom>
          <a:solidFill>
            <a:srgbClr val="FBF3E4"/>
          </a:solidFill>
          <a:ln w="9525">
            <a:solidFill>
              <a:srgbClr val="D9C08A"/>
            </a:solidFill>
            <a:prstDash val="solid"/>
          </a:ln>
        </p:spPr>
        <p:txBody>
          <a:bodyPr/>
          <a:p/>
        </p:txBody>
      </p:sp>
      <p:sp>
        <p:nvSpPr>
          <p:cNvPr id="19" name="Text 17"/>
          <p:cNvSpPr txBox="1"/>
          <p:nvPr/>
        </p:nvSpPr>
        <p:spPr>
          <a:xfrm>
            <a:off x="1097280" y="4709160"/>
            <a:ext cx="5943600" cy="365760"/>
          </a:xfrm>
          <a:prstGeom prst="rect">
            <a:avLst/>
          </a:prstGeom>
          <a:noFill/>
          <a:ln/>
        </p:spPr>
        <p:txBody>
          <a:bodyPr wrap="square" lIns="0" tIns="0" rIns="0" bIns="0" rtlCol="0" anchor="ctr"/>
          <a:lstStyle/>
          <a:p>
            <a:pPr indent="0" marL="0">
              <a:buNone/>
            </a:pPr>
            <a:r>
              <a:rPr lang="en-US" sz="2000" b="1" dirty="0">
                <a:solidFill>
                  <a:srgbClr val="121821"/>
                </a:solidFill>
                <a:latin typeface="Courier New" pitchFamily="34" charset="0"/>
                <a:ea typeface="Courier New" pitchFamily="34" charset="-122"/>
                <a:cs typeface="Courier New" pitchFamily="34" charset="-120"/>
              </a:rPr>
              <a:t>git tag -a report/2026-q3</a:t>
            </a:r>
            <a:endParaRPr lang="en-US" sz="2000" dirty="0"/>
          </a:p>
        </p:txBody>
      </p:sp>
      <p:sp>
        <p:nvSpPr>
          <p:cNvPr id="20" name="Text 18"/>
          <p:cNvSpPr txBox="1"/>
          <p:nvPr/>
        </p:nvSpPr>
        <p:spPr>
          <a:xfrm>
            <a:off x="1097280" y="5193792"/>
            <a:ext cx="5943600" cy="292608"/>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Branches get deleted. Tags do not.</a:t>
            </a:r>
            <a:endParaRPr lang="en-US" sz="1400" dirty="0"/>
          </a:p>
        </p:txBody>
      </p:sp>
      <p:sp>
        <p:nvSpPr>
          <p:cNvPr id="21" name="Text 19"/>
          <p:cNvSpPr txBox="1"/>
          <p:nvPr/>
        </p:nvSpPr>
        <p:spPr>
          <a:xfrm>
            <a:off x="7680960" y="4709160"/>
            <a:ext cx="3657600" cy="777240"/>
          </a:xfrm>
          <a:prstGeom prst="rect">
            <a:avLst/>
          </a:prstGeom>
          <a:noFill/>
          <a:ln/>
        </p:spPr>
        <p:txBody>
          <a:bodyPr wrap="square" lIns="0" tIns="0" rIns="0" bIns="0" rtlCol="0" anchor="ctr"/>
          <a:lstStyle/>
          <a:p>
            <a:pPr indent="0" marL="0">
              <a:lnSpc>
                <a:spcPts val="2200"/>
              </a:lnSpc>
              <a:buNone/>
            </a:pPr>
            <a:r>
              <a:rPr lang="en-US" sz="1600" b="1" dirty="0">
                <a:solidFill>
                  <a:srgbClr val="8A5E14"/>
                </a:solidFill>
                <a:latin typeface="Arial" pitchFamily="34" charset="0"/>
                <a:ea typeface="Arial" pitchFamily="34" charset="-122"/>
                <a:cs typeface="Arial" pitchFamily="34" charset="-120"/>
              </a:rPr>
              <a:t>Software teams tag releases.</a:t>
            </a:r>
            <a:endParaRPr lang="en-US" sz="1600" dirty="0"/>
          </a:p>
          <a:p>
            <a:pPr indent="0" marL="0">
              <a:lnSpc>
                <a:spcPts val="2200"/>
              </a:lnSpc>
              <a:buNone/>
            </a:pPr>
            <a:r>
              <a:rPr lang="en-US" sz="1600" b="1" dirty="0">
                <a:solidFill>
                  <a:srgbClr val="8A5E14"/>
                </a:solidFill>
                <a:latin typeface="Arial" pitchFamily="34" charset="0"/>
                <a:ea typeface="Arial" pitchFamily="34" charset="-122"/>
                <a:cs typeface="Arial" pitchFamily="34" charset="-120"/>
              </a:rPr>
              <a:t>We tag outputs.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THE COMPETING SCHOOLS</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Does that hold for five people?</a:t>
            </a:r>
            <a:endParaRPr lang="en-US" sz="3300" dirty="0"/>
          </a:p>
        </p:txBody>
      </p:sp>
      <p:sp>
        <p:nvSpPr>
          <p:cNvPr id="4" name="Shape 2"/>
          <p:cNvSpPr/>
          <p:nvPr/>
        </p:nvSpPr>
        <p:spPr>
          <a:xfrm>
            <a:off x="731520" y="1920240"/>
            <a:ext cx="5029200" cy="2148840"/>
          </a:xfrm>
          <a:prstGeom prst="rect">
            <a:avLst/>
          </a:prstGeom>
          <a:solidFill>
            <a:srgbClr val="FFFFFF"/>
          </a:solidFill>
          <a:ln w="9525">
            <a:solidFill>
              <a:srgbClr val="CDD4DE"/>
            </a:solidFill>
            <a:prstDash val="solid"/>
          </a:ln>
        </p:spPr>
        <p:txBody>
          <a:bodyPr/>
          <a:p/>
        </p:txBody>
      </p:sp>
      <p:sp>
        <p:nvSpPr>
          <p:cNvPr id="5" name="Text 3"/>
          <p:cNvSpPr txBox="1"/>
          <p:nvPr/>
        </p:nvSpPr>
        <p:spPr>
          <a:xfrm>
            <a:off x="1051560" y="2121408"/>
            <a:ext cx="4114800" cy="237744"/>
          </a:xfrm>
          <a:prstGeom prst="rect">
            <a:avLst/>
          </a:prstGeom>
          <a:noFill/>
          <a:ln/>
        </p:spPr>
        <p:txBody>
          <a:bodyPr wrap="square" lIns="0" tIns="0" rIns="0" bIns="0" rtlCol="0" anchor="ctr"/>
          <a:lstStyle/>
          <a:p>
            <a:pPr indent="0" marL="0">
              <a:buNone/>
            </a:pPr>
            <a:r>
              <a:rPr lang="en-US" sz="1050" b="1" spc="170" kern="0" dirty="0">
                <a:solidFill>
                  <a:srgbClr val="1F3B5C"/>
                </a:solidFill>
                <a:latin typeface="Arial" pitchFamily="34" charset="0"/>
                <a:ea typeface="Arial" pitchFamily="34" charset="-122"/>
                <a:cs typeface="Arial" pitchFamily="34" charset="-120"/>
              </a:rPr>
              <a:t>THE USUAL ARGUMENT</a:t>
            </a:r>
            <a:endParaRPr lang="en-US" sz="1050" dirty="0"/>
          </a:p>
        </p:txBody>
      </p:sp>
      <p:sp>
        <p:nvSpPr>
          <p:cNvPr id="6" name="Text 4"/>
          <p:cNvSpPr txBox="1"/>
          <p:nvPr/>
        </p:nvSpPr>
        <p:spPr>
          <a:xfrm>
            <a:off x="1051560" y="2487168"/>
            <a:ext cx="4480560" cy="1280160"/>
          </a:xfrm>
          <a:prstGeom prst="rect">
            <a:avLst/>
          </a:prstGeom>
          <a:noFill/>
          <a:ln/>
        </p:spPr>
        <p:txBody>
          <a:bodyPr wrap="square" lIns="0" tIns="0" rIns="0" bIns="0" rtlCol="0" anchor="ctr"/>
          <a:lstStyle/>
          <a:p>
            <a:pPr indent="0" marL="0">
              <a:lnSpc>
                <a:spcPts val="2000"/>
              </a:lnSpc>
              <a:buNone/>
            </a:pPr>
            <a:r>
              <a:rPr lang="en-US" sz="1400" dirty="0">
                <a:solidFill>
                  <a:srgbClr val="121821"/>
                </a:solidFill>
                <a:latin typeface="Calibri" pitchFamily="34" charset="0"/>
                <a:ea typeface="Calibri" pitchFamily="34" charset="-122"/>
                <a:cs typeface="Calibri" pitchFamily="34" charset="-120"/>
              </a:rPr>
              <a:t>The longer you work apart from everyone else, the harder it is to merge back. The DORA research found the best teams keep branches under a day, and said that held whatever the team size.</a:t>
            </a:r>
            <a:endParaRPr lang="en-US" sz="1400" dirty="0"/>
          </a:p>
        </p:txBody>
      </p:sp>
      <p:sp>
        <p:nvSpPr>
          <p:cNvPr id="7" name="Shape 5"/>
          <p:cNvSpPr/>
          <p:nvPr/>
        </p:nvSpPr>
        <p:spPr>
          <a:xfrm>
            <a:off x="6309360" y="1920240"/>
            <a:ext cx="5120640" cy="2148840"/>
          </a:xfrm>
          <a:prstGeom prst="rect">
            <a:avLst/>
          </a:prstGeom>
          <a:solidFill>
            <a:srgbClr val="F7E9E4"/>
          </a:solidFill>
          <a:ln w="9525">
            <a:solidFill>
              <a:srgbClr val="E4CAC2"/>
            </a:solidFill>
            <a:prstDash val="solid"/>
          </a:ln>
        </p:spPr>
        <p:txBody>
          <a:bodyPr/>
          <a:p/>
        </p:txBody>
      </p:sp>
      <p:sp>
        <p:nvSpPr>
          <p:cNvPr id="8" name="Text 6"/>
          <p:cNvSpPr txBox="1"/>
          <p:nvPr/>
        </p:nvSpPr>
        <p:spPr>
          <a:xfrm>
            <a:off x="6629400" y="2121408"/>
            <a:ext cx="4114800" cy="237744"/>
          </a:xfrm>
          <a:prstGeom prst="rect">
            <a:avLst/>
          </a:prstGeom>
          <a:noFill/>
          <a:ln/>
        </p:spPr>
        <p:txBody>
          <a:bodyPr wrap="square" lIns="0" tIns="0" rIns="0" bIns="0" rtlCol="0" anchor="ctr"/>
          <a:lstStyle/>
          <a:p>
            <a:pPr indent="0" marL="0">
              <a:buNone/>
            </a:pPr>
            <a:r>
              <a:rPr lang="en-US" sz="1050" b="1" spc="170" kern="0" dirty="0">
                <a:solidFill>
                  <a:srgbClr val="9B3720"/>
                </a:solidFill>
                <a:latin typeface="Arial" pitchFamily="34" charset="0"/>
                <a:ea typeface="Arial" pitchFamily="34" charset="-122"/>
                <a:cs typeface="Arial" pitchFamily="34" charset="-120"/>
              </a:rPr>
              <a:t>WHY I DO NOT LEAN ON IT</a:t>
            </a:r>
            <a:endParaRPr lang="en-US" sz="1050" dirty="0"/>
          </a:p>
        </p:txBody>
      </p:sp>
      <p:sp>
        <p:nvSpPr>
          <p:cNvPr id="9" name="Text 7"/>
          <p:cNvSpPr txBox="1"/>
          <p:nvPr/>
        </p:nvSpPr>
        <p:spPr>
          <a:xfrm>
            <a:off x="6629400" y="2487168"/>
            <a:ext cx="4572000" cy="1280160"/>
          </a:xfrm>
          <a:prstGeom prst="rect">
            <a:avLst/>
          </a:prstGeom>
          <a:noFill/>
          <a:ln/>
        </p:spPr>
        <p:txBody>
          <a:bodyPr wrap="square" lIns="0" tIns="0" rIns="0" bIns="0" rtlCol="0" anchor="ctr"/>
          <a:lstStyle/>
          <a:p>
            <a:pPr indent="0" marL="0">
              <a:lnSpc>
                <a:spcPts val="2000"/>
              </a:lnSpc>
              <a:buNone/>
            </a:pPr>
            <a:r>
              <a:rPr lang="en-US" sz="1400" dirty="0">
                <a:solidFill>
                  <a:srgbClr val="121821"/>
                </a:solidFill>
                <a:latin typeface="Calibri" pitchFamily="34" charset="0"/>
                <a:ea typeface="Calibri" pitchFamily="34" charset="-122"/>
                <a:cs typeface="Calibri" pitchFamily="34" charset="-120"/>
              </a:rPr>
              <a:t>That evidence is from software teams. And short branches are usually about stopping people bumping into each other, which happens far less at five people than at fifty.</a:t>
            </a:r>
            <a:endParaRPr lang="en-US" sz="1400" dirty="0"/>
          </a:p>
        </p:txBody>
      </p:sp>
      <p:sp>
        <p:nvSpPr>
          <p:cNvPr id="10" name="Text 8"/>
          <p:cNvSpPr txBox="1"/>
          <p:nvPr/>
        </p:nvSpPr>
        <p:spPr>
          <a:xfrm>
            <a:off x="731520" y="4434840"/>
            <a:ext cx="10698480" cy="365760"/>
          </a:xfrm>
          <a:prstGeom prst="rect">
            <a:avLst/>
          </a:prstGeom>
          <a:noFill/>
          <a:ln/>
        </p:spPr>
        <p:txBody>
          <a:bodyPr wrap="square" lIns="0" tIns="0" rIns="0" bIns="0" rtlCol="0" anchor="ctr"/>
          <a:lstStyle/>
          <a:p>
            <a:pPr indent="0" marL="0">
              <a:buNone/>
            </a:pPr>
            <a:r>
              <a:rPr lang="en-US" sz="2000" b="1" dirty="0">
                <a:solidFill>
                  <a:srgbClr val="8A5E14"/>
                </a:solidFill>
                <a:latin typeface="Arial" pitchFamily="34" charset="0"/>
                <a:ea typeface="Arial" pitchFamily="34" charset="-122"/>
                <a:cs typeface="Arial" pitchFamily="34" charset="-120"/>
              </a:rPr>
              <a:t>My reason is different</a:t>
            </a:r>
            <a:endParaRPr lang="en-US" sz="2000" dirty="0"/>
          </a:p>
        </p:txBody>
      </p:sp>
      <p:sp>
        <p:nvSpPr>
          <p:cNvPr id="11" name="Text 9"/>
          <p:cNvSpPr txBox="1"/>
          <p:nvPr/>
        </p:nvSpPr>
        <p:spPr>
          <a:xfrm>
            <a:off x="731520" y="4937760"/>
            <a:ext cx="9875520" cy="548640"/>
          </a:xfrm>
          <a:prstGeom prst="rect">
            <a:avLst/>
          </a:prstGeom>
          <a:noFill/>
          <a:ln/>
        </p:spPr>
        <p:txBody>
          <a:bodyPr wrap="square" lIns="0" tIns="0" rIns="0" bIns="0" rtlCol="0" anchor="ctr"/>
          <a:lstStyle/>
          <a:p>
            <a:pPr indent="0" marL="0">
              <a:lnSpc>
                <a:spcPts val="2400"/>
              </a:lnSpc>
              <a:buNone/>
            </a:pPr>
            <a:r>
              <a:rPr lang="en-US" sz="1700" dirty="0">
                <a:solidFill>
                  <a:srgbClr val="121821"/>
                </a:solidFill>
                <a:latin typeface="Calibri" pitchFamily="34" charset="0"/>
                <a:ea typeface="Calibri" pitchFamily="34" charset="-122"/>
                <a:cs typeface="Calibri" pitchFamily="34" charset="-120"/>
              </a:rPr>
              <a:t>The data moves under you as well as the code. A three week branch is stale both ways, and neither kind announces itself.</a:t>
            </a:r>
            <a:endParaRPr lang="en-US" sz="1700" dirty="0"/>
          </a:p>
        </p:txBody>
      </p:sp>
      <p:sp>
        <p:nvSpPr>
          <p:cNvPr id="12" name="Text 10"/>
          <p:cNvSpPr txBox="1"/>
          <p:nvPr/>
        </p:nvSpPr>
        <p:spPr>
          <a:xfrm>
            <a:off x="731520" y="5623560"/>
            <a:ext cx="9875520" cy="36576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Bumping into each other is not the real risk here. Keeping the shared copy ready to send is.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3</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One pull request, one question</a:t>
            </a:r>
            <a:endParaRPr lang="en-US" sz="3300" dirty="0"/>
          </a:p>
        </p:txBody>
      </p:sp>
      <p:sp>
        <p:nvSpPr>
          <p:cNvPr id="4" name="Text 2"/>
          <p:cNvSpPr txBox="1"/>
          <p:nvPr/>
        </p:nvSpPr>
        <p:spPr>
          <a:xfrm>
            <a:off x="731520" y="1572768"/>
            <a:ext cx="10698480" cy="310896"/>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One answerable question. About 400 lines is a warning light, not a law.</a:t>
            </a:r>
            <a:endParaRPr lang="en-US" sz="1400" dirty="0"/>
          </a:p>
        </p:txBody>
      </p:sp>
      <p:sp>
        <p:nvSpPr>
          <p:cNvPr id="5" name="Shape 3"/>
          <p:cNvSpPr/>
          <p:nvPr/>
        </p:nvSpPr>
        <p:spPr>
          <a:xfrm>
            <a:off x="731520" y="2057400"/>
            <a:ext cx="5029200" cy="2651760"/>
          </a:xfrm>
          <a:prstGeom prst="rect">
            <a:avLst/>
          </a:prstGeom>
          <a:solidFill>
            <a:srgbClr val="FFFFFF"/>
          </a:solidFill>
          <a:ln w="9525">
            <a:solidFill>
              <a:srgbClr val="CDD4DE"/>
            </a:solidFill>
            <a:prstDash val="solid"/>
          </a:ln>
        </p:spPr>
        <p:txBody>
          <a:bodyPr/>
          <a:p/>
        </p:txBody>
      </p:sp>
      <p:sp>
        <p:nvSpPr>
          <p:cNvPr id="6" name="Text 4"/>
          <p:cNvSpPr txBox="1"/>
          <p:nvPr/>
        </p:nvSpPr>
        <p:spPr>
          <a:xfrm>
            <a:off x="1051560" y="2240280"/>
            <a:ext cx="4114800" cy="237744"/>
          </a:xfrm>
          <a:prstGeom prst="rect">
            <a:avLst/>
          </a:prstGeom>
          <a:noFill/>
          <a:ln/>
        </p:spPr>
        <p:txBody>
          <a:bodyPr wrap="square" lIns="0" tIns="0" rIns="0" bIns="0" rtlCol="0" anchor="ctr"/>
          <a:lstStyle/>
          <a:p>
            <a:pPr indent="0" marL="0">
              <a:buNone/>
            </a:pPr>
            <a:r>
              <a:rPr lang="en-US" sz="1050" b="1" spc="170" kern="0" dirty="0">
                <a:solidFill>
                  <a:srgbClr val="1F3B5C"/>
                </a:solidFill>
                <a:latin typeface="Arial" pitchFamily="34" charset="0"/>
                <a:ea typeface="Arial" pitchFamily="34" charset="-122"/>
                <a:cs typeface="Arial" pitchFamily="34" charset="-120"/>
              </a:rPr>
              <a:t>THE AUTHOR WRITES</a:t>
            </a:r>
            <a:endParaRPr lang="en-US" sz="1050" dirty="0"/>
          </a:p>
        </p:txBody>
      </p:sp>
      <p:sp>
        <p:nvSpPr>
          <p:cNvPr id="7" name="Text 5"/>
          <p:cNvSpPr txBox="1"/>
          <p:nvPr/>
        </p:nvSpPr>
        <p:spPr>
          <a:xfrm>
            <a:off x="1051560" y="2606040"/>
            <a:ext cx="4480560" cy="274320"/>
          </a:xfrm>
          <a:prstGeom prst="rect">
            <a:avLst/>
          </a:prstGeom>
          <a:noFill/>
          <a:ln/>
        </p:spPr>
        <p:txBody>
          <a:bodyPr wrap="square" lIns="0" tIns="0" rIns="0" bIns="0" rtlCol="0" anchor="ctr"/>
          <a:lstStyle/>
          <a:p>
            <a:pPr indent="0" marL="0">
              <a:buNone/>
            </a:pPr>
            <a:r>
              <a:rPr lang="en-US" sz="1500" b="1" dirty="0">
                <a:solidFill>
                  <a:srgbClr val="121821"/>
                </a:solidFill>
                <a:latin typeface="Calibri" pitchFamily="34" charset="0"/>
                <a:ea typeface="Calibri" pitchFamily="34" charset="-122"/>
                <a:cs typeface="Calibri" pitchFamily="34" charset="-120"/>
              </a:rPr>
              <a:t>What changed and why</a:t>
            </a:r>
            <a:endParaRPr lang="en-US" sz="1500" dirty="0"/>
          </a:p>
        </p:txBody>
      </p:sp>
      <p:sp>
        <p:nvSpPr>
          <p:cNvPr id="8" name="Text 6"/>
          <p:cNvSpPr txBox="1"/>
          <p:nvPr/>
        </p:nvSpPr>
        <p:spPr>
          <a:xfrm>
            <a:off x="1051560" y="3063240"/>
            <a:ext cx="4480560" cy="274320"/>
          </a:xfrm>
          <a:prstGeom prst="rect">
            <a:avLst/>
          </a:prstGeom>
          <a:noFill/>
          <a:ln/>
        </p:spPr>
        <p:txBody>
          <a:bodyPr wrap="square" lIns="0" tIns="0" rIns="0" bIns="0" rtlCol="0" anchor="ctr"/>
          <a:lstStyle/>
          <a:p>
            <a:pPr indent="0" marL="0">
              <a:buNone/>
            </a:pPr>
            <a:r>
              <a:rPr lang="en-US" sz="1500" b="1" dirty="0">
                <a:solidFill>
                  <a:srgbClr val="8A5E14"/>
                </a:solidFill>
                <a:latin typeface="Calibri" pitchFamily="34" charset="0"/>
                <a:ea typeface="Calibri" pitchFamily="34" charset="-122"/>
                <a:cs typeface="Calibri" pitchFamily="34" charset="-120"/>
              </a:rPr>
              <a:t>What number moved</a:t>
            </a:r>
            <a:endParaRPr lang="en-US" sz="1500" dirty="0"/>
          </a:p>
        </p:txBody>
      </p:sp>
      <p:sp>
        <p:nvSpPr>
          <p:cNvPr id="9" name="Text 7"/>
          <p:cNvSpPr txBox="1"/>
          <p:nvPr/>
        </p:nvSpPr>
        <p:spPr>
          <a:xfrm>
            <a:off x="1051560" y="3520440"/>
            <a:ext cx="4480560" cy="274320"/>
          </a:xfrm>
          <a:prstGeom prst="rect">
            <a:avLst/>
          </a:prstGeom>
          <a:noFill/>
          <a:ln/>
        </p:spPr>
        <p:txBody>
          <a:bodyPr wrap="square" lIns="0" tIns="0" rIns="0" bIns="0" rtlCol="0" anchor="ctr"/>
          <a:lstStyle/>
          <a:p>
            <a:pPr indent="0" marL="0">
              <a:buNone/>
            </a:pPr>
            <a:r>
              <a:rPr lang="en-US" sz="1500" b="1" dirty="0">
                <a:solidFill>
                  <a:srgbClr val="121821"/>
                </a:solidFill>
                <a:latin typeface="Calibri" pitchFamily="34" charset="0"/>
                <a:ea typeface="Calibri" pitchFamily="34" charset="-122"/>
                <a:cs typeface="Calibri" pitchFamily="34" charset="-120"/>
              </a:rPr>
              <a:t>How I checked it</a:t>
            </a:r>
            <a:endParaRPr lang="en-US" sz="1500" dirty="0"/>
          </a:p>
        </p:txBody>
      </p:sp>
      <p:sp>
        <p:nvSpPr>
          <p:cNvPr id="10" name="Text 8"/>
          <p:cNvSpPr txBox="1"/>
          <p:nvPr/>
        </p:nvSpPr>
        <p:spPr>
          <a:xfrm>
            <a:off x="1051560" y="3977640"/>
            <a:ext cx="4480560" cy="274320"/>
          </a:xfrm>
          <a:prstGeom prst="rect">
            <a:avLst/>
          </a:prstGeom>
          <a:noFill/>
          <a:ln/>
        </p:spPr>
        <p:txBody>
          <a:bodyPr wrap="square" lIns="0" tIns="0" rIns="0" bIns="0" rtlCol="0" anchor="ctr"/>
          <a:lstStyle/>
          <a:p>
            <a:pPr indent="0" marL="0">
              <a:buNone/>
            </a:pPr>
            <a:r>
              <a:rPr lang="en-US" sz="1500" b="1" dirty="0">
                <a:solidFill>
                  <a:srgbClr val="121821"/>
                </a:solidFill>
                <a:latin typeface="Calibri" pitchFamily="34" charset="0"/>
                <a:ea typeface="Calibri" pitchFamily="34" charset="-122"/>
                <a:cs typeface="Calibri" pitchFamily="34" charset="-120"/>
              </a:rPr>
              <a:t>What I did not check</a:t>
            </a:r>
            <a:endParaRPr lang="en-US" sz="1500" dirty="0"/>
          </a:p>
        </p:txBody>
      </p:sp>
      <p:sp>
        <p:nvSpPr>
          <p:cNvPr id="11" name="Text 9"/>
          <p:cNvSpPr txBox="1"/>
          <p:nvPr/>
        </p:nvSpPr>
        <p:spPr>
          <a:xfrm>
            <a:off x="1051560" y="4370832"/>
            <a:ext cx="4480560" cy="256032"/>
          </a:xfrm>
          <a:prstGeom prst="rect">
            <a:avLst/>
          </a:prstGeom>
          <a:noFill/>
          <a:ln/>
        </p:spPr>
        <p:txBody>
          <a:bodyPr wrap="square" lIns="0" tIns="0" rIns="0" bIns="0" rtlCol="0" anchor="ctr"/>
          <a:lstStyle/>
          <a:p>
            <a:pPr indent="0" marL="0">
              <a:buNone/>
            </a:pPr>
            <a:r>
              <a:rPr lang="en-US" sz="1200" b="1" dirty="0">
                <a:solidFill>
                  <a:srgbClr val="1F3B5C"/>
                </a:solidFill>
                <a:latin typeface="Courier New" pitchFamily="34" charset="0"/>
                <a:ea typeface="Courier New" pitchFamily="34" charset="-122"/>
                <a:cs typeface="Courier New" pitchFamily="34" charset="-120"/>
              </a:rPr>
              <a:t>Customers lost 4.1% to 5.3%. Right 81% of the time, now 84%.</a:t>
            </a:r>
            <a:endParaRPr lang="en-US" sz="1200" dirty="0"/>
          </a:p>
        </p:txBody>
      </p:sp>
      <p:sp>
        <p:nvSpPr>
          <p:cNvPr id="12" name="Shape 10"/>
          <p:cNvSpPr/>
          <p:nvPr/>
        </p:nvSpPr>
        <p:spPr>
          <a:xfrm>
            <a:off x="6309360" y="2057400"/>
            <a:ext cx="5120640" cy="2651760"/>
          </a:xfrm>
          <a:prstGeom prst="rect">
            <a:avLst/>
          </a:prstGeom>
          <a:solidFill>
            <a:srgbClr val="FFFFFF"/>
          </a:solidFill>
          <a:ln w="9525">
            <a:solidFill>
              <a:srgbClr val="CDD4DE"/>
            </a:solidFill>
            <a:prstDash val="solid"/>
          </a:ln>
        </p:spPr>
        <p:txBody>
          <a:bodyPr/>
          <a:p/>
        </p:txBody>
      </p:sp>
      <p:sp>
        <p:nvSpPr>
          <p:cNvPr id="13" name="Text 11"/>
          <p:cNvSpPr txBox="1"/>
          <p:nvPr/>
        </p:nvSpPr>
        <p:spPr>
          <a:xfrm>
            <a:off x="6629400" y="2240280"/>
            <a:ext cx="4114800" cy="237744"/>
          </a:xfrm>
          <a:prstGeom prst="rect">
            <a:avLst/>
          </a:prstGeom>
          <a:noFill/>
          <a:ln/>
        </p:spPr>
        <p:txBody>
          <a:bodyPr wrap="square" lIns="0" tIns="0" rIns="0" bIns="0" rtlCol="0" anchor="ctr"/>
          <a:lstStyle/>
          <a:p>
            <a:pPr indent="0" marL="0">
              <a:buNone/>
            </a:pPr>
            <a:r>
              <a:rPr lang="en-US" sz="1050" b="1" spc="170" kern="0" dirty="0">
                <a:solidFill>
                  <a:srgbClr val="1F3B5C"/>
                </a:solidFill>
                <a:latin typeface="Arial" pitchFamily="34" charset="0"/>
                <a:ea typeface="Arial" pitchFamily="34" charset="-122"/>
                <a:cs typeface="Arial" pitchFamily="34" charset="-120"/>
              </a:rPr>
              <a:t>THE REVIEWER CHECKS</a:t>
            </a:r>
            <a:endParaRPr lang="en-US" sz="1050" dirty="0"/>
          </a:p>
        </p:txBody>
      </p:sp>
      <p:sp>
        <p:nvSpPr>
          <p:cNvPr id="14" name="Shape 12"/>
          <p:cNvSpPr/>
          <p:nvPr/>
        </p:nvSpPr>
        <p:spPr>
          <a:xfrm>
            <a:off x="6675120" y="2697480"/>
            <a:ext cx="91440" cy="91440"/>
          </a:xfrm>
          <a:prstGeom prst="ellipse">
            <a:avLst/>
          </a:prstGeom>
          <a:solidFill>
            <a:srgbClr val="1F3B5C"/>
          </a:solidFill>
          <a:ln w="12700">
            <a:solidFill>
              <a:srgbClr val="1F3B5C"/>
            </a:solidFill>
            <a:prstDash val="solid"/>
          </a:ln>
        </p:spPr>
        <p:txBody>
          <a:bodyPr/>
          <a:p/>
        </p:txBody>
      </p:sp>
      <p:sp>
        <p:nvSpPr>
          <p:cNvPr id="15" name="Text 13"/>
          <p:cNvSpPr txBox="1"/>
          <p:nvPr/>
        </p:nvSpPr>
        <p:spPr>
          <a:xfrm>
            <a:off x="6931152" y="2633472"/>
            <a:ext cx="4480560" cy="274320"/>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Does this answer what the client asked?</a:t>
            </a:r>
            <a:endParaRPr lang="en-US" sz="1350" dirty="0"/>
          </a:p>
        </p:txBody>
      </p:sp>
      <p:sp>
        <p:nvSpPr>
          <p:cNvPr id="16" name="Shape 14"/>
          <p:cNvSpPr/>
          <p:nvPr/>
        </p:nvSpPr>
        <p:spPr>
          <a:xfrm>
            <a:off x="6675120" y="3044952"/>
            <a:ext cx="91440" cy="91440"/>
          </a:xfrm>
          <a:prstGeom prst="ellipse">
            <a:avLst/>
          </a:prstGeom>
          <a:solidFill>
            <a:srgbClr val="1F3B5C"/>
          </a:solidFill>
          <a:ln w="12700">
            <a:solidFill>
              <a:srgbClr val="1F3B5C"/>
            </a:solidFill>
            <a:prstDash val="solid"/>
          </a:ln>
        </p:spPr>
        <p:txBody>
          <a:bodyPr/>
          <a:p/>
        </p:txBody>
      </p:sp>
      <p:sp>
        <p:nvSpPr>
          <p:cNvPr id="17" name="Text 15"/>
          <p:cNvSpPr txBox="1"/>
          <p:nvPr/>
        </p:nvSpPr>
        <p:spPr>
          <a:xfrm>
            <a:off x="6931152" y="2980944"/>
            <a:ext cx="4480560" cy="274320"/>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Could this accidentally count someone twice?</a:t>
            </a:r>
            <a:endParaRPr lang="en-US" sz="1350" dirty="0"/>
          </a:p>
        </p:txBody>
      </p:sp>
      <p:sp>
        <p:nvSpPr>
          <p:cNvPr id="18" name="Shape 16"/>
          <p:cNvSpPr/>
          <p:nvPr/>
        </p:nvSpPr>
        <p:spPr>
          <a:xfrm>
            <a:off x="6675120" y="3392424"/>
            <a:ext cx="91440" cy="91440"/>
          </a:xfrm>
          <a:prstGeom prst="ellipse">
            <a:avLst/>
          </a:prstGeom>
          <a:solidFill>
            <a:srgbClr val="1F3B5C"/>
          </a:solidFill>
          <a:ln w="12700">
            <a:solidFill>
              <a:srgbClr val="1F3B5C"/>
            </a:solidFill>
            <a:prstDash val="solid"/>
          </a:ln>
        </p:spPr>
        <p:txBody>
          <a:bodyPr/>
          <a:p/>
        </p:txBody>
      </p:sp>
      <p:sp>
        <p:nvSpPr>
          <p:cNvPr id="19" name="Text 17"/>
          <p:cNvSpPr txBox="1"/>
          <p:nvPr/>
        </p:nvSpPr>
        <p:spPr>
          <a:xfrm>
            <a:off x="6931152" y="3328416"/>
            <a:ext cx="4480560" cy="274320"/>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Are the dates counted the way we say?</a:t>
            </a:r>
            <a:endParaRPr lang="en-US" sz="1350" dirty="0"/>
          </a:p>
        </p:txBody>
      </p:sp>
      <p:sp>
        <p:nvSpPr>
          <p:cNvPr id="20" name="Shape 18"/>
          <p:cNvSpPr/>
          <p:nvPr/>
        </p:nvSpPr>
        <p:spPr>
          <a:xfrm>
            <a:off x="6675120" y="3739896"/>
            <a:ext cx="91440" cy="91440"/>
          </a:xfrm>
          <a:prstGeom prst="ellipse">
            <a:avLst/>
          </a:prstGeom>
          <a:solidFill>
            <a:srgbClr val="1F3B5C"/>
          </a:solidFill>
          <a:ln w="12700">
            <a:solidFill>
              <a:srgbClr val="1F3B5C"/>
            </a:solidFill>
            <a:prstDash val="solid"/>
          </a:ln>
        </p:spPr>
        <p:txBody>
          <a:bodyPr/>
          <a:p/>
        </p:txBody>
      </p:sp>
      <p:sp>
        <p:nvSpPr>
          <p:cNvPr id="21" name="Text 19"/>
          <p:cNvSpPr txBox="1"/>
          <p:nvPr/>
        </p:nvSpPr>
        <p:spPr>
          <a:xfrm>
            <a:off x="6931152" y="3675888"/>
            <a:ext cx="4480560" cy="274320"/>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Does it use anything we would not have known then?</a:t>
            </a:r>
            <a:endParaRPr lang="en-US" sz="1350" dirty="0"/>
          </a:p>
        </p:txBody>
      </p:sp>
      <p:sp>
        <p:nvSpPr>
          <p:cNvPr id="22" name="Shape 20"/>
          <p:cNvSpPr/>
          <p:nvPr/>
        </p:nvSpPr>
        <p:spPr>
          <a:xfrm>
            <a:off x="6675120" y="4087368"/>
            <a:ext cx="91440" cy="91440"/>
          </a:xfrm>
          <a:prstGeom prst="ellipse">
            <a:avLst/>
          </a:prstGeom>
          <a:solidFill>
            <a:srgbClr val="1F3B5C"/>
          </a:solidFill>
          <a:ln w="12700">
            <a:solidFill>
              <a:srgbClr val="1F3B5C"/>
            </a:solidFill>
            <a:prstDash val="solid"/>
          </a:ln>
        </p:spPr>
        <p:txBody>
          <a:bodyPr/>
          <a:p/>
        </p:txBody>
      </p:sp>
      <p:sp>
        <p:nvSpPr>
          <p:cNvPr id="23" name="Text 21"/>
          <p:cNvSpPr txBox="1"/>
          <p:nvPr/>
        </p:nvSpPr>
        <p:spPr>
          <a:xfrm>
            <a:off x="6931152" y="4023360"/>
            <a:ext cx="4480560" cy="274320"/>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Is it recorded which data and settings were used?</a:t>
            </a:r>
            <a:endParaRPr lang="en-US" sz="1350" dirty="0"/>
          </a:p>
        </p:txBody>
      </p:sp>
      <p:sp>
        <p:nvSpPr>
          <p:cNvPr id="24" name="Text 22"/>
          <p:cNvSpPr txBox="1"/>
          <p:nvPr/>
        </p:nvSpPr>
        <p:spPr>
          <a:xfrm>
            <a:off x="6629400" y="4434840"/>
            <a:ext cx="4480560" cy="256032"/>
          </a:xfrm>
          <a:prstGeom prst="rect">
            <a:avLst/>
          </a:prstGeom>
          <a:noFill/>
          <a:ln/>
        </p:spPr>
        <p:txBody>
          <a:bodyPr wrap="square" lIns="0" tIns="0" rIns="0" bIns="0" rtlCol="0" anchor="ctr"/>
          <a:lstStyle/>
          <a:p>
            <a:pPr indent="0" marL="0">
              <a:buNone/>
            </a:pPr>
            <a:r>
              <a:rPr lang="en-US" sz="1300" b="1" dirty="0">
                <a:solidFill>
                  <a:srgbClr val="9B3720"/>
                </a:solidFill>
                <a:latin typeface="Calibri" pitchFamily="34" charset="0"/>
                <a:ea typeface="Calibri" pitchFamily="34" charset="-122"/>
                <a:cs typeface="Calibri" pitchFamily="34" charset="-120"/>
              </a:rPr>
              <a:t>Not spelling and spacing. A tool does that.</a:t>
            </a:r>
            <a:endParaRPr lang="en-US" sz="1300" dirty="0"/>
          </a:p>
        </p:txBody>
      </p:sp>
      <p:sp>
        <p:nvSpPr>
          <p:cNvPr id="25" name="Shape 23"/>
          <p:cNvSpPr/>
          <p:nvPr/>
        </p:nvSpPr>
        <p:spPr>
          <a:xfrm>
            <a:off x="731520" y="5029200"/>
            <a:ext cx="10698480" cy="0"/>
          </a:xfrm>
          <a:prstGeom prst="line">
            <a:avLst/>
          </a:prstGeom>
          <a:noFill/>
          <a:ln w="12700">
            <a:solidFill>
              <a:srgbClr val="CDD4DE"/>
            </a:solidFill>
            <a:prstDash val="solid"/>
          </a:ln>
        </p:spPr>
        <p:txBody>
          <a:bodyPr/>
          <a:p/>
        </p:txBody>
      </p:sp>
      <p:sp>
        <p:nvSpPr>
          <p:cNvPr id="26" name="Text 24"/>
          <p:cNvSpPr txBox="1"/>
          <p:nvPr/>
        </p:nvSpPr>
        <p:spPr>
          <a:xfrm>
            <a:off x="731520" y="5303520"/>
            <a:ext cx="5943600" cy="329184"/>
          </a:xfrm>
          <a:prstGeom prst="rect">
            <a:avLst/>
          </a:prstGeom>
          <a:noFill/>
          <a:ln/>
        </p:spPr>
        <p:txBody>
          <a:bodyPr wrap="square" lIns="0" tIns="0" rIns="0" bIns="0" rtlCol="0" anchor="ctr"/>
          <a:lstStyle/>
          <a:p>
            <a:pPr indent="0" marL="0">
              <a:buNone/>
            </a:pPr>
            <a:r>
              <a:rPr lang="en-US" sz="1700" b="1" dirty="0">
                <a:solidFill>
                  <a:srgbClr val="1F3B5C"/>
                </a:solidFill>
                <a:latin typeface="Calibri" pitchFamily="34" charset="0"/>
                <a:ea typeface="Calibri" pitchFamily="34" charset="-122"/>
                <a:cs typeface="Calibri" pitchFamily="34" charset="-120"/>
              </a:rPr>
              <a:t>A slow review is what sends people back to Drive.</a:t>
            </a:r>
            <a:endParaRPr lang="en-US" sz="1700" dirty="0"/>
          </a:p>
        </p:txBody>
      </p:sp>
      <p:sp>
        <p:nvSpPr>
          <p:cNvPr id="27" name="Text 25"/>
          <p:cNvSpPr txBox="1"/>
          <p:nvPr/>
        </p:nvSpPr>
        <p:spPr>
          <a:xfrm>
            <a:off x="731520" y="5715000"/>
            <a:ext cx="6858000" cy="457200"/>
          </a:xfrm>
          <a:prstGeom prst="rect">
            <a:avLst/>
          </a:prstGeom>
          <a:noFill/>
          <a:ln/>
        </p:spPr>
        <p:txBody>
          <a:bodyPr wrap="square" lIns="0" tIns="0" rIns="0" bIns="0" rtlCol="0" anchor="ctr"/>
          <a:lstStyle/>
          <a:p>
            <a:pPr indent="0" marL="0">
              <a:lnSpc>
                <a:spcPts val="1900"/>
              </a:lnSpc>
              <a:buNone/>
            </a:pPr>
            <a:r>
              <a:rPr lang="en-US" sz="1400" dirty="0">
                <a:solidFill>
                  <a:srgbClr val="6E7A8C"/>
                </a:solidFill>
                <a:latin typeface="Calibri" pitchFamily="34" charset="0"/>
                <a:ea typeface="Calibri" pitchFamily="34" charset="-122"/>
                <a:cs typeface="Calibri" pitchFamily="34" charset="-120"/>
              </a:rPr>
              <a:t>One working day. Say whether each comment must be fixed or is just a suggestion. Ask questions rather than give orders.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4</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Git refuses to guess</a:t>
            </a:r>
            <a:endParaRPr lang="en-US" sz="3300" dirty="0"/>
          </a:p>
        </p:txBody>
      </p:sp>
      <p:sp>
        <p:nvSpPr>
          <p:cNvPr id="4" name="Text 2"/>
          <p:cNvSpPr txBox="1"/>
          <p:nvPr/>
        </p:nvSpPr>
        <p:spPr>
          <a:xfrm>
            <a:off x="731520" y="1572768"/>
            <a:ext cx="10698480" cy="310896"/>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Two people editing one file usually merges fine. Git looks at the lines you changed, not the whole file.</a:t>
            </a:r>
            <a:endParaRPr lang="en-US" sz="1400" dirty="0"/>
          </a:p>
        </p:txBody>
      </p:sp>
      <p:sp>
        <p:nvSpPr>
          <p:cNvPr id="5" name="Shape 3"/>
          <p:cNvSpPr/>
          <p:nvPr/>
        </p:nvSpPr>
        <p:spPr>
          <a:xfrm>
            <a:off x="731520" y="2103120"/>
            <a:ext cx="5669280" cy="1920240"/>
          </a:xfrm>
          <a:prstGeom prst="rect">
            <a:avLst/>
          </a:prstGeom>
          <a:solidFill>
            <a:srgbClr val="FFFFFF"/>
          </a:solidFill>
          <a:ln w="9525">
            <a:solidFill>
              <a:srgbClr val="CDD4DE"/>
            </a:solidFill>
            <a:prstDash val="solid"/>
          </a:ln>
        </p:spPr>
        <p:txBody>
          <a:bodyPr/>
          <a:p/>
        </p:txBody>
      </p:sp>
      <p:sp>
        <p:nvSpPr>
          <p:cNvPr id="6" name="Text 4"/>
          <p:cNvSpPr txBox="1"/>
          <p:nvPr/>
        </p:nvSpPr>
        <p:spPr>
          <a:xfrm>
            <a:off x="1024128" y="2331720"/>
            <a:ext cx="5303520" cy="237744"/>
          </a:xfrm>
          <a:prstGeom prst="rect">
            <a:avLst/>
          </a:prstGeom>
          <a:noFill/>
          <a:ln/>
        </p:spPr>
        <p:txBody>
          <a:bodyPr wrap="square" lIns="0" tIns="0" rIns="0" bIns="0" rtlCol="0" anchor="ctr"/>
          <a:lstStyle/>
          <a:p>
            <a:pPr indent="0" marL="0">
              <a:buNone/>
            </a:pPr>
            <a:r>
              <a:rPr lang="en-US" sz="1200" b="1" dirty="0">
                <a:solidFill>
                  <a:srgbClr val="8A5E14"/>
                </a:solidFill>
                <a:latin typeface="Courier New" pitchFamily="34" charset="0"/>
                <a:ea typeface="Courier New" pitchFamily="34" charset="-122"/>
                <a:cs typeface="Courier New" pitchFamily="34" charset="-120"/>
              </a:rPr>
              <a:t>&lt;&lt;&lt;&lt;&lt;&lt;&lt; HEAD</a:t>
            </a:r>
            <a:endParaRPr lang="en-US" sz="1200" dirty="0"/>
          </a:p>
        </p:txBody>
      </p:sp>
      <p:sp>
        <p:nvSpPr>
          <p:cNvPr id="7" name="Text 5"/>
          <p:cNvSpPr txBox="1"/>
          <p:nvPr/>
        </p:nvSpPr>
        <p:spPr>
          <a:xfrm>
            <a:off x="1024128" y="2606040"/>
            <a:ext cx="5303520" cy="237744"/>
          </a:xfrm>
          <a:prstGeom prst="rect">
            <a:avLst/>
          </a:prstGeom>
          <a:noFill/>
          <a:ln/>
        </p:spPr>
        <p:txBody>
          <a:bodyPr wrap="square" lIns="0" tIns="0" rIns="0" bIns="0" rtlCol="0" anchor="ctr"/>
          <a:lstStyle/>
          <a:p>
            <a:pPr indent="0" marL="0">
              <a:buNone/>
            </a:pPr>
            <a:r>
              <a:rPr lang="en-US" sz="1200" dirty="0">
                <a:solidFill>
                  <a:srgbClr val="121821"/>
                </a:solidFill>
                <a:latin typeface="Courier New" pitchFamily="34" charset="0"/>
                <a:ea typeface="Courier New" pitchFamily="34" charset="-122"/>
                <a:cs typeface="Courier New" pitchFamily="34" charset="-120"/>
              </a:rPr>
              <a:t>    quiet_days = 60</a:t>
            </a:r>
            <a:endParaRPr lang="en-US" sz="1200" dirty="0"/>
          </a:p>
        </p:txBody>
      </p:sp>
      <p:sp>
        <p:nvSpPr>
          <p:cNvPr id="8" name="Text 6"/>
          <p:cNvSpPr txBox="1"/>
          <p:nvPr/>
        </p:nvSpPr>
        <p:spPr>
          <a:xfrm>
            <a:off x="1024128" y="2880360"/>
            <a:ext cx="5303520" cy="237744"/>
          </a:xfrm>
          <a:prstGeom prst="rect">
            <a:avLst/>
          </a:prstGeom>
          <a:noFill/>
          <a:ln/>
        </p:spPr>
        <p:txBody>
          <a:bodyPr wrap="square" lIns="0" tIns="0" rIns="0" bIns="0" rtlCol="0" anchor="ctr"/>
          <a:lstStyle/>
          <a:p>
            <a:pPr indent="0" marL="0">
              <a:buNone/>
            </a:pPr>
            <a:r>
              <a:rPr lang="en-US" sz="1200" b="1" dirty="0">
                <a:solidFill>
                  <a:srgbClr val="6E7A8C"/>
                </a:solidFill>
                <a:latin typeface="Courier New" pitchFamily="34" charset="0"/>
                <a:ea typeface="Courier New" pitchFamily="34" charset="-122"/>
                <a:cs typeface="Courier New" pitchFamily="34" charset="-120"/>
              </a:rPr>
              <a:t>=======</a:t>
            </a:r>
            <a:endParaRPr lang="en-US" sz="1200" dirty="0"/>
          </a:p>
        </p:txBody>
      </p:sp>
      <p:sp>
        <p:nvSpPr>
          <p:cNvPr id="9" name="Text 7"/>
          <p:cNvSpPr txBox="1"/>
          <p:nvPr/>
        </p:nvSpPr>
        <p:spPr>
          <a:xfrm>
            <a:off x="1024128" y="3154680"/>
            <a:ext cx="5303520" cy="237744"/>
          </a:xfrm>
          <a:prstGeom prst="rect">
            <a:avLst/>
          </a:prstGeom>
          <a:noFill/>
          <a:ln/>
        </p:spPr>
        <p:txBody>
          <a:bodyPr wrap="square" lIns="0" tIns="0" rIns="0" bIns="0" rtlCol="0" anchor="ctr"/>
          <a:lstStyle/>
          <a:p>
            <a:pPr indent="0" marL="0">
              <a:buNone/>
            </a:pPr>
            <a:r>
              <a:rPr lang="en-US" sz="1200" dirty="0">
                <a:solidFill>
                  <a:srgbClr val="121821"/>
                </a:solidFill>
                <a:latin typeface="Courier New" pitchFamily="34" charset="0"/>
                <a:ea typeface="Courier New" pitchFamily="34" charset="-122"/>
                <a:cs typeface="Courier New" pitchFamily="34" charset="-120"/>
              </a:rPr>
              <a:t>    df = drop_missing_age(df)</a:t>
            </a:r>
            <a:endParaRPr lang="en-US" sz="1200" dirty="0"/>
          </a:p>
        </p:txBody>
      </p:sp>
      <p:sp>
        <p:nvSpPr>
          <p:cNvPr id="10" name="Text 8"/>
          <p:cNvSpPr txBox="1"/>
          <p:nvPr/>
        </p:nvSpPr>
        <p:spPr>
          <a:xfrm>
            <a:off x="1024128" y="3429000"/>
            <a:ext cx="5303520" cy="237744"/>
          </a:xfrm>
          <a:prstGeom prst="rect">
            <a:avLst/>
          </a:prstGeom>
          <a:noFill/>
          <a:ln/>
        </p:spPr>
        <p:txBody>
          <a:bodyPr wrap="square" lIns="0" tIns="0" rIns="0" bIns="0" rtlCol="0" anchor="ctr"/>
          <a:lstStyle/>
          <a:p>
            <a:pPr indent="0" marL="0">
              <a:buNone/>
            </a:pPr>
            <a:r>
              <a:rPr lang="en-US" sz="1200" dirty="0">
                <a:solidFill>
                  <a:srgbClr val="121821"/>
                </a:solidFill>
                <a:latin typeface="Courier New" pitchFamily="34" charset="0"/>
                <a:ea typeface="Courier New" pitchFamily="34" charset="-122"/>
                <a:cs typeface="Courier New" pitchFamily="34" charset="-120"/>
              </a:rPr>
              <a:t>    quiet_days = 30</a:t>
            </a:r>
            <a:endParaRPr lang="en-US" sz="1200" dirty="0"/>
          </a:p>
        </p:txBody>
      </p:sp>
      <p:sp>
        <p:nvSpPr>
          <p:cNvPr id="11" name="Text 9"/>
          <p:cNvSpPr txBox="1"/>
          <p:nvPr/>
        </p:nvSpPr>
        <p:spPr>
          <a:xfrm>
            <a:off x="1024128" y="3703320"/>
            <a:ext cx="5303520" cy="237744"/>
          </a:xfrm>
          <a:prstGeom prst="rect">
            <a:avLst/>
          </a:prstGeom>
          <a:noFill/>
          <a:ln/>
        </p:spPr>
        <p:txBody>
          <a:bodyPr wrap="square" lIns="0" tIns="0" rIns="0" bIns="0" rtlCol="0" anchor="ctr"/>
          <a:lstStyle/>
          <a:p>
            <a:pPr indent="0" marL="0">
              <a:buNone/>
            </a:pPr>
            <a:r>
              <a:rPr lang="en-US" sz="1200" b="1" dirty="0">
                <a:solidFill>
                  <a:srgbClr val="1F3B5C"/>
                </a:solidFill>
                <a:latin typeface="Courier New" pitchFamily="34" charset="0"/>
                <a:ea typeface="Courier New" pitchFamily="34" charset="-122"/>
                <a:cs typeface="Courier New" pitchFamily="34" charset="-120"/>
              </a:rPr>
              <a:t>&gt;&gt;&gt;&gt;&gt;&gt;&gt; main</a:t>
            </a:r>
            <a:endParaRPr lang="en-US" sz="1200" dirty="0"/>
          </a:p>
        </p:txBody>
      </p:sp>
      <p:sp>
        <p:nvSpPr>
          <p:cNvPr id="12" name="Shape 10"/>
          <p:cNvSpPr/>
          <p:nvPr/>
        </p:nvSpPr>
        <p:spPr>
          <a:xfrm>
            <a:off x="6858000" y="2103120"/>
            <a:ext cx="4572000" cy="1920240"/>
          </a:xfrm>
          <a:prstGeom prst="rect">
            <a:avLst/>
          </a:prstGeom>
          <a:solidFill>
            <a:srgbClr val="F7E9E4"/>
          </a:solidFill>
          <a:ln w="9525">
            <a:solidFill>
              <a:srgbClr val="E4CAC2"/>
            </a:solidFill>
            <a:prstDash val="solid"/>
          </a:ln>
        </p:spPr>
        <p:txBody>
          <a:bodyPr/>
          <a:p/>
        </p:txBody>
      </p:sp>
      <p:sp>
        <p:nvSpPr>
          <p:cNvPr id="13" name="Text 11"/>
          <p:cNvSpPr txBox="1"/>
          <p:nvPr/>
        </p:nvSpPr>
        <p:spPr>
          <a:xfrm>
            <a:off x="7132320" y="2331720"/>
            <a:ext cx="4023360" cy="548640"/>
          </a:xfrm>
          <a:prstGeom prst="rect">
            <a:avLst/>
          </a:prstGeom>
          <a:noFill/>
          <a:ln/>
        </p:spPr>
        <p:txBody>
          <a:bodyPr wrap="square" lIns="0" tIns="0" rIns="0" bIns="0" rtlCol="0" anchor="ctr"/>
          <a:lstStyle/>
          <a:p>
            <a:pPr indent="0" marL="0">
              <a:lnSpc>
                <a:spcPts val="2300"/>
              </a:lnSpc>
              <a:buNone/>
            </a:pPr>
            <a:r>
              <a:rPr lang="en-US" sz="1700" b="1" dirty="0">
                <a:solidFill>
                  <a:srgbClr val="9B3720"/>
                </a:solidFill>
                <a:latin typeface="Arial" pitchFamily="34" charset="0"/>
                <a:ea typeface="Arial" pitchFamily="34" charset="-122"/>
                <a:cs typeface="Arial" pitchFamily="34" charset="-120"/>
              </a:rPr>
              <a:t>A clean merge is not</a:t>
            </a:r>
            <a:endParaRPr lang="en-US" sz="1700" dirty="0"/>
          </a:p>
          <a:p>
            <a:pPr indent="0" marL="0">
              <a:lnSpc>
                <a:spcPts val="2300"/>
              </a:lnSpc>
              <a:buNone/>
            </a:pPr>
            <a:r>
              <a:rPr lang="en-US" sz="1700" b="1" dirty="0">
                <a:solidFill>
                  <a:srgbClr val="9B3720"/>
                </a:solidFill>
                <a:latin typeface="Arial" pitchFamily="34" charset="0"/>
                <a:ea typeface="Arial" pitchFamily="34" charset="-122"/>
                <a:cs typeface="Arial" pitchFamily="34" charset="-120"/>
              </a:rPr>
              <a:t>a correct merge</a:t>
            </a:r>
            <a:endParaRPr lang="en-US" sz="1700" dirty="0"/>
          </a:p>
        </p:txBody>
      </p:sp>
      <p:sp>
        <p:nvSpPr>
          <p:cNvPr id="14" name="Text 12"/>
          <p:cNvSpPr txBox="1"/>
          <p:nvPr/>
        </p:nvSpPr>
        <p:spPr>
          <a:xfrm>
            <a:off x="7132320" y="3017520"/>
            <a:ext cx="4023360" cy="868680"/>
          </a:xfrm>
          <a:prstGeom prst="rect">
            <a:avLst/>
          </a:prstGeom>
          <a:noFill/>
          <a:ln/>
        </p:spPr>
        <p:txBody>
          <a:bodyPr wrap="square" lIns="0" tIns="0" rIns="0" bIns="0" rtlCol="0" anchor="ctr"/>
          <a:lstStyle/>
          <a:p>
            <a:pPr indent="0" marL="0">
              <a:lnSpc>
                <a:spcPts val="1800"/>
              </a:lnSpc>
              <a:buNone/>
            </a:pPr>
            <a:r>
              <a:rPr lang="en-US" sz="1350" dirty="0">
                <a:solidFill>
                  <a:srgbClr val="121821"/>
                </a:solidFill>
                <a:latin typeface="Calibri" pitchFamily="34" charset="0"/>
                <a:ea typeface="Calibri" pitchFamily="34" charset="-122"/>
                <a:cs typeface="Calibri" pitchFamily="34" charset="-120"/>
              </a:rPr>
              <a:t>Sam renames a column. You use the old name. Different files, so Git merges it happily and the pipeline breaks.</a:t>
            </a:r>
            <a:endParaRPr lang="en-US" sz="1350" dirty="0"/>
          </a:p>
        </p:txBody>
      </p:sp>
      <p:sp>
        <p:nvSpPr>
          <p:cNvPr id="15" name="Text 13"/>
          <p:cNvSpPr txBox="1"/>
          <p:nvPr/>
        </p:nvSpPr>
        <p:spPr>
          <a:xfrm>
            <a:off x="731520" y="4251960"/>
            <a:ext cx="9875520" cy="329184"/>
          </a:xfrm>
          <a:prstGeom prst="rect">
            <a:avLst/>
          </a:prstGeom>
          <a:noFill/>
          <a:ln/>
        </p:spPr>
        <p:txBody>
          <a:bodyPr wrap="square" lIns="0" tIns="0" rIns="0" bIns="0" rtlCol="0" anchor="ctr"/>
          <a:lstStyle/>
          <a:p>
            <a:pPr indent="0" marL="0">
              <a:buNone/>
            </a:pPr>
            <a:r>
              <a:rPr lang="en-US" sz="1500" dirty="0">
                <a:solidFill>
                  <a:srgbClr val="121821"/>
                </a:solidFill>
                <a:latin typeface="Calibri" pitchFamily="34" charset="0"/>
                <a:ea typeface="Calibri" pitchFamily="34" charset="-122"/>
                <a:cs typeface="Calibri" pitchFamily="34" charset="-120"/>
              </a:rPr>
              <a:t>You resolve it by working out what both people wanted. Usually you want both changes.</a:t>
            </a:r>
            <a:endParaRPr lang="en-US" sz="1500" dirty="0"/>
          </a:p>
        </p:txBody>
      </p:sp>
      <p:sp>
        <p:nvSpPr>
          <p:cNvPr id="16" name="Shape 14"/>
          <p:cNvSpPr/>
          <p:nvPr/>
        </p:nvSpPr>
        <p:spPr>
          <a:xfrm>
            <a:off x="731520" y="4846320"/>
            <a:ext cx="10698480" cy="0"/>
          </a:xfrm>
          <a:prstGeom prst="line">
            <a:avLst/>
          </a:prstGeom>
          <a:noFill/>
          <a:ln w="12700">
            <a:solidFill>
              <a:srgbClr val="CDD4DE"/>
            </a:solidFill>
            <a:prstDash val="solid"/>
          </a:ln>
        </p:spPr>
        <p:txBody>
          <a:bodyPr/>
          <a:p/>
        </p:txBody>
      </p:sp>
      <p:sp>
        <p:nvSpPr>
          <p:cNvPr id="17" name="Text 15"/>
          <p:cNvSpPr txBox="1"/>
          <p:nvPr/>
        </p:nvSpPr>
        <p:spPr>
          <a:xfrm>
            <a:off x="731520" y="5120640"/>
            <a:ext cx="4572000" cy="219456"/>
          </a:xfrm>
          <a:prstGeom prst="rect">
            <a:avLst/>
          </a:prstGeom>
          <a:noFill/>
          <a:ln/>
        </p:spPr>
        <p:txBody>
          <a:bodyPr wrap="square" lIns="0" tIns="0" rIns="0" bIns="0" rtlCol="0" anchor="ctr"/>
          <a:lstStyle/>
          <a:p>
            <a:pPr indent="0" marL="0">
              <a:buNone/>
            </a:pPr>
            <a:r>
              <a:rPr lang="en-US" sz="1000" b="1" spc="170" kern="0" dirty="0">
                <a:solidFill>
                  <a:srgbClr val="6E7A8C"/>
                </a:solidFill>
                <a:latin typeface="Arial" pitchFamily="34" charset="0"/>
                <a:ea typeface="Arial" pitchFamily="34" charset="-122"/>
                <a:cs typeface="Arial" pitchFamily="34" charset="-120"/>
              </a:rPr>
              <a:t>KEEPING THEM RARE</a:t>
            </a:r>
            <a:endParaRPr lang="en-US" sz="1000" dirty="0"/>
          </a:p>
        </p:txBody>
      </p:sp>
      <p:sp>
        <p:nvSpPr>
          <p:cNvPr id="18" name="Shape 16"/>
          <p:cNvSpPr/>
          <p:nvPr/>
        </p:nvSpPr>
        <p:spPr>
          <a:xfrm>
            <a:off x="731520" y="5577840"/>
            <a:ext cx="91440" cy="91440"/>
          </a:xfrm>
          <a:prstGeom prst="ellipse">
            <a:avLst/>
          </a:prstGeom>
          <a:solidFill>
            <a:srgbClr val="8A5E14"/>
          </a:solidFill>
          <a:ln w="12700">
            <a:solidFill>
              <a:srgbClr val="8A5E14"/>
            </a:solidFill>
            <a:prstDash val="solid"/>
          </a:ln>
        </p:spPr>
        <p:txBody>
          <a:bodyPr/>
          <a:p/>
        </p:txBody>
      </p:sp>
      <p:sp>
        <p:nvSpPr>
          <p:cNvPr id="19" name="Text 17"/>
          <p:cNvSpPr txBox="1"/>
          <p:nvPr/>
        </p:nvSpPr>
        <p:spPr>
          <a:xfrm>
            <a:off x="950976" y="5486400"/>
            <a:ext cx="1920240" cy="457200"/>
          </a:xfrm>
          <a:prstGeom prst="rect">
            <a:avLst/>
          </a:prstGeom>
          <a:noFill/>
          <a:ln/>
        </p:spPr>
        <p:txBody>
          <a:bodyPr wrap="square" lIns="0" tIns="0" rIns="0" bIns="0" rtlCol="0" anchor="ctr"/>
          <a:lstStyle/>
          <a:p>
            <a:pPr indent="0" marL="0">
              <a:lnSpc>
                <a:spcPts val="1600"/>
              </a:lnSpc>
              <a:buNone/>
            </a:pPr>
            <a:r>
              <a:rPr lang="en-US" sz="1300" dirty="0">
                <a:solidFill>
                  <a:srgbClr val="121821"/>
                </a:solidFill>
                <a:latin typeface="Calibri" pitchFamily="34" charset="0"/>
                <a:ea typeface="Calibri" pitchFamily="34" charset="-122"/>
                <a:cs typeface="Calibri" pitchFamily="34" charset="-120"/>
              </a:rPr>
              <a:t>Small branches</a:t>
            </a:r>
            <a:endParaRPr lang="en-US" sz="1300" dirty="0"/>
          </a:p>
        </p:txBody>
      </p:sp>
      <p:sp>
        <p:nvSpPr>
          <p:cNvPr id="20" name="Shape 18"/>
          <p:cNvSpPr/>
          <p:nvPr/>
        </p:nvSpPr>
        <p:spPr>
          <a:xfrm>
            <a:off x="2871216" y="5577840"/>
            <a:ext cx="91440" cy="91440"/>
          </a:xfrm>
          <a:prstGeom prst="ellipse">
            <a:avLst/>
          </a:prstGeom>
          <a:solidFill>
            <a:srgbClr val="8A5E14"/>
          </a:solidFill>
          <a:ln w="12700">
            <a:solidFill>
              <a:srgbClr val="8A5E14"/>
            </a:solidFill>
            <a:prstDash val="solid"/>
          </a:ln>
        </p:spPr>
        <p:txBody>
          <a:bodyPr/>
          <a:p/>
        </p:txBody>
      </p:sp>
      <p:sp>
        <p:nvSpPr>
          <p:cNvPr id="21" name="Text 19"/>
          <p:cNvSpPr txBox="1"/>
          <p:nvPr/>
        </p:nvSpPr>
        <p:spPr>
          <a:xfrm>
            <a:off x="3090672" y="5486400"/>
            <a:ext cx="1920240" cy="457200"/>
          </a:xfrm>
          <a:prstGeom prst="rect">
            <a:avLst/>
          </a:prstGeom>
          <a:noFill/>
          <a:ln/>
        </p:spPr>
        <p:txBody>
          <a:bodyPr wrap="square" lIns="0" tIns="0" rIns="0" bIns="0" rtlCol="0" anchor="ctr"/>
          <a:lstStyle/>
          <a:p>
            <a:pPr indent="0" marL="0">
              <a:lnSpc>
                <a:spcPts val="1600"/>
              </a:lnSpc>
              <a:buNone/>
            </a:pPr>
            <a:r>
              <a:rPr lang="en-US" sz="1300" dirty="0">
                <a:solidFill>
                  <a:srgbClr val="121821"/>
                </a:solidFill>
                <a:latin typeface="Calibri" pitchFamily="34" charset="0"/>
                <a:ea typeface="Calibri" pitchFamily="34" charset="-122"/>
                <a:cs typeface="Calibri" pitchFamily="34" charset="-120"/>
              </a:rPr>
              <a:t>Pull in other people’s work daily</a:t>
            </a:r>
            <a:endParaRPr lang="en-US" sz="1300" dirty="0"/>
          </a:p>
        </p:txBody>
      </p:sp>
      <p:sp>
        <p:nvSpPr>
          <p:cNvPr id="22" name="Shape 20"/>
          <p:cNvSpPr/>
          <p:nvPr/>
        </p:nvSpPr>
        <p:spPr>
          <a:xfrm>
            <a:off x="5010912" y="5577840"/>
            <a:ext cx="91440" cy="91440"/>
          </a:xfrm>
          <a:prstGeom prst="ellipse">
            <a:avLst/>
          </a:prstGeom>
          <a:solidFill>
            <a:srgbClr val="8A5E14"/>
          </a:solidFill>
          <a:ln w="12700">
            <a:solidFill>
              <a:srgbClr val="8A5E14"/>
            </a:solidFill>
            <a:prstDash val="solid"/>
          </a:ln>
        </p:spPr>
        <p:txBody>
          <a:bodyPr/>
          <a:p/>
        </p:txBody>
      </p:sp>
      <p:sp>
        <p:nvSpPr>
          <p:cNvPr id="23" name="Text 21"/>
          <p:cNvSpPr txBox="1"/>
          <p:nvPr/>
        </p:nvSpPr>
        <p:spPr>
          <a:xfrm>
            <a:off x="5230368" y="5486400"/>
            <a:ext cx="1920240" cy="457200"/>
          </a:xfrm>
          <a:prstGeom prst="rect">
            <a:avLst/>
          </a:prstGeom>
          <a:noFill/>
          <a:ln/>
        </p:spPr>
        <p:txBody>
          <a:bodyPr wrap="square" lIns="0" tIns="0" rIns="0" bIns="0" rtlCol="0" anchor="ctr"/>
          <a:lstStyle/>
          <a:p>
            <a:pPr indent="0" marL="0">
              <a:lnSpc>
                <a:spcPts val="1600"/>
              </a:lnSpc>
              <a:buNone/>
            </a:pPr>
            <a:r>
              <a:rPr lang="en-US" sz="1300" dirty="0">
                <a:solidFill>
                  <a:srgbClr val="121821"/>
                </a:solidFill>
                <a:latin typeface="Calibri" pitchFamily="34" charset="0"/>
                <a:ea typeface="Calibri" pitchFamily="34" charset="-122"/>
                <a:cs typeface="Calibri" pitchFamily="34" charset="-120"/>
              </a:rPr>
              <a:t>Format code automatically</a:t>
            </a:r>
            <a:endParaRPr lang="en-US" sz="1300" dirty="0"/>
          </a:p>
        </p:txBody>
      </p:sp>
      <p:sp>
        <p:nvSpPr>
          <p:cNvPr id="24" name="Shape 22"/>
          <p:cNvSpPr/>
          <p:nvPr/>
        </p:nvSpPr>
        <p:spPr>
          <a:xfrm>
            <a:off x="7150608" y="5577840"/>
            <a:ext cx="91440" cy="91440"/>
          </a:xfrm>
          <a:prstGeom prst="ellipse">
            <a:avLst/>
          </a:prstGeom>
          <a:solidFill>
            <a:srgbClr val="8A5E14"/>
          </a:solidFill>
          <a:ln w="12700">
            <a:solidFill>
              <a:srgbClr val="8A5E14"/>
            </a:solidFill>
            <a:prstDash val="solid"/>
          </a:ln>
        </p:spPr>
        <p:txBody>
          <a:bodyPr/>
          <a:p/>
        </p:txBody>
      </p:sp>
      <p:sp>
        <p:nvSpPr>
          <p:cNvPr id="25" name="Text 23"/>
          <p:cNvSpPr txBox="1"/>
          <p:nvPr/>
        </p:nvSpPr>
        <p:spPr>
          <a:xfrm>
            <a:off x="7370064" y="5486400"/>
            <a:ext cx="1920240" cy="457200"/>
          </a:xfrm>
          <a:prstGeom prst="rect">
            <a:avLst/>
          </a:prstGeom>
          <a:noFill/>
          <a:ln/>
        </p:spPr>
        <p:txBody>
          <a:bodyPr wrap="square" lIns="0" tIns="0" rIns="0" bIns="0" rtlCol="0" anchor="ctr"/>
          <a:lstStyle/>
          <a:p>
            <a:pPr indent="0" marL="0">
              <a:lnSpc>
                <a:spcPts val="1600"/>
              </a:lnSpc>
              <a:buNone/>
            </a:pPr>
            <a:r>
              <a:rPr lang="en-US" sz="1300" dirty="0">
                <a:solidFill>
                  <a:srgbClr val="121821"/>
                </a:solidFill>
                <a:latin typeface="Calibri" pitchFamily="34" charset="0"/>
                <a:ea typeface="Calibri" pitchFamily="34" charset="-122"/>
                <a:cs typeface="Calibri" pitchFamily="34" charset="-120"/>
              </a:rPr>
              <a:t>Split the work across files</a:t>
            </a:r>
            <a:endParaRPr lang="en-US" sz="1300" dirty="0"/>
          </a:p>
        </p:txBody>
      </p:sp>
      <p:sp>
        <p:nvSpPr>
          <p:cNvPr id="26" name="Shape 24"/>
          <p:cNvSpPr/>
          <p:nvPr/>
        </p:nvSpPr>
        <p:spPr>
          <a:xfrm>
            <a:off x="9290304" y="5577840"/>
            <a:ext cx="91440" cy="91440"/>
          </a:xfrm>
          <a:prstGeom prst="ellipse">
            <a:avLst/>
          </a:prstGeom>
          <a:solidFill>
            <a:srgbClr val="8A5E14"/>
          </a:solidFill>
          <a:ln w="12700">
            <a:solidFill>
              <a:srgbClr val="8A5E14"/>
            </a:solidFill>
            <a:prstDash val="solid"/>
          </a:ln>
        </p:spPr>
        <p:txBody>
          <a:bodyPr/>
          <a:p/>
        </p:txBody>
      </p:sp>
      <p:sp>
        <p:nvSpPr>
          <p:cNvPr id="27" name="Text 25"/>
          <p:cNvSpPr txBox="1"/>
          <p:nvPr/>
        </p:nvSpPr>
        <p:spPr>
          <a:xfrm>
            <a:off x="9509760" y="5486400"/>
            <a:ext cx="1920240" cy="457200"/>
          </a:xfrm>
          <a:prstGeom prst="rect">
            <a:avLst/>
          </a:prstGeom>
          <a:noFill/>
          <a:ln/>
        </p:spPr>
        <p:txBody>
          <a:bodyPr wrap="square" lIns="0" tIns="0" rIns="0" bIns="0" rtlCol="0" anchor="ctr"/>
          <a:lstStyle/>
          <a:p>
            <a:pPr indent="0" marL="0">
              <a:lnSpc>
                <a:spcPts val="1600"/>
              </a:lnSpc>
              <a:buNone/>
            </a:pPr>
            <a:r>
              <a:rPr lang="en-US" sz="1300" dirty="0">
                <a:solidFill>
                  <a:srgbClr val="121821"/>
                </a:solidFill>
                <a:latin typeface="Calibri" pitchFamily="34" charset="0"/>
                <a:ea typeface="Calibri" pitchFamily="34" charset="-122"/>
                <a:cs typeface="Calibri" pitchFamily="34" charset="-120"/>
              </a:rPr>
              <a:t>Clear notebook output before saving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5</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Five checks, cheapest first</a:t>
            </a:r>
            <a:endParaRPr lang="en-US" sz="3300" dirty="0"/>
          </a:p>
        </p:txBody>
      </p:sp>
      <p:sp>
        <p:nvSpPr>
          <p:cNvPr id="4" name="Text 2"/>
          <p:cNvSpPr txBox="1"/>
          <p:nvPr/>
        </p:nvSpPr>
        <p:spPr>
          <a:xfrm>
            <a:off x="731520" y="1572768"/>
            <a:ext cx="10698480" cy="310896"/>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Start with the first two. Add the rest by week four.</a:t>
            </a:r>
            <a:endParaRPr lang="en-US" sz="1400" dirty="0"/>
          </a:p>
        </p:txBody>
      </p:sp>
      <p:sp>
        <p:nvSpPr>
          <p:cNvPr id="5" name="Shape 3"/>
          <p:cNvSpPr/>
          <p:nvPr/>
        </p:nvSpPr>
        <p:spPr>
          <a:xfrm>
            <a:off x="731520" y="2148840"/>
            <a:ext cx="10698480" cy="640080"/>
          </a:xfrm>
          <a:prstGeom prst="rect">
            <a:avLst/>
          </a:prstGeom>
          <a:solidFill>
            <a:srgbClr val="FFFFFF"/>
          </a:solidFill>
          <a:ln w="9525">
            <a:solidFill>
              <a:srgbClr val="CDD4DE"/>
            </a:solidFill>
            <a:prstDash val="solid"/>
          </a:ln>
        </p:spPr>
        <p:txBody>
          <a:bodyPr/>
          <a:p/>
        </p:txBody>
      </p:sp>
      <p:sp>
        <p:nvSpPr>
          <p:cNvPr id="6" name="Shape 4"/>
          <p:cNvSpPr/>
          <p:nvPr/>
        </p:nvSpPr>
        <p:spPr>
          <a:xfrm>
            <a:off x="969264" y="2322576"/>
            <a:ext cx="292608" cy="292608"/>
          </a:xfrm>
          <a:prstGeom prst="ellipse">
            <a:avLst/>
          </a:prstGeom>
          <a:solidFill>
            <a:srgbClr val="1F3B5C"/>
          </a:solidFill>
          <a:ln w="12700">
            <a:solidFill>
              <a:srgbClr val="1F3B5C"/>
            </a:solidFill>
            <a:prstDash val="solid"/>
          </a:ln>
        </p:spPr>
        <p:txBody>
          <a:bodyPr/>
          <a:p/>
        </p:txBody>
      </p:sp>
      <p:sp>
        <p:nvSpPr>
          <p:cNvPr id="7" name="Text 5"/>
          <p:cNvSpPr txBox="1"/>
          <p:nvPr/>
        </p:nvSpPr>
        <p:spPr>
          <a:xfrm>
            <a:off x="969264" y="2359152"/>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463040" y="2331720"/>
            <a:ext cx="310896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Formatting and passwords</a:t>
            </a:r>
            <a:endParaRPr lang="en-US" sz="1500" dirty="0"/>
          </a:p>
        </p:txBody>
      </p:sp>
      <p:sp>
        <p:nvSpPr>
          <p:cNvPr id="9" name="Text 7"/>
          <p:cNvSpPr txBox="1"/>
          <p:nvPr/>
        </p:nvSpPr>
        <p:spPr>
          <a:xfrm>
            <a:off x="4937760" y="2350008"/>
            <a:ext cx="5303520" cy="27432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A password saved by accident</a:t>
            </a:r>
            <a:endParaRPr lang="en-US" sz="1400" dirty="0"/>
          </a:p>
        </p:txBody>
      </p:sp>
      <p:sp>
        <p:nvSpPr>
          <p:cNvPr id="10" name="Text 8"/>
          <p:cNvSpPr txBox="1"/>
          <p:nvPr/>
        </p:nvSpPr>
        <p:spPr>
          <a:xfrm>
            <a:off x="10515600" y="2359152"/>
            <a:ext cx="822960" cy="237744"/>
          </a:xfrm>
          <a:prstGeom prst="rect">
            <a:avLst/>
          </a:prstGeom>
          <a:noFill/>
          <a:ln/>
        </p:spPr>
        <p:txBody>
          <a:bodyPr wrap="square" lIns="0" tIns="0" rIns="0" bIns="0" rtlCol="0" anchor="ctr"/>
          <a:lstStyle/>
          <a:p>
            <a:pPr algn="r" indent="0" marL="0">
              <a:buNone/>
            </a:pPr>
            <a:r>
              <a:rPr lang="en-US" sz="1250" b="1" dirty="0">
                <a:solidFill>
                  <a:srgbClr val="8A5E14"/>
                </a:solidFill>
                <a:latin typeface="Courier New" pitchFamily="34" charset="0"/>
                <a:ea typeface="Courier New" pitchFamily="34" charset="-122"/>
                <a:cs typeface="Courier New" pitchFamily="34" charset="-120"/>
              </a:rPr>
              <a:t>10s</a:t>
            </a:r>
            <a:endParaRPr lang="en-US" sz="1250" dirty="0"/>
          </a:p>
        </p:txBody>
      </p:sp>
      <p:sp>
        <p:nvSpPr>
          <p:cNvPr id="11" name="Shape 9"/>
          <p:cNvSpPr/>
          <p:nvPr/>
        </p:nvSpPr>
        <p:spPr>
          <a:xfrm>
            <a:off x="731520" y="2898648"/>
            <a:ext cx="10698480" cy="640080"/>
          </a:xfrm>
          <a:prstGeom prst="rect">
            <a:avLst/>
          </a:prstGeom>
          <a:solidFill>
            <a:srgbClr val="FFFFFF"/>
          </a:solidFill>
          <a:ln w="9525">
            <a:solidFill>
              <a:srgbClr val="CDD4DE"/>
            </a:solidFill>
            <a:prstDash val="solid"/>
          </a:ln>
        </p:spPr>
        <p:txBody>
          <a:bodyPr/>
          <a:p/>
        </p:txBody>
      </p:sp>
      <p:sp>
        <p:nvSpPr>
          <p:cNvPr id="12" name="Shape 10"/>
          <p:cNvSpPr/>
          <p:nvPr/>
        </p:nvSpPr>
        <p:spPr>
          <a:xfrm>
            <a:off x="969264" y="3072384"/>
            <a:ext cx="292608" cy="292608"/>
          </a:xfrm>
          <a:prstGeom prst="ellipse">
            <a:avLst/>
          </a:prstGeom>
          <a:solidFill>
            <a:srgbClr val="1F3B5C"/>
          </a:solidFill>
          <a:ln w="12700">
            <a:solidFill>
              <a:srgbClr val="1F3B5C"/>
            </a:solidFill>
            <a:prstDash val="solid"/>
          </a:ln>
        </p:spPr>
        <p:txBody>
          <a:bodyPr/>
          <a:p/>
        </p:txBody>
      </p:sp>
      <p:sp>
        <p:nvSpPr>
          <p:cNvPr id="13" name="Text 11"/>
          <p:cNvSpPr txBox="1"/>
          <p:nvPr/>
        </p:nvSpPr>
        <p:spPr>
          <a:xfrm>
            <a:off x="969264" y="3108960"/>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1463040" y="3081528"/>
            <a:ext cx="310896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Tests</a:t>
            </a:r>
            <a:endParaRPr lang="en-US" sz="1500" dirty="0"/>
          </a:p>
        </p:txBody>
      </p:sp>
      <p:sp>
        <p:nvSpPr>
          <p:cNvPr id="15" name="Text 13"/>
          <p:cNvSpPr txBox="1"/>
          <p:nvPr/>
        </p:nvSpPr>
        <p:spPr>
          <a:xfrm>
            <a:off x="4937760" y="3099816"/>
            <a:ext cx="5303520" cy="27432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Counting a customer twice</a:t>
            </a:r>
            <a:endParaRPr lang="en-US" sz="1400" dirty="0"/>
          </a:p>
        </p:txBody>
      </p:sp>
      <p:sp>
        <p:nvSpPr>
          <p:cNvPr id="16" name="Text 14"/>
          <p:cNvSpPr txBox="1"/>
          <p:nvPr/>
        </p:nvSpPr>
        <p:spPr>
          <a:xfrm>
            <a:off x="10515600" y="3108960"/>
            <a:ext cx="822960" cy="237744"/>
          </a:xfrm>
          <a:prstGeom prst="rect">
            <a:avLst/>
          </a:prstGeom>
          <a:noFill/>
          <a:ln/>
        </p:spPr>
        <p:txBody>
          <a:bodyPr wrap="square" lIns="0" tIns="0" rIns="0" bIns="0" rtlCol="0" anchor="ctr"/>
          <a:lstStyle/>
          <a:p>
            <a:pPr algn="r" indent="0" marL="0">
              <a:buNone/>
            </a:pPr>
            <a:r>
              <a:rPr lang="en-US" sz="1250" b="1" dirty="0">
                <a:solidFill>
                  <a:srgbClr val="8A5E14"/>
                </a:solidFill>
                <a:latin typeface="Courier New" pitchFamily="34" charset="0"/>
                <a:ea typeface="Courier New" pitchFamily="34" charset="-122"/>
                <a:cs typeface="Courier New" pitchFamily="34" charset="-120"/>
              </a:rPr>
              <a:t>1 min</a:t>
            </a:r>
            <a:endParaRPr lang="en-US" sz="1250" dirty="0"/>
          </a:p>
        </p:txBody>
      </p:sp>
      <p:sp>
        <p:nvSpPr>
          <p:cNvPr id="17" name="Shape 15"/>
          <p:cNvSpPr/>
          <p:nvPr/>
        </p:nvSpPr>
        <p:spPr>
          <a:xfrm>
            <a:off x="731520" y="3648456"/>
            <a:ext cx="10698480" cy="640080"/>
          </a:xfrm>
          <a:prstGeom prst="rect">
            <a:avLst/>
          </a:prstGeom>
          <a:solidFill>
            <a:srgbClr val="FFFFFF"/>
          </a:solidFill>
          <a:ln w="9525">
            <a:solidFill>
              <a:srgbClr val="CDD4DE"/>
            </a:solidFill>
            <a:prstDash val="solid"/>
          </a:ln>
        </p:spPr>
        <p:txBody>
          <a:bodyPr/>
          <a:p/>
        </p:txBody>
      </p:sp>
      <p:sp>
        <p:nvSpPr>
          <p:cNvPr id="18" name="Shape 16"/>
          <p:cNvSpPr/>
          <p:nvPr/>
        </p:nvSpPr>
        <p:spPr>
          <a:xfrm>
            <a:off x="969264" y="3822192"/>
            <a:ext cx="292608" cy="292608"/>
          </a:xfrm>
          <a:prstGeom prst="ellipse">
            <a:avLst/>
          </a:prstGeom>
          <a:solidFill>
            <a:srgbClr val="1F3B5C"/>
          </a:solidFill>
          <a:ln w="12700">
            <a:solidFill>
              <a:srgbClr val="1F3B5C"/>
            </a:solidFill>
            <a:prstDash val="solid"/>
          </a:ln>
        </p:spPr>
        <p:txBody>
          <a:bodyPr/>
          <a:p/>
        </p:txBody>
      </p:sp>
      <p:sp>
        <p:nvSpPr>
          <p:cNvPr id="19" name="Text 17"/>
          <p:cNvSpPr txBox="1"/>
          <p:nvPr/>
        </p:nvSpPr>
        <p:spPr>
          <a:xfrm>
            <a:off x="969264" y="3858768"/>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0" name="Text 18"/>
          <p:cNvSpPr txBox="1"/>
          <p:nvPr/>
        </p:nvSpPr>
        <p:spPr>
          <a:xfrm>
            <a:off x="1463040" y="3831336"/>
            <a:ext cx="310896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Data check</a:t>
            </a:r>
            <a:endParaRPr lang="en-US" sz="1500" dirty="0"/>
          </a:p>
        </p:txBody>
      </p:sp>
      <p:sp>
        <p:nvSpPr>
          <p:cNvPr id="21" name="Text 19"/>
          <p:cNvSpPr txBox="1"/>
          <p:nvPr/>
        </p:nvSpPr>
        <p:spPr>
          <a:xfrm>
            <a:off x="4937760" y="3849624"/>
            <a:ext cx="5303520" cy="27432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The client renamed a column</a:t>
            </a:r>
            <a:endParaRPr lang="en-US" sz="1400" dirty="0"/>
          </a:p>
        </p:txBody>
      </p:sp>
      <p:sp>
        <p:nvSpPr>
          <p:cNvPr id="22" name="Text 20"/>
          <p:cNvSpPr txBox="1"/>
          <p:nvPr/>
        </p:nvSpPr>
        <p:spPr>
          <a:xfrm>
            <a:off x="10515600" y="3858768"/>
            <a:ext cx="822960" cy="237744"/>
          </a:xfrm>
          <a:prstGeom prst="rect">
            <a:avLst/>
          </a:prstGeom>
          <a:noFill/>
          <a:ln/>
        </p:spPr>
        <p:txBody>
          <a:bodyPr wrap="square" lIns="0" tIns="0" rIns="0" bIns="0" rtlCol="0" anchor="ctr"/>
          <a:lstStyle/>
          <a:p>
            <a:pPr algn="r" indent="0" marL="0">
              <a:buNone/>
            </a:pPr>
            <a:r>
              <a:rPr lang="en-US" sz="1250" b="1" dirty="0">
                <a:solidFill>
                  <a:srgbClr val="8A5E14"/>
                </a:solidFill>
                <a:latin typeface="Courier New" pitchFamily="34" charset="0"/>
                <a:ea typeface="Courier New" pitchFamily="34" charset="-122"/>
                <a:cs typeface="Courier New" pitchFamily="34" charset="-120"/>
              </a:rPr>
              <a:t>1 min</a:t>
            </a:r>
            <a:endParaRPr lang="en-US" sz="1250" dirty="0"/>
          </a:p>
        </p:txBody>
      </p:sp>
      <p:sp>
        <p:nvSpPr>
          <p:cNvPr id="23" name="Shape 21"/>
          <p:cNvSpPr/>
          <p:nvPr/>
        </p:nvSpPr>
        <p:spPr>
          <a:xfrm>
            <a:off x="731520" y="4398264"/>
            <a:ext cx="10698480" cy="640080"/>
          </a:xfrm>
          <a:prstGeom prst="rect">
            <a:avLst/>
          </a:prstGeom>
          <a:solidFill>
            <a:srgbClr val="FFFFFF"/>
          </a:solidFill>
          <a:ln w="9525">
            <a:solidFill>
              <a:srgbClr val="CDD4DE"/>
            </a:solidFill>
            <a:prstDash val="solid"/>
          </a:ln>
        </p:spPr>
        <p:txBody>
          <a:bodyPr/>
          <a:p/>
        </p:txBody>
      </p:sp>
      <p:sp>
        <p:nvSpPr>
          <p:cNvPr id="24" name="Shape 22"/>
          <p:cNvSpPr/>
          <p:nvPr/>
        </p:nvSpPr>
        <p:spPr>
          <a:xfrm>
            <a:off x="969264" y="4572000"/>
            <a:ext cx="292608" cy="292608"/>
          </a:xfrm>
          <a:prstGeom prst="ellipse">
            <a:avLst/>
          </a:prstGeom>
          <a:solidFill>
            <a:srgbClr val="1F3B5C"/>
          </a:solidFill>
          <a:ln w="12700">
            <a:solidFill>
              <a:srgbClr val="1F3B5C"/>
            </a:solidFill>
            <a:prstDash val="solid"/>
          </a:ln>
        </p:spPr>
        <p:txBody>
          <a:bodyPr/>
          <a:p/>
        </p:txBody>
      </p:sp>
      <p:sp>
        <p:nvSpPr>
          <p:cNvPr id="25" name="Text 23"/>
          <p:cNvSpPr txBox="1"/>
          <p:nvPr/>
        </p:nvSpPr>
        <p:spPr>
          <a:xfrm>
            <a:off x="969264" y="4608576"/>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6" name="Text 24"/>
          <p:cNvSpPr txBox="1"/>
          <p:nvPr/>
        </p:nvSpPr>
        <p:spPr>
          <a:xfrm>
            <a:off x="1463040" y="4581144"/>
            <a:ext cx="310896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Model gate</a:t>
            </a:r>
            <a:endParaRPr lang="en-US" sz="1500" dirty="0"/>
          </a:p>
        </p:txBody>
      </p:sp>
      <p:sp>
        <p:nvSpPr>
          <p:cNvPr id="27" name="Text 25"/>
          <p:cNvSpPr txBox="1"/>
          <p:nvPr/>
        </p:nvSpPr>
        <p:spPr>
          <a:xfrm>
            <a:off x="4937760" y="4599432"/>
            <a:ext cx="5303520" cy="27432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The model quietly getting worse</a:t>
            </a:r>
            <a:endParaRPr lang="en-US" sz="1400" dirty="0"/>
          </a:p>
        </p:txBody>
      </p:sp>
      <p:sp>
        <p:nvSpPr>
          <p:cNvPr id="28" name="Text 26"/>
          <p:cNvSpPr txBox="1"/>
          <p:nvPr/>
        </p:nvSpPr>
        <p:spPr>
          <a:xfrm>
            <a:off x="10515600" y="4608576"/>
            <a:ext cx="822960" cy="237744"/>
          </a:xfrm>
          <a:prstGeom prst="rect">
            <a:avLst/>
          </a:prstGeom>
          <a:noFill/>
          <a:ln/>
        </p:spPr>
        <p:txBody>
          <a:bodyPr wrap="square" lIns="0" tIns="0" rIns="0" bIns="0" rtlCol="0" anchor="ctr"/>
          <a:lstStyle/>
          <a:p>
            <a:pPr algn="r" indent="0" marL="0">
              <a:buNone/>
            </a:pPr>
            <a:r>
              <a:rPr lang="en-US" sz="1250" b="1" dirty="0">
                <a:solidFill>
                  <a:srgbClr val="8A5E14"/>
                </a:solidFill>
                <a:latin typeface="Courier New" pitchFamily="34" charset="0"/>
                <a:ea typeface="Courier New" pitchFamily="34" charset="-122"/>
                <a:cs typeface="Courier New" pitchFamily="34" charset="-120"/>
              </a:rPr>
              <a:t>6 min</a:t>
            </a:r>
            <a:endParaRPr lang="en-US" sz="1250" dirty="0"/>
          </a:p>
        </p:txBody>
      </p:sp>
      <p:sp>
        <p:nvSpPr>
          <p:cNvPr id="29" name="Shape 27"/>
          <p:cNvSpPr/>
          <p:nvPr/>
        </p:nvSpPr>
        <p:spPr>
          <a:xfrm>
            <a:off x="731520" y="5148072"/>
            <a:ext cx="10698480" cy="640080"/>
          </a:xfrm>
          <a:prstGeom prst="rect">
            <a:avLst/>
          </a:prstGeom>
          <a:solidFill>
            <a:srgbClr val="FFFFFF"/>
          </a:solidFill>
          <a:ln w="9525">
            <a:solidFill>
              <a:srgbClr val="CDD4DE"/>
            </a:solidFill>
            <a:prstDash val="solid"/>
          </a:ln>
        </p:spPr>
        <p:txBody>
          <a:bodyPr/>
          <a:p/>
        </p:txBody>
      </p:sp>
      <p:sp>
        <p:nvSpPr>
          <p:cNvPr id="30" name="Shape 28"/>
          <p:cNvSpPr/>
          <p:nvPr/>
        </p:nvSpPr>
        <p:spPr>
          <a:xfrm>
            <a:off x="969264" y="5321808"/>
            <a:ext cx="292608" cy="292608"/>
          </a:xfrm>
          <a:prstGeom prst="ellipse">
            <a:avLst/>
          </a:prstGeom>
          <a:solidFill>
            <a:srgbClr val="1F3B5C"/>
          </a:solidFill>
          <a:ln w="12700">
            <a:solidFill>
              <a:srgbClr val="1F3B5C"/>
            </a:solidFill>
            <a:prstDash val="solid"/>
          </a:ln>
        </p:spPr>
        <p:txBody>
          <a:bodyPr/>
          <a:p/>
        </p:txBody>
      </p:sp>
      <p:sp>
        <p:nvSpPr>
          <p:cNvPr id="31" name="Text 29"/>
          <p:cNvSpPr txBox="1"/>
          <p:nvPr/>
        </p:nvSpPr>
        <p:spPr>
          <a:xfrm>
            <a:off x="969264" y="535838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1463040" y="5330952"/>
            <a:ext cx="310896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Same answer twice</a:t>
            </a:r>
            <a:endParaRPr lang="en-US" sz="1500" dirty="0"/>
          </a:p>
        </p:txBody>
      </p:sp>
      <p:sp>
        <p:nvSpPr>
          <p:cNvPr id="33" name="Text 31"/>
          <p:cNvSpPr txBox="1"/>
          <p:nvPr/>
        </p:nvSpPr>
        <p:spPr>
          <a:xfrm>
            <a:off x="4937760" y="5349240"/>
            <a:ext cx="5303520" cy="27432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A setting nobody wrote down</a:t>
            </a:r>
            <a:endParaRPr lang="en-US" sz="1400" dirty="0"/>
          </a:p>
        </p:txBody>
      </p:sp>
      <p:sp>
        <p:nvSpPr>
          <p:cNvPr id="34" name="Text 32"/>
          <p:cNvSpPr txBox="1"/>
          <p:nvPr/>
        </p:nvSpPr>
        <p:spPr>
          <a:xfrm>
            <a:off x="10515600" y="5358384"/>
            <a:ext cx="822960" cy="237744"/>
          </a:xfrm>
          <a:prstGeom prst="rect">
            <a:avLst/>
          </a:prstGeom>
          <a:noFill/>
          <a:ln/>
        </p:spPr>
        <p:txBody>
          <a:bodyPr wrap="square" lIns="0" tIns="0" rIns="0" bIns="0" rtlCol="0" anchor="ctr"/>
          <a:lstStyle/>
          <a:p>
            <a:pPr algn="r" indent="0" marL="0">
              <a:buNone/>
            </a:pPr>
            <a:r>
              <a:rPr lang="en-US" sz="1250" b="1" dirty="0">
                <a:solidFill>
                  <a:srgbClr val="8A5E14"/>
                </a:solidFill>
                <a:latin typeface="Courier New" pitchFamily="34" charset="0"/>
                <a:ea typeface="Courier New" pitchFamily="34" charset="-122"/>
                <a:cs typeface="Courier New" pitchFamily="34" charset="-120"/>
              </a:rPr>
              <a:t>1 min</a:t>
            </a:r>
            <a:endParaRPr lang="en-US" sz="1250" dirty="0"/>
          </a:p>
        </p:txBody>
      </p:sp>
      <p:sp>
        <p:nvSpPr>
          <p:cNvPr id="35" name="Text 33"/>
          <p:cNvSpPr txBox="1"/>
          <p:nvPr/>
        </p:nvSpPr>
        <p:spPr>
          <a:xfrm>
            <a:off x="731520" y="6035040"/>
            <a:ext cx="10698480" cy="329184"/>
          </a:xfrm>
          <a:prstGeom prst="rect">
            <a:avLst/>
          </a:prstGeom>
          <a:noFill/>
          <a:ln/>
        </p:spPr>
        <p:txBody>
          <a:bodyPr wrap="square" lIns="0" tIns="0" rIns="0" bIns="0" rtlCol="0" anchor="ctr"/>
          <a:lstStyle/>
          <a:p>
            <a:pPr indent="0" marL="0">
              <a:buNone/>
            </a:pPr>
            <a:r>
              <a:rPr lang="en-US" sz="1500" b="1" dirty="0">
                <a:solidFill>
                  <a:srgbClr val="1F3B5C"/>
                </a:solidFill>
                <a:latin typeface="Calibri" pitchFamily="34" charset="0"/>
                <a:ea typeface="Calibri" pitchFamily="34" charset="-122"/>
                <a:cs typeface="Calibri" pitchFamily="34" charset="-120"/>
              </a:rPr>
              <a:t>None of these ask whether the model is any good. That is a person’s job.</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HOW THEY RUN</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What is actually in the file</a:t>
            </a:r>
            <a:endParaRPr lang="en-US" sz="3300" dirty="0"/>
          </a:p>
        </p:txBody>
      </p:sp>
      <p:sp>
        <p:nvSpPr>
          <p:cNvPr id="4" name="Shape 2"/>
          <p:cNvSpPr/>
          <p:nvPr/>
        </p:nvSpPr>
        <p:spPr>
          <a:xfrm>
            <a:off x="731520" y="1920240"/>
            <a:ext cx="4754880" cy="2743200"/>
          </a:xfrm>
          <a:prstGeom prst="rect">
            <a:avLst/>
          </a:prstGeom>
          <a:solidFill>
            <a:srgbClr val="FFFFFF"/>
          </a:solidFill>
          <a:ln w="9525">
            <a:solidFill>
              <a:srgbClr val="CDD4DE"/>
            </a:solidFill>
            <a:prstDash val="solid"/>
          </a:ln>
        </p:spPr>
        <p:txBody>
          <a:bodyPr/>
          <a:p/>
        </p:txBody>
      </p:sp>
      <p:sp>
        <p:nvSpPr>
          <p:cNvPr id="5" name="Text 3"/>
          <p:cNvSpPr txBox="1"/>
          <p:nvPr/>
        </p:nvSpPr>
        <p:spPr>
          <a:xfrm>
            <a:off x="1051560" y="2121408"/>
            <a:ext cx="3657600" cy="237744"/>
          </a:xfrm>
          <a:prstGeom prst="rect">
            <a:avLst/>
          </a:prstGeom>
          <a:noFill/>
          <a:ln/>
        </p:spPr>
        <p:txBody>
          <a:bodyPr wrap="square" lIns="0" tIns="0" rIns="0" bIns="0" rtlCol="0" anchor="ctr"/>
          <a:lstStyle/>
          <a:p>
            <a:pPr indent="0" marL="0">
              <a:buNone/>
            </a:pPr>
            <a:r>
              <a:rPr lang="en-US" sz="1050" b="1" spc="170" kern="0" dirty="0">
                <a:solidFill>
                  <a:srgbClr val="1F3B5C"/>
                </a:solidFill>
                <a:latin typeface="Arial" pitchFamily="34" charset="0"/>
                <a:ea typeface="Arial" pitchFamily="34" charset="-122"/>
                <a:cs typeface="Arial" pitchFamily="34" charset="-120"/>
              </a:rPr>
              <a:t>THE PARTS</a:t>
            </a:r>
            <a:endParaRPr lang="en-US" sz="1050" dirty="0"/>
          </a:p>
        </p:txBody>
      </p:sp>
      <p:sp>
        <p:nvSpPr>
          <p:cNvPr id="6" name="Text 4"/>
          <p:cNvSpPr txBox="1"/>
          <p:nvPr/>
        </p:nvSpPr>
        <p:spPr>
          <a:xfrm>
            <a:off x="1051560" y="2514600"/>
            <a:ext cx="1188720" cy="256032"/>
          </a:xfrm>
          <a:prstGeom prst="rect">
            <a:avLst/>
          </a:prstGeom>
          <a:noFill/>
          <a:ln/>
        </p:spPr>
        <p:txBody>
          <a:bodyPr wrap="square" lIns="0" tIns="0" rIns="0" bIns="0" rtlCol="0" anchor="ctr"/>
          <a:lstStyle/>
          <a:p>
            <a:pPr indent="0" marL="0">
              <a:buNone/>
            </a:pPr>
            <a:r>
              <a:rPr lang="en-US" sz="1300" b="1" dirty="0">
                <a:solidFill>
                  <a:srgbClr val="8A5E14"/>
                </a:solidFill>
                <a:latin typeface="Courier New" pitchFamily="34" charset="0"/>
                <a:ea typeface="Courier New" pitchFamily="34" charset="-122"/>
                <a:cs typeface="Courier New" pitchFamily="34" charset="-120"/>
              </a:rPr>
              <a:t>Workflow</a:t>
            </a:r>
            <a:endParaRPr lang="en-US" sz="1300" dirty="0"/>
          </a:p>
        </p:txBody>
      </p:sp>
      <p:sp>
        <p:nvSpPr>
          <p:cNvPr id="7" name="Text 5"/>
          <p:cNvSpPr txBox="1"/>
          <p:nvPr/>
        </p:nvSpPr>
        <p:spPr>
          <a:xfrm>
            <a:off x="2423160" y="2514600"/>
            <a:ext cx="3017520" cy="256032"/>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the file</a:t>
            </a:r>
            <a:endParaRPr lang="en-US" sz="1350" dirty="0"/>
          </a:p>
        </p:txBody>
      </p:sp>
      <p:sp>
        <p:nvSpPr>
          <p:cNvPr id="8" name="Text 6"/>
          <p:cNvSpPr txBox="1"/>
          <p:nvPr/>
        </p:nvSpPr>
        <p:spPr>
          <a:xfrm>
            <a:off x="1051560" y="2916936"/>
            <a:ext cx="1188720" cy="256032"/>
          </a:xfrm>
          <a:prstGeom prst="rect">
            <a:avLst/>
          </a:prstGeom>
          <a:noFill/>
          <a:ln/>
        </p:spPr>
        <p:txBody>
          <a:bodyPr wrap="square" lIns="0" tIns="0" rIns="0" bIns="0" rtlCol="0" anchor="ctr"/>
          <a:lstStyle/>
          <a:p>
            <a:pPr indent="0" marL="0">
              <a:buNone/>
            </a:pPr>
            <a:r>
              <a:rPr lang="en-US" sz="1300" b="1" dirty="0">
                <a:solidFill>
                  <a:srgbClr val="8A5E14"/>
                </a:solidFill>
                <a:latin typeface="Courier New" pitchFamily="34" charset="0"/>
                <a:ea typeface="Courier New" pitchFamily="34" charset="-122"/>
                <a:cs typeface="Courier New" pitchFamily="34" charset="-120"/>
              </a:rPr>
              <a:t>Jobs</a:t>
            </a:r>
            <a:endParaRPr lang="en-US" sz="1300" dirty="0"/>
          </a:p>
        </p:txBody>
      </p:sp>
      <p:sp>
        <p:nvSpPr>
          <p:cNvPr id="9" name="Text 7"/>
          <p:cNvSpPr txBox="1"/>
          <p:nvPr/>
        </p:nvSpPr>
        <p:spPr>
          <a:xfrm>
            <a:off x="2423160" y="2916936"/>
            <a:ext cx="3017520" cy="256032"/>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usually parallel; expensive ones can wait</a:t>
            </a:r>
            <a:endParaRPr lang="en-US" sz="1350" dirty="0"/>
          </a:p>
        </p:txBody>
      </p:sp>
      <p:sp>
        <p:nvSpPr>
          <p:cNvPr id="10" name="Text 8"/>
          <p:cNvSpPr txBox="1"/>
          <p:nvPr/>
        </p:nvSpPr>
        <p:spPr>
          <a:xfrm>
            <a:off x="1051560" y="3319272"/>
            <a:ext cx="1188720" cy="256032"/>
          </a:xfrm>
          <a:prstGeom prst="rect">
            <a:avLst/>
          </a:prstGeom>
          <a:noFill/>
          <a:ln/>
        </p:spPr>
        <p:txBody>
          <a:bodyPr wrap="square" lIns="0" tIns="0" rIns="0" bIns="0" rtlCol="0" anchor="ctr"/>
          <a:lstStyle/>
          <a:p>
            <a:pPr indent="0" marL="0">
              <a:buNone/>
            </a:pPr>
            <a:r>
              <a:rPr lang="en-US" sz="1300" b="1" dirty="0">
                <a:solidFill>
                  <a:srgbClr val="8A5E14"/>
                </a:solidFill>
                <a:latin typeface="Courier New" pitchFamily="34" charset="0"/>
                <a:ea typeface="Courier New" pitchFamily="34" charset="-122"/>
                <a:cs typeface="Courier New" pitchFamily="34" charset="-120"/>
              </a:rPr>
              <a:t>Steps</a:t>
            </a:r>
            <a:endParaRPr lang="en-US" sz="1300" dirty="0"/>
          </a:p>
        </p:txBody>
      </p:sp>
      <p:sp>
        <p:nvSpPr>
          <p:cNvPr id="11" name="Text 9"/>
          <p:cNvSpPr txBox="1"/>
          <p:nvPr/>
        </p:nvSpPr>
        <p:spPr>
          <a:xfrm>
            <a:off x="2423160" y="3319272"/>
            <a:ext cx="3017520" cy="256032"/>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run in order</a:t>
            </a:r>
            <a:endParaRPr lang="en-US" sz="1350" dirty="0"/>
          </a:p>
        </p:txBody>
      </p:sp>
      <p:sp>
        <p:nvSpPr>
          <p:cNvPr id="12" name="Text 10"/>
          <p:cNvSpPr txBox="1"/>
          <p:nvPr/>
        </p:nvSpPr>
        <p:spPr>
          <a:xfrm>
            <a:off x="1051560" y="3721608"/>
            <a:ext cx="1188720" cy="256032"/>
          </a:xfrm>
          <a:prstGeom prst="rect">
            <a:avLst/>
          </a:prstGeom>
          <a:noFill/>
          <a:ln/>
        </p:spPr>
        <p:txBody>
          <a:bodyPr wrap="square" lIns="0" tIns="0" rIns="0" bIns="0" rtlCol="0" anchor="ctr"/>
          <a:lstStyle/>
          <a:p>
            <a:pPr indent="0" marL="0">
              <a:buNone/>
            </a:pPr>
            <a:r>
              <a:rPr lang="en-US" sz="1300" b="1" dirty="0">
                <a:solidFill>
                  <a:srgbClr val="8A5E14"/>
                </a:solidFill>
                <a:latin typeface="Courier New" pitchFamily="34" charset="0"/>
                <a:ea typeface="Courier New" pitchFamily="34" charset="-122"/>
                <a:cs typeface="Courier New" pitchFamily="34" charset="-120"/>
              </a:rPr>
              <a:t>The machine</a:t>
            </a:r>
            <a:endParaRPr lang="en-US" sz="1300" dirty="0"/>
          </a:p>
        </p:txBody>
      </p:sp>
      <p:sp>
        <p:nvSpPr>
          <p:cNvPr id="13" name="Text 11"/>
          <p:cNvSpPr txBox="1"/>
          <p:nvPr/>
        </p:nvSpPr>
        <p:spPr>
          <a:xfrm>
            <a:off x="2423160" y="3721608"/>
            <a:ext cx="3017520" cy="256032"/>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rented by the minute, so we do not waste it</a:t>
            </a:r>
            <a:endParaRPr lang="en-US" sz="1350" dirty="0"/>
          </a:p>
        </p:txBody>
      </p:sp>
      <p:sp>
        <p:nvSpPr>
          <p:cNvPr id="14" name="Text 12"/>
          <p:cNvSpPr txBox="1"/>
          <p:nvPr/>
        </p:nvSpPr>
        <p:spPr>
          <a:xfrm>
            <a:off x="1051560" y="4123944"/>
            <a:ext cx="1188720" cy="256032"/>
          </a:xfrm>
          <a:prstGeom prst="rect">
            <a:avLst/>
          </a:prstGeom>
          <a:noFill/>
          <a:ln/>
        </p:spPr>
        <p:txBody>
          <a:bodyPr wrap="square" lIns="0" tIns="0" rIns="0" bIns="0" rtlCol="0" anchor="ctr"/>
          <a:lstStyle/>
          <a:p>
            <a:pPr indent="0" marL="0">
              <a:buNone/>
            </a:pPr>
            <a:r>
              <a:rPr lang="en-US" sz="1300" b="1" dirty="0">
                <a:solidFill>
                  <a:srgbClr val="8A5E14"/>
                </a:solidFill>
                <a:latin typeface="Courier New" pitchFamily="34" charset="0"/>
                <a:ea typeface="Courier New" pitchFamily="34" charset="-122"/>
                <a:cs typeface="Courier New" pitchFamily="34" charset="-120"/>
              </a:rPr>
              <a:t>on:</a:t>
            </a:r>
            <a:endParaRPr lang="en-US" sz="1300" dirty="0"/>
          </a:p>
        </p:txBody>
      </p:sp>
      <p:sp>
        <p:nvSpPr>
          <p:cNvPr id="15" name="Text 13"/>
          <p:cNvSpPr txBox="1"/>
          <p:nvPr/>
        </p:nvSpPr>
        <p:spPr>
          <a:xfrm>
            <a:off x="2423160" y="4123944"/>
            <a:ext cx="3017520" cy="256032"/>
          </a:xfrm>
          <a:prstGeom prst="rect">
            <a:avLst/>
          </a:prstGeom>
          <a:noFill/>
          <a:ln/>
        </p:spPr>
        <p:txBody>
          <a:bodyPr wrap="square" lIns="0" tIns="0" rIns="0" bIns="0" rtlCol="0" anchor="ctr"/>
          <a:lstStyle/>
          <a:p>
            <a:pPr indent="0" marL="0">
              <a:buNone/>
            </a:pPr>
            <a:r>
              <a:rPr lang="en-US" sz="1350" dirty="0">
                <a:solidFill>
                  <a:srgbClr val="121821"/>
                </a:solidFill>
                <a:latin typeface="Calibri" pitchFamily="34" charset="0"/>
                <a:ea typeface="Calibri" pitchFamily="34" charset="-122"/>
                <a:cs typeface="Calibri" pitchFamily="34" charset="-120"/>
              </a:rPr>
              <a:t>when it runs</a:t>
            </a:r>
            <a:endParaRPr lang="en-US" sz="1350" dirty="0"/>
          </a:p>
        </p:txBody>
      </p:sp>
      <p:sp>
        <p:nvSpPr>
          <p:cNvPr id="16" name="Shape 14"/>
          <p:cNvSpPr/>
          <p:nvPr/>
        </p:nvSpPr>
        <p:spPr>
          <a:xfrm>
            <a:off x="6080760" y="1920240"/>
            <a:ext cx="5349240" cy="2743200"/>
          </a:xfrm>
          <a:prstGeom prst="rect">
            <a:avLst/>
          </a:prstGeom>
          <a:solidFill>
            <a:srgbClr val="FFFFFF"/>
          </a:solidFill>
          <a:ln w="9525">
            <a:solidFill>
              <a:srgbClr val="CDD4DE"/>
            </a:solidFill>
            <a:prstDash val="solid"/>
          </a:ln>
        </p:spPr>
        <p:txBody>
          <a:bodyPr/>
          <a:p/>
        </p:txBody>
      </p:sp>
      <p:sp>
        <p:nvSpPr>
          <p:cNvPr id="17" name="Text 15"/>
          <p:cNvSpPr txBox="1"/>
          <p:nvPr/>
        </p:nvSpPr>
        <p:spPr>
          <a:xfrm>
            <a:off x="6400800" y="2148840"/>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name: checks</a:t>
            </a:r>
            <a:endParaRPr lang="en-US" sz="1150" dirty="0"/>
          </a:p>
        </p:txBody>
      </p:sp>
      <p:sp>
        <p:nvSpPr>
          <p:cNvPr id="18" name="Text 16"/>
          <p:cNvSpPr txBox="1"/>
          <p:nvPr/>
        </p:nvSpPr>
        <p:spPr>
          <a:xfrm>
            <a:off x="6400800" y="2368296"/>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on:</a:t>
            </a:r>
            <a:endParaRPr lang="en-US" sz="1150" dirty="0"/>
          </a:p>
        </p:txBody>
      </p:sp>
      <p:sp>
        <p:nvSpPr>
          <p:cNvPr id="19" name="Text 17"/>
          <p:cNvSpPr txBox="1"/>
          <p:nvPr/>
        </p:nvSpPr>
        <p:spPr>
          <a:xfrm>
            <a:off x="6400800" y="2587752"/>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  pull_request:</a:t>
            </a:r>
            <a:endParaRPr lang="en-US" sz="1150" dirty="0"/>
          </a:p>
        </p:txBody>
      </p:sp>
      <p:sp>
        <p:nvSpPr>
          <p:cNvPr id="20" name="Text 18"/>
          <p:cNvSpPr txBox="1"/>
          <p:nvPr/>
        </p:nvSpPr>
        <p:spPr>
          <a:xfrm>
            <a:off x="6400800" y="2807208"/>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    branches: [main]</a:t>
            </a:r>
            <a:endParaRPr lang="en-US" sz="1150" dirty="0"/>
          </a:p>
        </p:txBody>
      </p:sp>
      <p:sp>
        <p:nvSpPr>
          <p:cNvPr id="21" name="Text 19"/>
          <p:cNvSpPr txBox="1"/>
          <p:nvPr/>
        </p:nvSpPr>
        <p:spPr>
          <a:xfrm>
            <a:off x="6400800" y="3026664"/>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jobs:</a:t>
            </a:r>
            <a:endParaRPr lang="en-US" sz="1150" dirty="0"/>
          </a:p>
        </p:txBody>
      </p:sp>
      <p:sp>
        <p:nvSpPr>
          <p:cNvPr id="22" name="Text 20"/>
          <p:cNvSpPr txBox="1"/>
          <p:nvPr/>
        </p:nvSpPr>
        <p:spPr>
          <a:xfrm>
            <a:off x="6400800" y="3246120"/>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  tests:</a:t>
            </a:r>
            <a:endParaRPr lang="en-US" sz="1150" dirty="0"/>
          </a:p>
        </p:txBody>
      </p:sp>
      <p:sp>
        <p:nvSpPr>
          <p:cNvPr id="23" name="Text 21"/>
          <p:cNvSpPr txBox="1"/>
          <p:nvPr/>
        </p:nvSpPr>
        <p:spPr>
          <a:xfrm>
            <a:off x="6400800" y="3465576"/>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    runs-on: ubuntu-latest</a:t>
            </a:r>
            <a:endParaRPr lang="en-US" sz="1150" dirty="0"/>
          </a:p>
        </p:txBody>
      </p:sp>
      <p:sp>
        <p:nvSpPr>
          <p:cNvPr id="24" name="Text 22"/>
          <p:cNvSpPr txBox="1"/>
          <p:nvPr/>
        </p:nvSpPr>
        <p:spPr>
          <a:xfrm>
            <a:off x="6400800" y="3685032"/>
            <a:ext cx="4846320" cy="201168"/>
          </a:xfrm>
          <a:prstGeom prst="rect">
            <a:avLst/>
          </a:prstGeom>
          <a:noFill/>
          <a:ln/>
        </p:spPr>
        <p:txBody>
          <a:bodyPr wrap="square" lIns="0" tIns="0" rIns="0" bIns="0" rtlCol="0" anchor="ctr"/>
          <a:lstStyle/>
          <a:p>
            <a:pPr indent="0" marL="0">
              <a:buNone/>
            </a:pPr>
            <a:r>
              <a:rPr lang="en-US" sz="1150" dirty="0">
                <a:solidFill>
                  <a:srgbClr val="121821"/>
                </a:solidFill>
                <a:latin typeface="Courier New" pitchFamily="34" charset="0"/>
                <a:ea typeface="Courier New" pitchFamily="34" charset="-122"/>
                <a:cs typeface="Courier New" pitchFamily="34" charset="-120"/>
              </a:rPr>
              <a:t>    steps:</a:t>
            </a:r>
            <a:endParaRPr lang="en-US" sz="1150" dirty="0"/>
          </a:p>
        </p:txBody>
      </p:sp>
      <p:sp>
        <p:nvSpPr>
          <p:cNvPr id="25" name="Text 23"/>
          <p:cNvSpPr txBox="1"/>
          <p:nvPr/>
        </p:nvSpPr>
        <p:spPr>
          <a:xfrm>
            <a:off x="6400800" y="3904488"/>
            <a:ext cx="4846320" cy="201168"/>
          </a:xfrm>
          <a:prstGeom prst="rect">
            <a:avLst/>
          </a:prstGeom>
          <a:noFill/>
          <a:ln/>
        </p:spPr>
        <p:txBody>
          <a:bodyPr wrap="square" lIns="0" tIns="0" rIns="0" bIns="0" rtlCol="0" anchor="ctr"/>
          <a:lstStyle/>
          <a:p>
            <a:pPr indent="0" marL="0">
              <a:buNone/>
            </a:pPr>
            <a:r>
              <a:rPr lang="en-US" sz="1150" b="1" dirty="0">
                <a:solidFill>
                  <a:srgbClr val="1F3B5C"/>
                </a:solidFill>
                <a:latin typeface="Courier New" pitchFamily="34" charset="0"/>
                <a:ea typeface="Courier New" pitchFamily="34" charset="-122"/>
                <a:cs typeface="Courier New" pitchFamily="34" charset="-120"/>
              </a:rPr>
              <a:t>      - uses: actions/checkout@v4</a:t>
            </a:r>
            <a:endParaRPr lang="en-US" sz="1150" dirty="0"/>
          </a:p>
        </p:txBody>
      </p:sp>
      <p:sp>
        <p:nvSpPr>
          <p:cNvPr id="26" name="Text 24"/>
          <p:cNvSpPr txBox="1"/>
          <p:nvPr/>
        </p:nvSpPr>
        <p:spPr>
          <a:xfrm>
            <a:off x="6400800" y="4123944"/>
            <a:ext cx="4846320" cy="201168"/>
          </a:xfrm>
          <a:prstGeom prst="rect">
            <a:avLst/>
          </a:prstGeom>
          <a:noFill/>
          <a:ln/>
        </p:spPr>
        <p:txBody>
          <a:bodyPr wrap="square" lIns="0" tIns="0" rIns="0" bIns="0" rtlCol="0" anchor="ctr"/>
          <a:lstStyle/>
          <a:p>
            <a:pPr indent="0" marL="0">
              <a:buNone/>
            </a:pPr>
            <a:r>
              <a:rPr lang="en-US" sz="1150" b="1" dirty="0">
                <a:solidFill>
                  <a:srgbClr val="1F3B5C"/>
                </a:solidFill>
                <a:latin typeface="Courier New" pitchFamily="34" charset="0"/>
                <a:ea typeface="Courier New" pitchFamily="34" charset="-122"/>
                <a:cs typeface="Courier New" pitchFamily="34" charset="-120"/>
              </a:rPr>
              <a:t>      - run: pip install -r reqs.txt</a:t>
            </a:r>
            <a:endParaRPr lang="en-US" sz="1150" dirty="0"/>
          </a:p>
        </p:txBody>
      </p:sp>
      <p:sp>
        <p:nvSpPr>
          <p:cNvPr id="27" name="Text 25"/>
          <p:cNvSpPr txBox="1"/>
          <p:nvPr/>
        </p:nvSpPr>
        <p:spPr>
          <a:xfrm>
            <a:off x="6400800" y="4343400"/>
            <a:ext cx="4846320" cy="201168"/>
          </a:xfrm>
          <a:prstGeom prst="rect">
            <a:avLst/>
          </a:prstGeom>
          <a:noFill/>
          <a:ln/>
        </p:spPr>
        <p:txBody>
          <a:bodyPr wrap="square" lIns="0" tIns="0" rIns="0" bIns="0" rtlCol="0" anchor="ctr"/>
          <a:lstStyle/>
          <a:p>
            <a:pPr indent="0" marL="0">
              <a:buNone/>
            </a:pPr>
            <a:r>
              <a:rPr lang="en-US" sz="1150" b="1" dirty="0">
                <a:solidFill>
                  <a:srgbClr val="1F3B5C"/>
                </a:solidFill>
                <a:latin typeface="Courier New" pitchFamily="34" charset="0"/>
                <a:ea typeface="Courier New" pitchFamily="34" charset="-122"/>
                <a:cs typeface="Courier New" pitchFamily="34" charset="-120"/>
              </a:rPr>
              <a:t>      - run: pytest</a:t>
            </a:r>
            <a:endParaRPr lang="en-US" sz="1150" dirty="0"/>
          </a:p>
        </p:txBody>
      </p:sp>
      <p:sp>
        <p:nvSpPr>
          <p:cNvPr id="28" name="Shape 26"/>
          <p:cNvSpPr/>
          <p:nvPr/>
        </p:nvSpPr>
        <p:spPr>
          <a:xfrm>
            <a:off x="731520" y="4983480"/>
            <a:ext cx="10698480" cy="0"/>
          </a:xfrm>
          <a:prstGeom prst="line">
            <a:avLst/>
          </a:prstGeom>
          <a:noFill/>
          <a:ln w="12700">
            <a:solidFill>
              <a:srgbClr val="CDD4DE"/>
            </a:solidFill>
            <a:prstDash val="solid"/>
          </a:ln>
        </p:spPr>
        <p:txBody>
          <a:bodyPr/>
          <a:p/>
        </p:txBody>
      </p:sp>
      <p:sp>
        <p:nvSpPr>
          <p:cNvPr id="29" name="Text 27"/>
          <p:cNvSpPr txBox="1"/>
          <p:nvPr/>
        </p:nvSpPr>
        <p:spPr>
          <a:xfrm>
            <a:off x="731520" y="5257800"/>
            <a:ext cx="10698480" cy="365760"/>
          </a:xfrm>
          <a:prstGeom prst="rect">
            <a:avLst/>
          </a:prstGeom>
          <a:noFill/>
          <a:ln/>
        </p:spPr>
        <p:txBody>
          <a:bodyPr wrap="square" lIns="0" tIns="0" rIns="0" bIns="0" rtlCol="0" anchor="ctr"/>
          <a:lstStyle/>
          <a:p>
            <a:pPr indent="0" marL="0">
              <a:buNone/>
            </a:pPr>
            <a:r>
              <a:rPr lang="en-US" sz="2000" b="1" dirty="0">
                <a:solidFill>
                  <a:srgbClr val="8A5E14"/>
                </a:solidFill>
                <a:latin typeface="Arial" pitchFamily="34" charset="0"/>
                <a:ea typeface="Arial" pitchFamily="34" charset="-122"/>
                <a:cs typeface="Arial" pitchFamily="34" charset="-120"/>
              </a:rPr>
              <a:t>This file blocks nothing on its own.</a:t>
            </a:r>
            <a:endParaRPr lang="en-US" sz="2000" dirty="0"/>
          </a:p>
        </p:txBody>
      </p:sp>
      <p:sp>
        <p:nvSpPr>
          <p:cNvPr id="30" name="Text 28"/>
          <p:cNvSpPr txBox="1"/>
          <p:nvPr/>
        </p:nvSpPr>
        <p:spPr>
          <a:xfrm>
            <a:off x="731520" y="5715000"/>
            <a:ext cx="9875520" cy="502920"/>
          </a:xfrm>
          <a:prstGeom prst="rect">
            <a:avLst/>
          </a:prstGeom>
          <a:noFill/>
          <a:ln/>
        </p:spPr>
        <p:txBody>
          <a:bodyPr wrap="square" lIns="0" tIns="0" rIns="0" bIns="0" rtlCol="0" anchor="ctr"/>
          <a:lstStyle/>
          <a:p>
            <a:pPr indent="0" marL="0">
              <a:lnSpc>
                <a:spcPts val="2000"/>
              </a:lnSpc>
              <a:buNone/>
            </a:pPr>
            <a:r>
              <a:rPr lang="en-US" sz="1500" dirty="0">
                <a:solidFill>
                  <a:srgbClr val="121821"/>
                </a:solidFill>
                <a:latin typeface="Calibri" pitchFamily="34" charset="0"/>
                <a:ea typeface="Calibri" pitchFamily="34" charset="-122"/>
                <a:cs typeface="Calibri" pitchFamily="34" charset="-120"/>
              </a:rPr>
              <a:t>It only stops a bad change once repository rules say these checks must pass. Writing the file and switching it on are two separate jobs.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6</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Three problems, three answers</a:t>
            </a:r>
            <a:endParaRPr lang="en-US" sz="3300" dirty="0"/>
          </a:p>
        </p:txBody>
      </p:sp>
      <p:sp>
        <p:nvSpPr>
          <p:cNvPr id="4" name="Text 2"/>
          <p:cNvSpPr txBox="1"/>
          <p:nvPr/>
        </p:nvSpPr>
        <p:spPr>
          <a:xfrm>
            <a:off x="731520" y="1874520"/>
            <a:ext cx="3108960" cy="256032"/>
          </a:xfrm>
          <a:prstGeom prst="rect">
            <a:avLst/>
          </a:prstGeom>
          <a:noFill/>
          <a:ln/>
        </p:spPr>
        <p:txBody>
          <a:bodyPr wrap="square" lIns="0" tIns="0" rIns="0" bIns="0" rtlCol="0" anchor="ctr"/>
          <a:lstStyle/>
          <a:p>
            <a:pPr indent="0" marL="0">
              <a:buNone/>
            </a:pPr>
            <a:r>
              <a:rPr lang="en-US" sz="1200" b="1" spc="160" kern="0" dirty="0">
                <a:solidFill>
                  <a:srgbClr val="1F3B5C"/>
                </a:solidFill>
                <a:latin typeface="Arial" pitchFamily="34" charset="0"/>
                <a:ea typeface="Arial" pitchFamily="34" charset="-122"/>
                <a:cs typeface="Arial" pitchFamily="34" charset="-120"/>
              </a:rPr>
              <a:t>NOTEBOOKS</a:t>
            </a:r>
            <a:endParaRPr lang="en-US" sz="1200" dirty="0"/>
          </a:p>
        </p:txBody>
      </p:sp>
      <p:sp>
        <p:nvSpPr>
          <p:cNvPr id="5" name="Shape 3"/>
          <p:cNvSpPr/>
          <p:nvPr/>
        </p:nvSpPr>
        <p:spPr>
          <a:xfrm>
            <a:off x="731520" y="2212848"/>
            <a:ext cx="3291840" cy="0"/>
          </a:xfrm>
          <a:prstGeom prst="line">
            <a:avLst/>
          </a:prstGeom>
          <a:noFill/>
          <a:ln w="12700">
            <a:solidFill>
              <a:srgbClr val="CDD4DE"/>
            </a:solidFill>
            <a:prstDash val="solid"/>
          </a:ln>
        </p:spPr>
        <p:txBody>
          <a:bodyPr/>
          <a:p/>
        </p:txBody>
      </p:sp>
      <p:sp>
        <p:nvSpPr>
          <p:cNvPr id="6" name="Text 4"/>
          <p:cNvSpPr txBox="1"/>
          <p:nvPr/>
        </p:nvSpPr>
        <p:spPr>
          <a:xfrm>
            <a:off x="731520" y="2377440"/>
            <a:ext cx="3291840" cy="1005840"/>
          </a:xfrm>
          <a:prstGeom prst="rect">
            <a:avLst/>
          </a:prstGeom>
          <a:noFill/>
          <a:ln/>
        </p:spPr>
        <p:txBody>
          <a:bodyPr wrap="square" lIns="0" tIns="0" rIns="0" bIns="0" rtlCol="0" anchor="ctr"/>
          <a:lstStyle/>
          <a:p>
            <a:pPr indent="0" marL="0">
              <a:lnSpc>
                <a:spcPts val="1800"/>
              </a:lnSpc>
              <a:buNone/>
            </a:pPr>
            <a:r>
              <a:rPr lang="en-US" sz="1350" dirty="0">
                <a:solidFill>
                  <a:srgbClr val="121821"/>
                </a:solidFill>
                <a:latin typeface="Calibri" pitchFamily="34" charset="0"/>
                <a:ea typeface="Calibri" pitchFamily="34" charset="-122"/>
                <a:cs typeface="Calibri" pitchFamily="34" charset="-120"/>
              </a:rPr>
              <a:t>One big file holding the code, the results and the charts. Re-run it and the file changes even though the code did not.</a:t>
            </a:r>
            <a:endParaRPr lang="en-US" sz="1350" dirty="0"/>
          </a:p>
        </p:txBody>
      </p:sp>
      <p:sp>
        <p:nvSpPr>
          <p:cNvPr id="7" name="Text 5"/>
          <p:cNvSpPr txBox="1"/>
          <p:nvPr/>
        </p:nvSpPr>
        <p:spPr>
          <a:xfrm>
            <a:off x="731520" y="3520440"/>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6E7A8C"/>
                </a:solidFill>
                <a:latin typeface="Calibri" pitchFamily="34" charset="0"/>
                <a:ea typeface="Calibri" pitchFamily="34" charset="-122"/>
                <a:cs typeface="Calibri" pitchFamily="34" charset="-120"/>
              </a:rPr>
              <a:t>Clear the results out before saving.</a:t>
            </a:r>
            <a:endParaRPr lang="en-US" sz="1250" dirty="0"/>
          </a:p>
          <a:p>
            <a:pPr indent="0" marL="0">
              <a:lnSpc>
                <a:spcPts val="1700"/>
              </a:lnSpc>
              <a:buNone/>
            </a:pPr>
            <a:r>
              <a:rPr lang="en-US" sz="1250" dirty="0">
                <a:solidFill>
                  <a:srgbClr val="6E7A8C"/>
                </a:solidFill>
                <a:latin typeface="Calibri" pitchFamily="34" charset="0"/>
                <a:ea typeface="Calibri" pitchFamily="34" charset="-122"/>
                <a:cs typeface="Calibri" pitchFamily="34" charset="-120"/>
              </a:rPr>
              <a:t>Keep a plain code file alongside.</a:t>
            </a:r>
            <a:endParaRPr lang="en-US" sz="1250" dirty="0"/>
          </a:p>
        </p:txBody>
      </p:sp>
      <p:sp>
        <p:nvSpPr>
          <p:cNvPr id="8" name="Shape 6"/>
          <p:cNvSpPr/>
          <p:nvPr/>
        </p:nvSpPr>
        <p:spPr>
          <a:xfrm>
            <a:off x="731520" y="4434840"/>
            <a:ext cx="3291840" cy="1371600"/>
          </a:xfrm>
          <a:prstGeom prst="rect">
            <a:avLst/>
          </a:prstGeom>
          <a:solidFill>
            <a:srgbClr val="FBF3E4"/>
          </a:solidFill>
          <a:ln w="9525">
            <a:solidFill>
              <a:srgbClr val="D9C08A"/>
            </a:solidFill>
            <a:prstDash val="solid"/>
          </a:ln>
        </p:spPr>
        <p:txBody>
          <a:bodyPr/>
          <a:p/>
        </p:txBody>
      </p:sp>
      <p:sp>
        <p:nvSpPr>
          <p:cNvPr id="9" name="Text 7"/>
          <p:cNvSpPr txBox="1"/>
          <p:nvPr/>
        </p:nvSpPr>
        <p:spPr>
          <a:xfrm>
            <a:off x="987552" y="4617720"/>
            <a:ext cx="2834640" cy="1005840"/>
          </a:xfrm>
          <a:prstGeom prst="rect">
            <a:avLst/>
          </a:prstGeom>
          <a:noFill/>
          <a:ln/>
        </p:spPr>
        <p:txBody>
          <a:bodyPr wrap="square" lIns="0" tIns="0" rIns="0" bIns="0" rtlCol="0" anchor="ctr"/>
          <a:lstStyle/>
          <a:p>
            <a:pPr indent="0" marL="0">
              <a:lnSpc>
                <a:spcPts val="1800"/>
              </a:lnSpc>
              <a:buNone/>
            </a:pPr>
            <a:r>
              <a:rPr lang="en-US" sz="1350" b="1" dirty="0">
                <a:solidFill>
                  <a:srgbClr val="121821"/>
                </a:solidFill>
                <a:latin typeface="Calibri" pitchFamily="34" charset="0"/>
                <a:ea typeface="Calibri" pitchFamily="34" charset="-122"/>
                <a:cs typeface="Calibri" pitchFamily="34" charset="-120"/>
              </a:rPr>
              <a:t>Notebooks are for trying things out. Anything we send comes from tested code.</a:t>
            </a:r>
            <a:endParaRPr lang="en-US" sz="1350" dirty="0"/>
          </a:p>
        </p:txBody>
      </p:sp>
      <p:sp>
        <p:nvSpPr>
          <p:cNvPr id="10" name="Text 8"/>
          <p:cNvSpPr txBox="1"/>
          <p:nvPr/>
        </p:nvSpPr>
        <p:spPr>
          <a:xfrm>
            <a:off x="4325112" y="1874520"/>
            <a:ext cx="3108960" cy="256032"/>
          </a:xfrm>
          <a:prstGeom prst="rect">
            <a:avLst/>
          </a:prstGeom>
          <a:noFill/>
          <a:ln/>
        </p:spPr>
        <p:txBody>
          <a:bodyPr wrap="square" lIns="0" tIns="0" rIns="0" bIns="0" rtlCol="0" anchor="ctr"/>
          <a:lstStyle/>
          <a:p>
            <a:pPr indent="0" marL="0">
              <a:buNone/>
            </a:pPr>
            <a:r>
              <a:rPr lang="en-US" sz="1200" b="1" spc="160" kern="0" dirty="0">
                <a:solidFill>
                  <a:srgbClr val="1F3B5C"/>
                </a:solidFill>
                <a:latin typeface="Arial" pitchFamily="34" charset="0"/>
                <a:ea typeface="Arial" pitchFamily="34" charset="-122"/>
                <a:cs typeface="Arial" pitchFamily="34" charset="-120"/>
              </a:rPr>
              <a:t>DATASETS</a:t>
            </a:r>
            <a:endParaRPr lang="en-US" sz="1200" dirty="0"/>
          </a:p>
        </p:txBody>
      </p:sp>
      <p:sp>
        <p:nvSpPr>
          <p:cNvPr id="11" name="Shape 9"/>
          <p:cNvSpPr/>
          <p:nvPr/>
        </p:nvSpPr>
        <p:spPr>
          <a:xfrm>
            <a:off x="4325112" y="2212848"/>
            <a:ext cx="3291840" cy="0"/>
          </a:xfrm>
          <a:prstGeom prst="line">
            <a:avLst/>
          </a:prstGeom>
          <a:noFill/>
          <a:ln w="12700">
            <a:solidFill>
              <a:srgbClr val="CDD4DE"/>
            </a:solidFill>
            <a:prstDash val="solid"/>
          </a:ln>
        </p:spPr>
        <p:txBody>
          <a:bodyPr/>
          <a:p/>
        </p:txBody>
      </p:sp>
      <p:sp>
        <p:nvSpPr>
          <p:cNvPr id="12" name="Text 10"/>
          <p:cNvSpPr txBox="1"/>
          <p:nvPr/>
        </p:nvSpPr>
        <p:spPr>
          <a:xfrm>
            <a:off x="4325112" y="2377440"/>
            <a:ext cx="3291840" cy="1005840"/>
          </a:xfrm>
          <a:prstGeom prst="rect">
            <a:avLst/>
          </a:prstGeom>
          <a:noFill/>
          <a:ln/>
        </p:spPr>
        <p:txBody>
          <a:bodyPr wrap="square" lIns="0" tIns="0" rIns="0" bIns="0" rtlCol="0" anchor="ctr"/>
          <a:lstStyle/>
          <a:p>
            <a:pPr indent="0" marL="0">
              <a:lnSpc>
                <a:spcPts val="1800"/>
              </a:lnSpc>
              <a:buNone/>
            </a:pPr>
            <a:r>
              <a:rPr lang="en-US" sz="1350" dirty="0">
                <a:solidFill>
                  <a:srgbClr val="121821"/>
                </a:solidFill>
                <a:latin typeface="Calibri" pitchFamily="34" charset="0"/>
                <a:ea typeface="Calibri" pitchFamily="34" charset="-122"/>
                <a:cs typeface="Calibri" pitchFamily="34" charset="-120"/>
              </a:rPr>
              <a:t>Everyone downloads every old version onto their laptop. A 2GB file every week makes it unusable in months.</a:t>
            </a:r>
            <a:endParaRPr lang="en-US" sz="1350" dirty="0"/>
          </a:p>
        </p:txBody>
      </p:sp>
      <p:sp>
        <p:nvSpPr>
          <p:cNvPr id="13" name="Text 11"/>
          <p:cNvSpPr txBox="1"/>
          <p:nvPr/>
        </p:nvSpPr>
        <p:spPr>
          <a:xfrm>
            <a:off x="4325112" y="3520440"/>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6E7A8C"/>
                </a:solidFill>
                <a:latin typeface="Calibri" pitchFamily="34" charset="0"/>
                <a:ea typeface="Calibri" pitchFamily="34" charset="-122"/>
                <a:cs typeface="Calibri" pitchFamily="34" charset="-120"/>
              </a:rPr>
              <a:t>Git LFS or DVC.</a:t>
            </a:r>
            <a:endParaRPr lang="en-US" sz="1250" dirty="0"/>
          </a:p>
          <a:p>
            <a:pPr indent="0" marL="0">
              <a:lnSpc>
                <a:spcPts val="1700"/>
              </a:lnSpc>
              <a:buNone/>
            </a:pPr>
            <a:r>
              <a:rPr lang="en-US" sz="1250" dirty="0">
                <a:solidFill>
                  <a:srgbClr val="6E7A8C"/>
                </a:solidFill>
                <a:latin typeface="Calibri" pitchFamily="34" charset="0"/>
                <a:ea typeface="Calibri" pitchFamily="34" charset="-122"/>
                <a:cs typeface="Calibri" pitchFamily="34" charset="-120"/>
              </a:rPr>
              <a:t>A note in Git, the real file elsewhere.</a:t>
            </a:r>
            <a:endParaRPr lang="en-US" sz="1250" dirty="0"/>
          </a:p>
        </p:txBody>
      </p:sp>
      <p:sp>
        <p:nvSpPr>
          <p:cNvPr id="14" name="Shape 12"/>
          <p:cNvSpPr/>
          <p:nvPr/>
        </p:nvSpPr>
        <p:spPr>
          <a:xfrm>
            <a:off x="4325112" y="4434840"/>
            <a:ext cx="3291840" cy="1371600"/>
          </a:xfrm>
          <a:prstGeom prst="rect">
            <a:avLst/>
          </a:prstGeom>
          <a:solidFill>
            <a:srgbClr val="FBF3E4"/>
          </a:solidFill>
          <a:ln w="9525">
            <a:solidFill>
              <a:srgbClr val="D9C08A"/>
            </a:solidFill>
            <a:prstDash val="solid"/>
          </a:ln>
        </p:spPr>
        <p:txBody>
          <a:bodyPr/>
          <a:p/>
        </p:txBody>
      </p:sp>
      <p:sp>
        <p:nvSpPr>
          <p:cNvPr id="15" name="Text 13"/>
          <p:cNvSpPr txBox="1"/>
          <p:nvPr/>
        </p:nvSpPr>
        <p:spPr>
          <a:xfrm>
            <a:off x="4581144" y="4617720"/>
            <a:ext cx="2834640" cy="1005840"/>
          </a:xfrm>
          <a:prstGeom prst="rect">
            <a:avLst/>
          </a:prstGeom>
          <a:noFill/>
          <a:ln/>
        </p:spPr>
        <p:txBody>
          <a:bodyPr wrap="square" lIns="0" tIns="0" rIns="0" bIns="0" rtlCol="0" anchor="ctr"/>
          <a:lstStyle/>
          <a:p>
            <a:pPr indent="0" marL="0">
              <a:lnSpc>
                <a:spcPts val="1800"/>
              </a:lnSpc>
              <a:buNone/>
            </a:pPr>
            <a:r>
              <a:rPr lang="en-US" sz="1350" b="1" dirty="0">
                <a:solidFill>
                  <a:srgbClr val="121821"/>
                </a:solidFill>
                <a:latin typeface="Calibri" pitchFamily="34" charset="0"/>
                <a:ea typeface="Calibri" pitchFamily="34" charset="-122"/>
                <a:cs typeface="Calibri" pitchFamily="34" charset="-120"/>
              </a:rPr>
              <a:t>Do not put client data in Git. Save each pull once into a folder named by date, and never edit it.</a:t>
            </a:r>
            <a:endParaRPr lang="en-US" sz="1350" dirty="0"/>
          </a:p>
        </p:txBody>
      </p:sp>
      <p:sp>
        <p:nvSpPr>
          <p:cNvPr id="16" name="Text 14"/>
          <p:cNvSpPr txBox="1"/>
          <p:nvPr/>
        </p:nvSpPr>
        <p:spPr>
          <a:xfrm>
            <a:off x="7918704" y="1874520"/>
            <a:ext cx="3108960" cy="256032"/>
          </a:xfrm>
          <a:prstGeom prst="rect">
            <a:avLst/>
          </a:prstGeom>
          <a:noFill/>
          <a:ln/>
        </p:spPr>
        <p:txBody>
          <a:bodyPr wrap="square" lIns="0" tIns="0" rIns="0" bIns="0" rtlCol="0" anchor="ctr"/>
          <a:lstStyle/>
          <a:p>
            <a:pPr indent="0" marL="0">
              <a:buNone/>
            </a:pPr>
            <a:r>
              <a:rPr lang="en-US" sz="1200" b="1" spc="160" kern="0" dirty="0">
                <a:solidFill>
                  <a:srgbClr val="1F3B5C"/>
                </a:solidFill>
                <a:latin typeface="Arial" pitchFamily="34" charset="0"/>
                <a:ea typeface="Arial" pitchFamily="34" charset="-122"/>
                <a:cs typeface="Arial" pitchFamily="34" charset="-120"/>
              </a:rPr>
              <a:t>MODELS</a:t>
            </a:r>
            <a:endParaRPr lang="en-US" sz="1200" dirty="0"/>
          </a:p>
        </p:txBody>
      </p:sp>
      <p:sp>
        <p:nvSpPr>
          <p:cNvPr id="17" name="Shape 15"/>
          <p:cNvSpPr/>
          <p:nvPr/>
        </p:nvSpPr>
        <p:spPr>
          <a:xfrm>
            <a:off x="7918704" y="2212848"/>
            <a:ext cx="3291840" cy="0"/>
          </a:xfrm>
          <a:prstGeom prst="line">
            <a:avLst/>
          </a:prstGeom>
          <a:noFill/>
          <a:ln w="12700">
            <a:solidFill>
              <a:srgbClr val="CDD4DE"/>
            </a:solidFill>
            <a:prstDash val="solid"/>
          </a:ln>
        </p:spPr>
        <p:txBody>
          <a:bodyPr/>
          <a:p/>
        </p:txBody>
      </p:sp>
      <p:sp>
        <p:nvSpPr>
          <p:cNvPr id="18" name="Text 16"/>
          <p:cNvSpPr txBox="1"/>
          <p:nvPr/>
        </p:nvSpPr>
        <p:spPr>
          <a:xfrm>
            <a:off x="7918704" y="2377440"/>
            <a:ext cx="3291840" cy="1005840"/>
          </a:xfrm>
          <a:prstGeom prst="rect">
            <a:avLst/>
          </a:prstGeom>
          <a:noFill/>
          <a:ln/>
        </p:spPr>
        <p:txBody>
          <a:bodyPr wrap="square" lIns="0" tIns="0" rIns="0" bIns="0" rtlCol="0" anchor="ctr"/>
          <a:lstStyle/>
          <a:p>
            <a:pPr indent="0" marL="0">
              <a:lnSpc>
                <a:spcPts val="1800"/>
              </a:lnSpc>
              <a:buNone/>
            </a:pPr>
            <a:r>
              <a:rPr lang="en-US" sz="1350" dirty="0">
                <a:solidFill>
                  <a:srgbClr val="121821"/>
                </a:solidFill>
                <a:latin typeface="Calibri" pitchFamily="34" charset="0"/>
                <a:ea typeface="Calibri" pitchFamily="34" charset="-122"/>
                <a:cs typeface="Calibri" pitchFamily="34" charset="-120"/>
              </a:rPr>
              <a:t>Change one line of code and the whole file is different, so Git cannot store it efficiently.</a:t>
            </a:r>
            <a:endParaRPr lang="en-US" sz="1350" dirty="0"/>
          </a:p>
        </p:txBody>
      </p:sp>
      <p:sp>
        <p:nvSpPr>
          <p:cNvPr id="19" name="Text 17"/>
          <p:cNvSpPr txBox="1"/>
          <p:nvPr/>
        </p:nvSpPr>
        <p:spPr>
          <a:xfrm>
            <a:off x="7918704" y="3520440"/>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6E7A8C"/>
                </a:solidFill>
                <a:latin typeface="Calibri" pitchFamily="34" charset="0"/>
                <a:ea typeface="Calibri" pitchFamily="34" charset="-122"/>
                <a:cs typeface="Calibri" pitchFamily="34" charset="-120"/>
              </a:rPr>
              <a:t>A tool like MLflow records</a:t>
            </a:r>
            <a:endParaRPr lang="en-US" sz="1250" dirty="0"/>
          </a:p>
          <a:p>
            <a:pPr indent="0" marL="0">
              <a:lnSpc>
                <a:spcPts val="1700"/>
              </a:lnSpc>
              <a:buNone/>
            </a:pPr>
            <a:r>
              <a:rPr lang="en-US" sz="1250" dirty="0">
                <a:solidFill>
                  <a:srgbClr val="6E7A8C"/>
                </a:solidFill>
                <a:latin typeface="Calibri" pitchFamily="34" charset="0"/>
                <a:ea typeface="Calibri" pitchFamily="34" charset="-122"/>
                <a:cs typeface="Calibri" pitchFamily="34" charset="-120"/>
              </a:rPr>
              <a:t>how each model was made.</a:t>
            </a:r>
            <a:endParaRPr lang="en-US" sz="1250" dirty="0"/>
          </a:p>
        </p:txBody>
      </p:sp>
      <p:sp>
        <p:nvSpPr>
          <p:cNvPr id="20" name="Shape 18"/>
          <p:cNvSpPr/>
          <p:nvPr/>
        </p:nvSpPr>
        <p:spPr>
          <a:xfrm>
            <a:off x="7918704" y="4434840"/>
            <a:ext cx="3291840" cy="1371600"/>
          </a:xfrm>
          <a:prstGeom prst="rect">
            <a:avLst/>
          </a:prstGeom>
          <a:solidFill>
            <a:srgbClr val="FBF3E4"/>
          </a:solidFill>
          <a:ln w="9525">
            <a:solidFill>
              <a:srgbClr val="D9C08A"/>
            </a:solidFill>
            <a:prstDash val="solid"/>
          </a:ln>
        </p:spPr>
        <p:txBody>
          <a:bodyPr/>
          <a:p/>
        </p:txBody>
      </p:sp>
      <p:sp>
        <p:nvSpPr>
          <p:cNvPr id="21" name="Text 19"/>
          <p:cNvSpPr txBox="1"/>
          <p:nvPr/>
        </p:nvSpPr>
        <p:spPr>
          <a:xfrm>
            <a:off x="8174736" y="4617720"/>
            <a:ext cx="2834640" cy="1005840"/>
          </a:xfrm>
          <a:prstGeom prst="rect">
            <a:avLst/>
          </a:prstGeom>
          <a:noFill/>
          <a:ln/>
        </p:spPr>
        <p:txBody>
          <a:bodyPr wrap="square" lIns="0" tIns="0" rIns="0" bIns="0" rtlCol="0" anchor="ctr"/>
          <a:lstStyle/>
          <a:p>
            <a:pPr indent="0" marL="0">
              <a:lnSpc>
                <a:spcPts val="1800"/>
              </a:lnSpc>
              <a:buNone/>
            </a:pPr>
            <a:r>
              <a:rPr lang="en-US" sz="1350" b="1" dirty="0">
                <a:solidFill>
                  <a:srgbClr val="121821"/>
                </a:solidFill>
                <a:latin typeface="Calibri" pitchFamily="34" charset="0"/>
                <a:ea typeface="Calibri" pitchFamily="34" charset="-122"/>
                <a:cs typeface="Calibri" pitchFamily="34" charset="-120"/>
              </a:rPr>
              <a:t>Save it by date with a note saying which code made it. MLflow later if we need it.</a:t>
            </a:r>
            <a:endParaRPr lang="en-US" sz="1350" dirty="0"/>
          </a:p>
        </p:txBody>
      </p:sp>
      <p:sp>
        <p:nvSpPr>
          <p:cNvPr id="22" name="Text 20"/>
          <p:cNvSpPr txBox="1"/>
          <p:nvPr/>
        </p:nvSpPr>
        <p:spPr>
          <a:xfrm>
            <a:off x="731520" y="6035040"/>
            <a:ext cx="10698480" cy="329184"/>
          </a:xfrm>
          <a:prstGeom prst="rect">
            <a:avLst/>
          </a:prstGeom>
          <a:noFill/>
          <a:ln/>
        </p:spPr>
        <p:txBody>
          <a:bodyPr wrap="square" lIns="0" tIns="0" rIns="0" bIns="0" rtlCol="0" anchor="ctr"/>
          <a:lstStyle/>
          <a:p>
            <a:pPr indent="0" marL="0">
              <a:buNone/>
            </a:pPr>
            <a:r>
              <a:rPr lang="en-US" sz="1500" b="1" dirty="0">
                <a:solidFill>
                  <a:srgbClr val="1F3B5C"/>
                </a:solidFill>
                <a:latin typeface="Calibri" pitchFamily="34" charset="0"/>
                <a:ea typeface="Calibri" pitchFamily="34" charset="-122"/>
                <a:cs typeface="Calibri" pitchFamily="34" charset="-120"/>
              </a:rPr>
              <a:t>The notebook rule is the one everything else depends 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B5C"/>
        </a:solidFill>
      </p:bgPr>
    </p:bg>
    <p:spTree>
      <p:nvGrpSpPr>
        <p:cNvPr id="1" name=""/>
        <p:cNvGrpSpPr/>
        <p:nvPr/>
      </p:nvGrpSpPr>
      <p:grpSpPr>
        <a:xfrm>
          <a:off x="0" y="0"/>
          <a:ext cx="0" cy="0"/>
          <a:chOff x="0" y="0"/>
          <a:chExt cx="0" cy="0"/>
        </a:xfrm>
      </p:grpSpPr>
      <p:sp>
        <p:nvSpPr>
          <p:cNvPr id="2" name="Text 0"/>
          <p:cNvSpPr txBox="1"/>
          <p:nvPr/>
        </p:nvSpPr>
        <p:spPr>
          <a:xfrm>
            <a:off x="731520" y="777240"/>
            <a:ext cx="10698480" cy="237744"/>
          </a:xfrm>
          <a:prstGeom prst="rect">
            <a:avLst/>
          </a:prstGeom>
          <a:noFill/>
          <a:ln/>
        </p:spPr>
        <p:txBody>
          <a:bodyPr wrap="square" lIns="0" tIns="0" rIns="0" bIns="0" rtlCol="0" anchor="ctr"/>
          <a:lstStyle/>
          <a:p>
            <a:pPr indent="0" marL="0">
              <a:buNone/>
            </a:pPr>
            <a:r>
              <a:rPr lang="en-US" sz="1050" b="1" spc="200" kern="0" dirty="0">
                <a:solidFill>
                  <a:srgbClr val="D6A24A"/>
                </a:solidFill>
                <a:latin typeface="Arial" pitchFamily="34" charset="0"/>
                <a:ea typeface="Arial" pitchFamily="34" charset="-122"/>
                <a:cs typeface="Arial" pitchFamily="34" charset="-120"/>
              </a:rPr>
              <a:t>REBUILDING LAST MONTH</a:t>
            </a:r>
            <a:endParaRPr lang="en-US" sz="1050" dirty="0"/>
          </a:p>
        </p:txBody>
      </p:sp>
      <p:sp>
        <p:nvSpPr>
          <p:cNvPr id="3" name="Text 1"/>
          <p:cNvSpPr txBox="1"/>
          <p:nvPr/>
        </p:nvSpPr>
        <p:spPr>
          <a:xfrm>
            <a:off x="731520" y="1188720"/>
            <a:ext cx="1069848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Five things pinned</a:t>
            </a:r>
            <a:endParaRPr lang="en-US" sz="3600" dirty="0"/>
          </a:p>
        </p:txBody>
      </p:sp>
      <p:sp>
        <p:nvSpPr>
          <p:cNvPr id="4" name="Text 2"/>
          <p:cNvSpPr txBox="1"/>
          <p:nvPr/>
        </p:nvSpPr>
        <p:spPr>
          <a:xfrm>
            <a:off x="731520" y="1874520"/>
            <a:ext cx="10698480" cy="365760"/>
          </a:xfrm>
          <a:prstGeom prst="rect">
            <a:avLst/>
          </a:prstGeom>
          <a:noFill/>
          <a:ln/>
        </p:spPr>
        <p:txBody>
          <a:bodyPr wrap="square" lIns="0" tIns="0" rIns="0" bIns="0" rtlCol="0" anchor="ctr"/>
          <a:lstStyle/>
          <a:p>
            <a:pPr indent="0" marL="0">
              <a:buNone/>
            </a:pPr>
            <a:r>
              <a:rPr lang="en-US" sz="1600" dirty="0">
                <a:solidFill>
                  <a:srgbClr val="8FA6C2"/>
                </a:solidFill>
                <a:latin typeface="Calibri" pitchFamily="34" charset="0"/>
                <a:ea typeface="Calibri" pitchFamily="34" charset="-122"/>
                <a:cs typeface="Calibri" pitchFamily="34" charset="-120"/>
              </a:rPr>
              <a:t>Miss one and it does not rebuild.</a:t>
            </a:r>
            <a:endParaRPr lang="en-US" sz="1600" dirty="0"/>
          </a:p>
        </p:txBody>
      </p:sp>
      <p:sp>
        <p:nvSpPr>
          <p:cNvPr id="5" name="Shape 3"/>
          <p:cNvSpPr/>
          <p:nvPr/>
        </p:nvSpPr>
        <p:spPr>
          <a:xfrm>
            <a:off x="914400" y="2862072"/>
            <a:ext cx="0" cy="685800"/>
          </a:xfrm>
          <a:prstGeom prst="line">
            <a:avLst/>
          </a:prstGeom>
          <a:noFill/>
          <a:ln w="16510">
            <a:solidFill>
              <a:srgbClr val="4A6C93"/>
            </a:solidFill>
            <a:prstDash val="solid"/>
          </a:ln>
        </p:spPr>
        <p:txBody>
          <a:bodyPr/>
          <a:p/>
        </p:txBody>
      </p:sp>
      <p:sp>
        <p:nvSpPr>
          <p:cNvPr id="6" name="Shape 4"/>
          <p:cNvSpPr/>
          <p:nvPr/>
        </p:nvSpPr>
        <p:spPr>
          <a:xfrm>
            <a:off x="836676" y="2784348"/>
            <a:ext cx="155448" cy="155448"/>
          </a:xfrm>
          <a:prstGeom prst="ellipse">
            <a:avLst/>
          </a:prstGeom>
          <a:solidFill>
            <a:srgbClr val="D6A24A"/>
          </a:solidFill>
          <a:ln w="12700">
            <a:solidFill>
              <a:srgbClr val="D6A24A"/>
            </a:solidFill>
            <a:prstDash val="solid"/>
          </a:ln>
        </p:spPr>
        <p:txBody>
          <a:bodyPr/>
          <a:p/>
        </p:txBody>
      </p:sp>
      <p:sp>
        <p:nvSpPr>
          <p:cNvPr id="7" name="Text 5"/>
          <p:cNvSpPr txBox="1"/>
          <p:nvPr/>
        </p:nvSpPr>
        <p:spPr>
          <a:xfrm>
            <a:off x="1280160" y="2697480"/>
            <a:ext cx="2377440"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Code</a:t>
            </a:r>
            <a:endParaRPr lang="en-US" sz="1800" dirty="0"/>
          </a:p>
        </p:txBody>
      </p:sp>
      <p:sp>
        <p:nvSpPr>
          <p:cNvPr id="8" name="Text 6"/>
          <p:cNvSpPr txBox="1"/>
          <p:nvPr/>
        </p:nvSpPr>
        <p:spPr>
          <a:xfrm>
            <a:off x="3749040" y="2724912"/>
            <a:ext cx="7315200" cy="292608"/>
          </a:xfrm>
          <a:prstGeom prst="rect">
            <a:avLst/>
          </a:prstGeom>
          <a:noFill/>
          <a:ln/>
        </p:spPr>
        <p:txBody>
          <a:bodyPr wrap="square" lIns="0" tIns="0" rIns="0" bIns="0" rtlCol="0" anchor="ctr"/>
          <a:lstStyle/>
          <a:p>
            <a:pPr indent="0" marL="0">
              <a:buNone/>
            </a:pPr>
            <a:r>
              <a:rPr lang="en-US" sz="1500" dirty="0">
                <a:solidFill>
                  <a:srgbClr val="C3D2E2"/>
                </a:solidFill>
                <a:latin typeface="Calibri" pitchFamily="34" charset="0"/>
                <a:ea typeface="Calibri" pitchFamily="34" charset="-122"/>
                <a:cs typeface="Calibri" pitchFamily="34" charset="-120"/>
              </a:rPr>
              <a:t>which version of the code, found by its label</a:t>
            </a:r>
            <a:endParaRPr lang="en-US" sz="1500" dirty="0"/>
          </a:p>
        </p:txBody>
      </p:sp>
      <p:sp>
        <p:nvSpPr>
          <p:cNvPr id="9" name="Shape 7"/>
          <p:cNvSpPr/>
          <p:nvPr/>
        </p:nvSpPr>
        <p:spPr>
          <a:xfrm>
            <a:off x="914400" y="3547872"/>
            <a:ext cx="0" cy="685800"/>
          </a:xfrm>
          <a:prstGeom prst="line">
            <a:avLst/>
          </a:prstGeom>
          <a:noFill/>
          <a:ln w="16510">
            <a:solidFill>
              <a:srgbClr val="4A6C93"/>
            </a:solidFill>
            <a:prstDash val="solid"/>
          </a:ln>
        </p:spPr>
        <p:txBody>
          <a:bodyPr/>
          <a:p/>
        </p:txBody>
      </p:sp>
      <p:sp>
        <p:nvSpPr>
          <p:cNvPr id="10" name="Shape 8"/>
          <p:cNvSpPr/>
          <p:nvPr/>
        </p:nvSpPr>
        <p:spPr>
          <a:xfrm>
            <a:off x="836676" y="3470148"/>
            <a:ext cx="155448" cy="155448"/>
          </a:xfrm>
          <a:prstGeom prst="ellipse">
            <a:avLst/>
          </a:prstGeom>
          <a:solidFill>
            <a:srgbClr val="D6A24A"/>
          </a:solidFill>
          <a:ln w="12700">
            <a:solidFill>
              <a:srgbClr val="D6A24A"/>
            </a:solidFill>
            <a:prstDash val="solid"/>
          </a:ln>
        </p:spPr>
        <p:txBody>
          <a:bodyPr/>
          <a:p/>
        </p:txBody>
      </p:sp>
      <p:sp>
        <p:nvSpPr>
          <p:cNvPr id="11" name="Text 9"/>
          <p:cNvSpPr txBox="1"/>
          <p:nvPr/>
        </p:nvSpPr>
        <p:spPr>
          <a:xfrm>
            <a:off x="1280160" y="3383280"/>
            <a:ext cx="2377440"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Data</a:t>
            </a:r>
            <a:endParaRPr lang="en-US" sz="1800" dirty="0"/>
          </a:p>
        </p:txBody>
      </p:sp>
      <p:sp>
        <p:nvSpPr>
          <p:cNvPr id="12" name="Text 10"/>
          <p:cNvSpPr txBox="1"/>
          <p:nvPr/>
        </p:nvSpPr>
        <p:spPr>
          <a:xfrm>
            <a:off x="3749040" y="3410712"/>
            <a:ext cx="7315200" cy="292608"/>
          </a:xfrm>
          <a:prstGeom prst="rect">
            <a:avLst/>
          </a:prstGeom>
          <a:noFill/>
          <a:ln/>
        </p:spPr>
        <p:txBody>
          <a:bodyPr wrap="square" lIns="0" tIns="0" rIns="0" bIns="0" rtlCol="0" anchor="ctr"/>
          <a:lstStyle/>
          <a:p>
            <a:pPr indent="0" marL="0">
              <a:buNone/>
            </a:pPr>
            <a:r>
              <a:rPr lang="en-US" sz="1500" dirty="0">
                <a:solidFill>
                  <a:srgbClr val="C3D2E2"/>
                </a:solidFill>
                <a:latin typeface="Calibri" pitchFamily="34" charset="0"/>
                <a:ea typeface="Calibri" pitchFamily="34" charset="-122"/>
                <a:cs typeface="Calibri" pitchFamily="34" charset="-120"/>
              </a:rPr>
              <a:t>a folder named by date that nobody edits</a:t>
            </a:r>
            <a:endParaRPr lang="en-US" sz="1500" dirty="0"/>
          </a:p>
        </p:txBody>
      </p:sp>
      <p:sp>
        <p:nvSpPr>
          <p:cNvPr id="13" name="Shape 11"/>
          <p:cNvSpPr/>
          <p:nvPr/>
        </p:nvSpPr>
        <p:spPr>
          <a:xfrm>
            <a:off x="914400" y="4233672"/>
            <a:ext cx="0" cy="685800"/>
          </a:xfrm>
          <a:prstGeom prst="line">
            <a:avLst/>
          </a:prstGeom>
          <a:noFill/>
          <a:ln w="16510">
            <a:solidFill>
              <a:srgbClr val="4A6C93"/>
            </a:solidFill>
            <a:prstDash val="solid"/>
          </a:ln>
        </p:spPr>
        <p:txBody>
          <a:bodyPr/>
          <a:p/>
        </p:txBody>
      </p:sp>
      <p:sp>
        <p:nvSpPr>
          <p:cNvPr id="14" name="Shape 12"/>
          <p:cNvSpPr/>
          <p:nvPr/>
        </p:nvSpPr>
        <p:spPr>
          <a:xfrm>
            <a:off x="836676" y="4155948"/>
            <a:ext cx="155448" cy="155448"/>
          </a:xfrm>
          <a:prstGeom prst="ellipse">
            <a:avLst/>
          </a:prstGeom>
          <a:solidFill>
            <a:srgbClr val="D6A24A"/>
          </a:solidFill>
          <a:ln w="12700">
            <a:solidFill>
              <a:srgbClr val="D6A24A"/>
            </a:solidFill>
            <a:prstDash val="solid"/>
          </a:ln>
        </p:spPr>
        <p:txBody>
          <a:bodyPr/>
          <a:p/>
        </p:txBody>
      </p:sp>
      <p:sp>
        <p:nvSpPr>
          <p:cNvPr id="15" name="Text 13"/>
          <p:cNvSpPr txBox="1"/>
          <p:nvPr/>
        </p:nvSpPr>
        <p:spPr>
          <a:xfrm>
            <a:off x="1280160" y="4069080"/>
            <a:ext cx="2377440"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Environment</a:t>
            </a:r>
            <a:endParaRPr lang="en-US" sz="1800" dirty="0"/>
          </a:p>
        </p:txBody>
      </p:sp>
      <p:sp>
        <p:nvSpPr>
          <p:cNvPr id="16" name="Text 14"/>
          <p:cNvSpPr txBox="1"/>
          <p:nvPr/>
        </p:nvSpPr>
        <p:spPr>
          <a:xfrm>
            <a:off x="3749040" y="4096512"/>
            <a:ext cx="7315200" cy="292608"/>
          </a:xfrm>
          <a:prstGeom prst="rect">
            <a:avLst/>
          </a:prstGeom>
          <a:noFill/>
          <a:ln/>
        </p:spPr>
        <p:txBody>
          <a:bodyPr wrap="square" lIns="0" tIns="0" rIns="0" bIns="0" rtlCol="0" anchor="ctr"/>
          <a:lstStyle/>
          <a:p>
            <a:pPr indent="0" marL="0">
              <a:buNone/>
            </a:pPr>
            <a:r>
              <a:rPr lang="en-US" sz="1500" dirty="0">
                <a:solidFill>
                  <a:srgbClr val="C3D2E2"/>
                </a:solidFill>
                <a:latin typeface="Calibri" pitchFamily="34" charset="0"/>
                <a:ea typeface="Calibri" pitchFamily="34" charset="-122"/>
                <a:cs typeface="Calibri" pitchFamily="34" charset="-120"/>
              </a:rPr>
              <a:t>the exact software versions, not roughly which ones</a:t>
            </a:r>
            <a:endParaRPr lang="en-US" sz="1500" dirty="0"/>
          </a:p>
        </p:txBody>
      </p:sp>
      <p:sp>
        <p:nvSpPr>
          <p:cNvPr id="17" name="Shape 15"/>
          <p:cNvSpPr/>
          <p:nvPr/>
        </p:nvSpPr>
        <p:spPr>
          <a:xfrm>
            <a:off x="914400" y="4919472"/>
            <a:ext cx="0" cy="685800"/>
          </a:xfrm>
          <a:prstGeom prst="line">
            <a:avLst/>
          </a:prstGeom>
          <a:noFill/>
          <a:ln w="16510">
            <a:solidFill>
              <a:srgbClr val="4A6C93"/>
            </a:solidFill>
            <a:prstDash val="solid"/>
          </a:ln>
        </p:spPr>
        <p:txBody>
          <a:bodyPr/>
          <a:p/>
        </p:txBody>
      </p:sp>
      <p:sp>
        <p:nvSpPr>
          <p:cNvPr id="18" name="Shape 16"/>
          <p:cNvSpPr/>
          <p:nvPr/>
        </p:nvSpPr>
        <p:spPr>
          <a:xfrm>
            <a:off x="836676" y="4841748"/>
            <a:ext cx="155448" cy="155448"/>
          </a:xfrm>
          <a:prstGeom prst="ellipse">
            <a:avLst/>
          </a:prstGeom>
          <a:solidFill>
            <a:srgbClr val="D6A24A"/>
          </a:solidFill>
          <a:ln w="12700">
            <a:solidFill>
              <a:srgbClr val="D6A24A"/>
            </a:solidFill>
            <a:prstDash val="solid"/>
          </a:ln>
        </p:spPr>
        <p:txBody>
          <a:bodyPr/>
          <a:p/>
        </p:txBody>
      </p:sp>
      <p:sp>
        <p:nvSpPr>
          <p:cNvPr id="19" name="Text 17"/>
          <p:cNvSpPr txBox="1"/>
          <p:nvPr/>
        </p:nvSpPr>
        <p:spPr>
          <a:xfrm>
            <a:off x="1280160" y="4754880"/>
            <a:ext cx="2377440"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Parameters</a:t>
            </a:r>
            <a:endParaRPr lang="en-US" sz="1800" dirty="0"/>
          </a:p>
        </p:txBody>
      </p:sp>
      <p:sp>
        <p:nvSpPr>
          <p:cNvPr id="20" name="Text 18"/>
          <p:cNvSpPr txBox="1"/>
          <p:nvPr/>
        </p:nvSpPr>
        <p:spPr>
          <a:xfrm>
            <a:off x="3749040" y="4782312"/>
            <a:ext cx="7315200" cy="292608"/>
          </a:xfrm>
          <a:prstGeom prst="rect">
            <a:avLst/>
          </a:prstGeom>
          <a:noFill/>
          <a:ln/>
        </p:spPr>
        <p:txBody>
          <a:bodyPr wrap="square" lIns="0" tIns="0" rIns="0" bIns="0" rtlCol="0" anchor="ctr"/>
          <a:lstStyle/>
          <a:p>
            <a:pPr indent="0" marL="0">
              <a:buNone/>
            </a:pPr>
            <a:r>
              <a:rPr lang="en-US" sz="1500" dirty="0">
                <a:solidFill>
                  <a:srgbClr val="C3D2E2"/>
                </a:solidFill>
                <a:latin typeface="Calibri" pitchFamily="34" charset="0"/>
                <a:ea typeface="Calibri" pitchFamily="34" charset="-122"/>
                <a:cs typeface="Calibri" pitchFamily="34" charset="-120"/>
              </a:rPr>
              <a:t>settings kept in a file, not typed into a notebook</a:t>
            </a:r>
            <a:endParaRPr lang="en-US" sz="1500" dirty="0"/>
          </a:p>
        </p:txBody>
      </p:sp>
      <p:sp>
        <p:nvSpPr>
          <p:cNvPr id="21" name="Shape 19"/>
          <p:cNvSpPr/>
          <p:nvPr/>
        </p:nvSpPr>
        <p:spPr>
          <a:xfrm>
            <a:off x="836676" y="5527548"/>
            <a:ext cx="155448" cy="155448"/>
          </a:xfrm>
          <a:prstGeom prst="ellipse">
            <a:avLst/>
          </a:prstGeom>
          <a:solidFill>
            <a:srgbClr val="D6A24A"/>
          </a:solidFill>
          <a:ln w="12700">
            <a:solidFill>
              <a:srgbClr val="D6A24A"/>
            </a:solidFill>
            <a:prstDash val="solid"/>
          </a:ln>
        </p:spPr>
        <p:txBody>
          <a:bodyPr/>
          <a:p/>
        </p:txBody>
      </p:sp>
      <p:sp>
        <p:nvSpPr>
          <p:cNvPr id="22" name="Text 20"/>
          <p:cNvSpPr txBox="1"/>
          <p:nvPr/>
        </p:nvSpPr>
        <p:spPr>
          <a:xfrm>
            <a:off x="1280160" y="5440680"/>
            <a:ext cx="2377440"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Randomness</a:t>
            </a:r>
            <a:endParaRPr lang="en-US" sz="1800" dirty="0"/>
          </a:p>
        </p:txBody>
      </p:sp>
      <p:sp>
        <p:nvSpPr>
          <p:cNvPr id="23" name="Text 21"/>
          <p:cNvSpPr txBox="1"/>
          <p:nvPr/>
        </p:nvSpPr>
        <p:spPr>
          <a:xfrm>
            <a:off x="3749040" y="5468112"/>
            <a:ext cx="7315200" cy="292608"/>
          </a:xfrm>
          <a:prstGeom prst="rect">
            <a:avLst/>
          </a:prstGeom>
          <a:noFill/>
          <a:ln/>
        </p:spPr>
        <p:txBody>
          <a:bodyPr wrap="square" lIns="0" tIns="0" rIns="0" bIns="0" rtlCol="0" anchor="ctr"/>
          <a:lstStyle/>
          <a:p>
            <a:pPr indent="0" marL="0">
              <a:buNone/>
            </a:pPr>
            <a:r>
              <a:rPr lang="en-US" sz="1500" dirty="0">
                <a:solidFill>
                  <a:srgbClr val="C3D2E2"/>
                </a:solidFill>
                <a:latin typeface="Calibri" pitchFamily="34" charset="0"/>
                <a:ea typeface="Calibri" pitchFamily="34" charset="-122"/>
                <a:cs typeface="Calibri" pitchFamily="34" charset="-120"/>
              </a:rPr>
              <a:t>the random seed, set in one place</a:t>
            </a:r>
            <a:endParaRPr lang="en-US" sz="1500" dirty="0"/>
          </a:p>
        </p:txBody>
      </p:sp>
      <p:sp>
        <p:nvSpPr>
          <p:cNvPr id="24" name="Text 22"/>
          <p:cNvSpPr txBox="1"/>
          <p:nvPr/>
        </p:nvSpPr>
        <p:spPr>
          <a:xfrm>
            <a:off x="731520" y="6172200"/>
            <a:ext cx="10698480" cy="292608"/>
          </a:xfrm>
          <a:prstGeom prst="rect">
            <a:avLst/>
          </a:prstGeom>
          <a:noFill/>
          <a:ln/>
        </p:spPr>
        <p:txBody>
          <a:bodyPr wrap="square" lIns="0" tIns="0" rIns="0" bIns="0" rtlCol="0" anchor="ctr"/>
          <a:lstStyle/>
          <a:p>
            <a:pPr indent="0" marL="0">
              <a:buNone/>
            </a:pPr>
            <a:r>
              <a:rPr lang="en-US" sz="1400" i="1" dirty="0">
                <a:solidFill>
                  <a:srgbClr val="7C93AE"/>
                </a:solidFill>
                <a:latin typeface="Calibri" pitchFamily="34" charset="0"/>
                <a:ea typeface="Calibri" pitchFamily="34" charset="-122"/>
                <a:cs typeface="Calibri" pitchFamily="34" charset="-120"/>
              </a:rPr>
              <a:t>Most people pin the code and stop.</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7</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The whole loop</a:t>
            </a:r>
            <a:endParaRPr lang="en-US" sz="3300" dirty="0"/>
          </a:p>
        </p:txBody>
      </p:sp>
      <p:sp>
        <p:nvSpPr>
          <p:cNvPr id="4" name="Shape 2"/>
          <p:cNvSpPr/>
          <p:nvPr/>
        </p:nvSpPr>
        <p:spPr>
          <a:xfrm>
            <a:off x="731520" y="2011680"/>
            <a:ext cx="3291840" cy="1005840"/>
          </a:xfrm>
          <a:prstGeom prst="rect">
            <a:avLst/>
          </a:prstGeom>
          <a:solidFill>
            <a:srgbClr val="FFFFFF"/>
          </a:solidFill>
          <a:ln w="9525">
            <a:solidFill>
              <a:srgbClr val="CDD4DE"/>
            </a:solidFill>
            <a:prstDash val="solid"/>
          </a:ln>
        </p:spPr>
        <p:txBody>
          <a:bodyPr/>
          <a:p/>
        </p:txBody>
      </p:sp>
      <p:sp>
        <p:nvSpPr>
          <p:cNvPr id="5" name="Shape 3"/>
          <p:cNvSpPr/>
          <p:nvPr/>
        </p:nvSpPr>
        <p:spPr>
          <a:xfrm>
            <a:off x="969264" y="2212848"/>
            <a:ext cx="292608" cy="292608"/>
          </a:xfrm>
          <a:prstGeom prst="ellipse">
            <a:avLst/>
          </a:prstGeom>
          <a:solidFill>
            <a:srgbClr val="1F3B5C"/>
          </a:solidFill>
          <a:ln w="12700">
            <a:solidFill>
              <a:srgbClr val="1F3B5C"/>
            </a:solidFill>
            <a:prstDash val="solid"/>
          </a:ln>
        </p:spPr>
        <p:txBody>
          <a:bodyPr/>
          <a:p/>
        </p:txBody>
      </p:sp>
      <p:sp>
        <p:nvSpPr>
          <p:cNvPr id="6" name="Text 4"/>
          <p:cNvSpPr txBox="1"/>
          <p:nvPr/>
        </p:nvSpPr>
        <p:spPr>
          <a:xfrm>
            <a:off x="969264" y="224942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371600" y="221284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Branch</a:t>
            </a:r>
            <a:endParaRPr lang="en-US" sz="1500" dirty="0"/>
          </a:p>
        </p:txBody>
      </p:sp>
      <p:sp>
        <p:nvSpPr>
          <p:cNvPr id="8" name="Text 6"/>
          <p:cNvSpPr txBox="1"/>
          <p:nvPr/>
        </p:nvSpPr>
        <p:spPr>
          <a:xfrm>
            <a:off x="1371600" y="252374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off an up to date main</a:t>
            </a:r>
            <a:endParaRPr lang="en-US" sz="1200" dirty="0"/>
          </a:p>
        </p:txBody>
      </p:sp>
      <p:sp>
        <p:nvSpPr>
          <p:cNvPr id="9" name="Shape 7"/>
          <p:cNvSpPr/>
          <p:nvPr/>
        </p:nvSpPr>
        <p:spPr>
          <a:xfrm>
            <a:off x="4325112" y="2011680"/>
            <a:ext cx="3291840" cy="1005840"/>
          </a:xfrm>
          <a:prstGeom prst="rect">
            <a:avLst/>
          </a:prstGeom>
          <a:solidFill>
            <a:srgbClr val="FFFFFF"/>
          </a:solidFill>
          <a:ln w="9525">
            <a:solidFill>
              <a:srgbClr val="CDD4DE"/>
            </a:solidFill>
            <a:prstDash val="solid"/>
          </a:ln>
        </p:spPr>
        <p:txBody>
          <a:bodyPr/>
          <a:p/>
        </p:txBody>
      </p:sp>
      <p:sp>
        <p:nvSpPr>
          <p:cNvPr id="10" name="Shape 8"/>
          <p:cNvSpPr/>
          <p:nvPr/>
        </p:nvSpPr>
        <p:spPr>
          <a:xfrm>
            <a:off x="4562856" y="2212848"/>
            <a:ext cx="292608" cy="292608"/>
          </a:xfrm>
          <a:prstGeom prst="ellipse">
            <a:avLst/>
          </a:prstGeom>
          <a:solidFill>
            <a:srgbClr val="1F3B5C"/>
          </a:solidFill>
          <a:ln w="12700">
            <a:solidFill>
              <a:srgbClr val="1F3B5C"/>
            </a:solidFill>
            <a:prstDash val="solid"/>
          </a:ln>
        </p:spPr>
        <p:txBody>
          <a:bodyPr/>
          <a:p/>
        </p:txBody>
      </p:sp>
      <p:sp>
        <p:nvSpPr>
          <p:cNvPr id="11" name="Text 9"/>
          <p:cNvSpPr txBox="1"/>
          <p:nvPr/>
        </p:nvSpPr>
        <p:spPr>
          <a:xfrm>
            <a:off x="4562856" y="224942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txBox="1"/>
          <p:nvPr/>
        </p:nvSpPr>
        <p:spPr>
          <a:xfrm>
            <a:off x="4965192" y="221284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Commit small</a:t>
            </a:r>
            <a:endParaRPr lang="en-US" sz="1500" dirty="0"/>
          </a:p>
        </p:txBody>
      </p:sp>
      <p:sp>
        <p:nvSpPr>
          <p:cNvPr id="13" name="Text 11"/>
          <p:cNvSpPr txBox="1"/>
          <p:nvPr/>
        </p:nvSpPr>
        <p:spPr>
          <a:xfrm>
            <a:off x="4965192" y="252374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pull main daily</a:t>
            </a:r>
            <a:endParaRPr lang="en-US" sz="1200" dirty="0"/>
          </a:p>
        </p:txBody>
      </p:sp>
      <p:sp>
        <p:nvSpPr>
          <p:cNvPr id="14" name="Shape 12"/>
          <p:cNvSpPr/>
          <p:nvPr/>
        </p:nvSpPr>
        <p:spPr>
          <a:xfrm>
            <a:off x="7918704" y="2011680"/>
            <a:ext cx="3291840" cy="1005840"/>
          </a:xfrm>
          <a:prstGeom prst="rect">
            <a:avLst/>
          </a:prstGeom>
          <a:solidFill>
            <a:srgbClr val="FFFFFF"/>
          </a:solidFill>
          <a:ln w="9525">
            <a:solidFill>
              <a:srgbClr val="CDD4DE"/>
            </a:solidFill>
            <a:prstDash val="solid"/>
          </a:ln>
        </p:spPr>
        <p:txBody>
          <a:bodyPr/>
          <a:p/>
        </p:txBody>
      </p:sp>
      <p:sp>
        <p:nvSpPr>
          <p:cNvPr id="15" name="Shape 13"/>
          <p:cNvSpPr/>
          <p:nvPr/>
        </p:nvSpPr>
        <p:spPr>
          <a:xfrm>
            <a:off x="8156448" y="2212848"/>
            <a:ext cx="292608" cy="292608"/>
          </a:xfrm>
          <a:prstGeom prst="ellipse">
            <a:avLst/>
          </a:prstGeom>
          <a:solidFill>
            <a:srgbClr val="1F3B5C"/>
          </a:solidFill>
          <a:ln w="12700">
            <a:solidFill>
              <a:srgbClr val="1F3B5C"/>
            </a:solidFill>
            <a:prstDash val="solid"/>
          </a:ln>
        </p:spPr>
        <p:txBody>
          <a:bodyPr/>
          <a:p/>
        </p:txBody>
      </p:sp>
      <p:sp>
        <p:nvSpPr>
          <p:cNvPr id="16" name="Text 14"/>
          <p:cNvSpPr txBox="1"/>
          <p:nvPr/>
        </p:nvSpPr>
        <p:spPr>
          <a:xfrm>
            <a:off x="8156448" y="224942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Text 15"/>
          <p:cNvSpPr txBox="1"/>
          <p:nvPr/>
        </p:nvSpPr>
        <p:spPr>
          <a:xfrm>
            <a:off x="8558784" y="221284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Tidy up runs</a:t>
            </a:r>
            <a:endParaRPr lang="en-US" sz="1500" dirty="0"/>
          </a:p>
        </p:txBody>
      </p:sp>
      <p:sp>
        <p:nvSpPr>
          <p:cNvPr id="18" name="Text 16"/>
          <p:cNvSpPr txBox="1"/>
          <p:nvPr/>
        </p:nvSpPr>
        <p:spPr>
          <a:xfrm>
            <a:off x="8558784" y="252374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formats code, clears notebooks</a:t>
            </a:r>
            <a:endParaRPr lang="en-US" sz="1200" dirty="0"/>
          </a:p>
        </p:txBody>
      </p:sp>
      <p:sp>
        <p:nvSpPr>
          <p:cNvPr id="19" name="Shape 17"/>
          <p:cNvSpPr/>
          <p:nvPr/>
        </p:nvSpPr>
        <p:spPr>
          <a:xfrm>
            <a:off x="731520" y="3200400"/>
            <a:ext cx="3291840" cy="1005840"/>
          </a:xfrm>
          <a:prstGeom prst="rect">
            <a:avLst/>
          </a:prstGeom>
          <a:solidFill>
            <a:srgbClr val="FFFFFF"/>
          </a:solidFill>
          <a:ln w="9525">
            <a:solidFill>
              <a:srgbClr val="CDD4DE"/>
            </a:solidFill>
            <a:prstDash val="solid"/>
          </a:ln>
        </p:spPr>
        <p:txBody>
          <a:bodyPr/>
          <a:p/>
        </p:txBody>
      </p:sp>
      <p:sp>
        <p:nvSpPr>
          <p:cNvPr id="20" name="Shape 18"/>
          <p:cNvSpPr/>
          <p:nvPr/>
        </p:nvSpPr>
        <p:spPr>
          <a:xfrm>
            <a:off x="969264" y="3401568"/>
            <a:ext cx="292608" cy="292608"/>
          </a:xfrm>
          <a:prstGeom prst="ellipse">
            <a:avLst/>
          </a:prstGeom>
          <a:solidFill>
            <a:srgbClr val="1F3B5C"/>
          </a:solidFill>
          <a:ln w="12700">
            <a:solidFill>
              <a:srgbClr val="1F3B5C"/>
            </a:solidFill>
            <a:prstDash val="solid"/>
          </a:ln>
        </p:spPr>
        <p:txBody>
          <a:bodyPr/>
          <a:p/>
        </p:txBody>
      </p:sp>
      <p:sp>
        <p:nvSpPr>
          <p:cNvPr id="21" name="Text 19"/>
          <p:cNvSpPr txBox="1"/>
          <p:nvPr/>
        </p:nvSpPr>
        <p:spPr>
          <a:xfrm>
            <a:off x="969264" y="343814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Text 20"/>
          <p:cNvSpPr txBox="1"/>
          <p:nvPr/>
        </p:nvSpPr>
        <p:spPr>
          <a:xfrm>
            <a:off x="1371600" y="340156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Open the PR</a:t>
            </a:r>
            <a:endParaRPr lang="en-US" sz="1500" dirty="0"/>
          </a:p>
        </p:txBody>
      </p:sp>
      <p:sp>
        <p:nvSpPr>
          <p:cNvPr id="23" name="Text 21"/>
          <p:cNvSpPr txBox="1"/>
          <p:nvPr/>
        </p:nvSpPr>
        <p:spPr>
          <a:xfrm>
            <a:off x="1371600" y="371246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four section template</a:t>
            </a:r>
            <a:endParaRPr lang="en-US" sz="1200" dirty="0"/>
          </a:p>
        </p:txBody>
      </p:sp>
      <p:sp>
        <p:nvSpPr>
          <p:cNvPr id="24" name="Shape 22"/>
          <p:cNvSpPr/>
          <p:nvPr/>
        </p:nvSpPr>
        <p:spPr>
          <a:xfrm>
            <a:off x="4325112" y="3200400"/>
            <a:ext cx="3291840" cy="1005840"/>
          </a:xfrm>
          <a:prstGeom prst="rect">
            <a:avLst/>
          </a:prstGeom>
          <a:solidFill>
            <a:srgbClr val="FFFFFF"/>
          </a:solidFill>
          <a:ln w="9525">
            <a:solidFill>
              <a:srgbClr val="CDD4DE"/>
            </a:solidFill>
            <a:prstDash val="solid"/>
          </a:ln>
        </p:spPr>
        <p:txBody>
          <a:bodyPr/>
          <a:p/>
        </p:txBody>
      </p:sp>
      <p:sp>
        <p:nvSpPr>
          <p:cNvPr id="25" name="Shape 23"/>
          <p:cNvSpPr/>
          <p:nvPr/>
        </p:nvSpPr>
        <p:spPr>
          <a:xfrm>
            <a:off x="4562856" y="3401568"/>
            <a:ext cx="292608" cy="292608"/>
          </a:xfrm>
          <a:prstGeom prst="ellipse">
            <a:avLst/>
          </a:prstGeom>
          <a:solidFill>
            <a:srgbClr val="1F3B5C"/>
          </a:solidFill>
          <a:ln w="12700">
            <a:solidFill>
              <a:srgbClr val="1F3B5C"/>
            </a:solidFill>
            <a:prstDash val="solid"/>
          </a:ln>
        </p:spPr>
        <p:txBody>
          <a:bodyPr/>
          <a:p/>
        </p:txBody>
      </p:sp>
      <p:sp>
        <p:nvSpPr>
          <p:cNvPr id="26" name="Text 24"/>
          <p:cNvSpPr txBox="1"/>
          <p:nvPr/>
        </p:nvSpPr>
        <p:spPr>
          <a:xfrm>
            <a:off x="4562856" y="343814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7" name="Text 25"/>
          <p:cNvSpPr txBox="1"/>
          <p:nvPr/>
        </p:nvSpPr>
        <p:spPr>
          <a:xfrm>
            <a:off x="4965192" y="340156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Checks run</a:t>
            </a:r>
            <a:endParaRPr lang="en-US" sz="1500" dirty="0"/>
          </a:p>
        </p:txBody>
      </p:sp>
      <p:sp>
        <p:nvSpPr>
          <p:cNvPr id="28" name="Text 26"/>
          <p:cNvSpPr txBox="1"/>
          <p:nvPr/>
        </p:nvSpPr>
        <p:spPr>
          <a:xfrm>
            <a:off x="4965192" y="371246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all five must pass</a:t>
            </a:r>
            <a:endParaRPr lang="en-US" sz="1200" dirty="0"/>
          </a:p>
        </p:txBody>
      </p:sp>
      <p:sp>
        <p:nvSpPr>
          <p:cNvPr id="29" name="Shape 27"/>
          <p:cNvSpPr/>
          <p:nvPr/>
        </p:nvSpPr>
        <p:spPr>
          <a:xfrm>
            <a:off x="7918704" y="3200400"/>
            <a:ext cx="3291840" cy="1005840"/>
          </a:xfrm>
          <a:prstGeom prst="rect">
            <a:avLst/>
          </a:prstGeom>
          <a:solidFill>
            <a:srgbClr val="FFFFFF"/>
          </a:solidFill>
          <a:ln w="9525">
            <a:solidFill>
              <a:srgbClr val="CDD4DE"/>
            </a:solidFill>
            <a:prstDash val="solid"/>
          </a:ln>
        </p:spPr>
        <p:txBody>
          <a:bodyPr/>
          <a:p/>
        </p:txBody>
      </p:sp>
      <p:sp>
        <p:nvSpPr>
          <p:cNvPr id="30" name="Shape 28"/>
          <p:cNvSpPr/>
          <p:nvPr/>
        </p:nvSpPr>
        <p:spPr>
          <a:xfrm>
            <a:off x="8156448" y="3401568"/>
            <a:ext cx="292608" cy="292608"/>
          </a:xfrm>
          <a:prstGeom prst="ellipse">
            <a:avLst/>
          </a:prstGeom>
          <a:solidFill>
            <a:srgbClr val="1F3B5C"/>
          </a:solidFill>
          <a:ln w="12700">
            <a:solidFill>
              <a:srgbClr val="1F3B5C"/>
            </a:solidFill>
            <a:prstDash val="solid"/>
          </a:ln>
        </p:spPr>
        <p:txBody>
          <a:bodyPr/>
          <a:p/>
        </p:txBody>
      </p:sp>
      <p:sp>
        <p:nvSpPr>
          <p:cNvPr id="31" name="Text 29"/>
          <p:cNvSpPr txBox="1"/>
          <p:nvPr/>
        </p:nvSpPr>
        <p:spPr>
          <a:xfrm>
            <a:off x="8156448" y="343814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2" name="Text 30"/>
          <p:cNvSpPr txBox="1"/>
          <p:nvPr/>
        </p:nvSpPr>
        <p:spPr>
          <a:xfrm>
            <a:off x="8558784" y="340156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One review</a:t>
            </a:r>
            <a:endParaRPr lang="en-US" sz="1500" dirty="0"/>
          </a:p>
        </p:txBody>
      </p:sp>
      <p:sp>
        <p:nvSpPr>
          <p:cNvPr id="33" name="Text 31"/>
          <p:cNvSpPr txBox="1"/>
          <p:nvPr/>
        </p:nvSpPr>
        <p:spPr>
          <a:xfrm>
            <a:off x="8558784" y="371246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within a business day</a:t>
            </a:r>
            <a:endParaRPr lang="en-US" sz="1200" dirty="0"/>
          </a:p>
        </p:txBody>
      </p:sp>
      <p:sp>
        <p:nvSpPr>
          <p:cNvPr id="34" name="Shape 32"/>
          <p:cNvSpPr/>
          <p:nvPr/>
        </p:nvSpPr>
        <p:spPr>
          <a:xfrm>
            <a:off x="731520" y="4389120"/>
            <a:ext cx="3291840" cy="1005840"/>
          </a:xfrm>
          <a:prstGeom prst="rect">
            <a:avLst/>
          </a:prstGeom>
          <a:solidFill>
            <a:srgbClr val="FFFFFF"/>
          </a:solidFill>
          <a:ln w="9525">
            <a:solidFill>
              <a:srgbClr val="CDD4DE"/>
            </a:solidFill>
            <a:prstDash val="solid"/>
          </a:ln>
        </p:spPr>
        <p:txBody>
          <a:bodyPr/>
          <a:p/>
        </p:txBody>
      </p:sp>
      <p:sp>
        <p:nvSpPr>
          <p:cNvPr id="35" name="Shape 33"/>
          <p:cNvSpPr/>
          <p:nvPr/>
        </p:nvSpPr>
        <p:spPr>
          <a:xfrm>
            <a:off x="969264" y="4590288"/>
            <a:ext cx="292608" cy="292608"/>
          </a:xfrm>
          <a:prstGeom prst="ellipse">
            <a:avLst/>
          </a:prstGeom>
          <a:solidFill>
            <a:srgbClr val="1F3B5C"/>
          </a:solidFill>
          <a:ln w="12700">
            <a:solidFill>
              <a:srgbClr val="1F3B5C"/>
            </a:solidFill>
            <a:prstDash val="solid"/>
          </a:ln>
        </p:spPr>
        <p:txBody>
          <a:bodyPr/>
          <a:p/>
        </p:txBody>
      </p:sp>
      <p:sp>
        <p:nvSpPr>
          <p:cNvPr id="36" name="Text 34"/>
          <p:cNvSpPr txBox="1"/>
          <p:nvPr/>
        </p:nvSpPr>
        <p:spPr>
          <a:xfrm>
            <a:off x="969264" y="462686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37" name="Text 35"/>
          <p:cNvSpPr txBox="1"/>
          <p:nvPr/>
        </p:nvSpPr>
        <p:spPr>
          <a:xfrm>
            <a:off x="1371600" y="459028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Merge it in</a:t>
            </a:r>
            <a:endParaRPr lang="en-US" sz="1500" dirty="0"/>
          </a:p>
        </p:txBody>
      </p:sp>
      <p:sp>
        <p:nvSpPr>
          <p:cNvPr id="38" name="Text 36"/>
          <p:cNvSpPr txBox="1"/>
          <p:nvPr/>
        </p:nvSpPr>
        <p:spPr>
          <a:xfrm>
            <a:off x="1371600" y="490118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branch deleted</a:t>
            </a:r>
            <a:endParaRPr lang="en-US" sz="1200" dirty="0"/>
          </a:p>
        </p:txBody>
      </p:sp>
      <p:sp>
        <p:nvSpPr>
          <p:cNvPr id="39" name="Shape 37"/>
          <p:cNvSpPr/>
          <p:nvPr/>
        </p:nvSpPr>
        <p:spPr>
          <a:xfrm>
            <a:off x="4325112" y="4389120"/>
            <a:ext cx="3291840" cy="1005840"/>
          </a:xfrm>
          <a:prstGeom prst="rect">
            <a:avLst/>
          </a:prstGeom>
          <a:solidFill>
            <a:srgbClr val="FFFFFF"/>
          </a:solidFill>
          <a:ln w="9525">
            <a:solidFill>
              <a:srgbClr val="CDD4DE"/>
            </a:solidFill>
            <a:prstDash val="solid"/>
          </a:ln>
        </p:spPr>
        <p:txBody>
          <a:bodyPr/>
          <a:p/>
        </p:txBody>
      </p:sp>
      <p:sp>
        <p:nvSpPr>
          <p:cNvPr id="40" name="Shape 38"/>
          <p:cNvSpPr/>
          <p:nvPr/>
        </p:nvSpPr>
        <p:spPr>
          <a:xfrm>
            <a:off x="4562856" y="4590288"/>
            <a:ext cx="292608" cy="292608"/>
          </a:xfrm>
          <a:prstGeom prst="ellipse">
            <a:avLst/>
          </a:prstGeom>
          <a:solidFill>
            <a:srgbClr val="1F3B5C"/>
          </a:solidFill>
          <a:ln w="12700">
            <a:solidFill>
              <a:srgbClr val="1F3B5C"/>
            </a:solidFill>
            <a:prstDash val="solid"/>
          </a:ln>
        </p:spPr>
        <p:txBody>
          <a:bodyPr/>
          <a:p/>
        </p:txBody>
      </p:sp>
      <p:sp>
        <p:nvSpPr>
          <p:cNvPr id="41" name="Text 39"/>
          <p:cNvSpPr txBox="1"/>
          <p:nvPr/>
        </p:nvSpPr>
        <p:spPr>
          <a:xfrm>
            <a:off x="4562856" y="462686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42" name="Text 40"/>
          <p:cNvSpPr txBox="1"/>
          <p:nvPr/>
        </p:nvSpPr>
        <p:spPr>
          <a:xfrm>
            <a:off x="4965192" y="459028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The file is rebuilt</a:t>
            </a:r>
            <a:endParaRPr lang="en-US" sz="1500" dirty="0"/>
          </a:p>
        </p:txBody>
      </p:sp>
      <p:sp>
        <p:nvSpPr>
          <p:cNvPr id="43" name="Text 41"/>
          <p:cNvSpPr txBox="1"/>
          <p:nvPr/>
        </p:nvSpPr>
        <p:spPr>
          <a:xfrm>
            <a:off x="4965192" y="490118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with the code version on it</a:t>
            </a:r>
            <a:endParaRPr lang="en-US" sz="1200" dirty="0"/>
          </a:p>
        </p:txBody>
      </p:sp>
      <p:sp>
        <p:nvSpPr>
          <p:cNvPr id="44" name="Shape 42"/>
          <p:cNvSpPr/>
          <p:nvPr/>
        </p:nvSpPr>
        <p:spPr>
          <a:xfrm>
            <a:off x="7918704" y="4389120"/>
            <a:ext cx="3291840" cy="1005840"/>
          </a:xfrm>
          <a:prstGeom prst="rect">
            <a:avLst/>
          </a:prstGeom>
          <a:solidFill>
            <a:srgbClr val="FFFFFF"/>
          </a:solidFill>
          <a:ln w="9525">
            <a:solidFill>
              <a:srgbClr val="CDD4DE"/>
            </a:solidFill>
            <a:prstDash val="solid"/>
          </a:ln>
        </p:spPr>
        <p:txBody>
          <a:bodyPr/>
          <a:p/>
        </p:txBody>
      </p:sp>
      <p:sp>
        <p:nvSpPr>
          <p:cNvPr id="45" name="Shape 43"/>
          <p:cNvSpPr/>
          <p:nvPr/>
        </p:nvSpPr>
        <p:spPr>
          <a:xfrm>
            <a:off x="8156448" y="4590288"/>
            <a:ext cx="292608" cy="292608"/>
          </a:xfrm>
          <a:prstGeom prst="ellipse">
            <a:avLst/>
          </a:prstGeom>
          <a:solidFill>
            <a:srgbClr val="8A5E14"/>
          </a:solidFill>
          <a:ln w="12700">
            <a:solidFill>
              <a:srgbClr val="8A5E14"/>
            </a:solidFill>
            <a:prstDash val="solid"/>
          </a:ln>
        </p:spPr>
        <p:txBody>
          <a:bodyPr/>
          <a:p/>
        </p:txBody>
      </p:sp>
      <p:sp>
        <p:nvSpPr>
          <p:cNvPr id="46" name="Text 44"/>
          <p:cNvSpPr txBox="1"/>
          <p:nvPr/>
        </p:nvSpPr>
        <p:spPr>
          <a:xfrm>
            <a:off x="8156448" y="462686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9</a:t>
            </a:r>
            <a:endParaRPr lang="en-US" sz="1100" dirty="0"/>
          </a:p>
        </p:txBody>
      </p:sp>
      <p:sp>
        <p:nvSpPr>
          <p:cNvPr id="47" name="Text 45"/>
          <p:cNvSpPr txBox="1"/>
          <p:nvPr/>
        </p:nvSpPr>
        <p:spPr>
          <a:xfrm>
            <a:off x="8558784" y="4590288"/>
            <a:ext cx="2468880" cy="274320"/>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Tag it</a:t>
            </a:r>
            <a:endParaRPr lang="en-US" sz="1500" dirty="0"/>
          </a:p>
        </p:txBody>
      </p:sp>
      <p:sp>
        <p:nvSpPr>
          <p:cNvPr id="48" name="Text 46"/>
          <p:cNvSpPr txBox="1"/>
          <p:nvPr/>
        </p:nvSpPr>
        <p:spPr>
          <a:xfrm>
            <a:off x="8558784" y="4901184"/>
            <a:ext cx="2468880" cy="329184"/>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when it goes to the client</a:t>
            </a:r>
            <a:endParaRPr lang="en-US" sz="1200" dirty="0"/>
          </a:p>
        </p:txBody>
      </p:sp>
      <p:sp>
        <p:nvSpPr>
          <p:cNvPr id="49" name="Shape 47"/>
          <p:cNvSpPr/>
          <p:nvPr/>
        </p:nvSpPr>
        <p:spPr>
          <a:xfrm>
            <a:off x="731520" y="5669280"/>
            <a:ext cx="10698480" cy="868680"/>
          </a:xfrm>
          <a:prstGeom prst="rect">
            <a:avLst/>
          </a:prstGeom>
          <a:solidFill>
            <a:srgbClr val="FBF3E4"/>
          </a:solidFill>
          <a:ln w="9525">
            <a:solidFill>
              <a:srgbClr val="D9C08A"/>
            </a:solidFill>
            <a:prstDash val="solid"/>
          </a:ln>
        </p:spPr>
        <p:txBody>
          <a:bodyPr/>
          <a:p/>
        </p:txBody>
      </p:sp>
      <p:sp>
        <p:nvSpPr>
          <p:cNvPr id="50" name="Text 48"/>
          <p:cNvSpPr txBox="1"/>
          <p:nvPr/>
        </p:nvSpPr>
        <p:spPr>
          <a:xfrm>
            <a:off x="1051560" y="5852160"/>
            <a:ext cx="1463040" cy="292608"/>
          </a:xfrm>
          <a:prstGeom prst="rect">
            <a:avLst/>
          </a:prstGeom>
          <a:noFill/>
          <a:ln/>
        </p:spPr>
        <p:txBody>
          <a:bodyPr wrap="square" lIns="0" tIns="0" rIns="0" bIns="0" rtlCol="0" anchor="ctr"/>
          <a:lstStyle/>
          <a:p>
            <a:pPr indent="0" marL="0">
              <a:buNone/>
            </a:pPr>
            <a:r>
              <a:rPr lang="en-US" sz="1600" b="1" dirty="0">
                <a:solidFill>
                  <a:srgbClr val="8A5E14"/>
                </a:solidFill>
                <a:latin typeface="Arial" pitchFamily="34" charset="0"/>
                <a:ea typeface="Arial" pitchFamily="34" charset="-122"/>
                <a:cs typeface="Arial" pitchFamily="34" charset="-120"/>
              </a:rPr>
              <a:t>Two lanes.</a:t>
            </a:r>
            <a:endParaRPr lang="en-US" sz="1600" dirty="0"/>
          </a:p>
        </p:txBody>
      </p:sp>
      <p:sp>
        <p:nvSpPr>
          <p:cNvPr id="51" name="Text 49"/>
          <p:cNvSpPr txBox="1"/>
          <p:nvPr/>
        </p:nvSpPr>
        <p:spPr>
          <a:xfrm>
            <a:off x="2651760" y="5870448"/>
            <a:ext cx="8595360" cy="457200"/>
          </a:xfrm>
          <a:prstGeom prst="rect">
            <a:avLst/>
          </a:prstGeom>
          <a:noFill/>
          <a:ln/>
        </p:spPr>
        <p:txBody>
          <a:bodyPr wrap="square" lIns="0" tIns="0" rIns="0" bIns="0" rtlCol="0" anchor="ctr"/>
          <a:lstStyle/>
          <a:p>
            <a:pPr indent="0" marL="0">
              <a:lnSpc>
                <a:spcPts val="1900"/>
              </a:lnSpc>
              <a:buNone/>
            </a:pPr>
            <a:r>
              <a:rPr lang="en-US" sz="1400" dirty="0">
                <a:solidFill>
                  <a:srgbClr val="121821"/>
                </a:solidFill>
                <a:latin typeface="Calibri" pitchFamily="34" charset="0"/>
                <a:ea typeface="Calibri" pitchFamily="34" charset="-122"/>
                <a:cs typeface="Calibri" pitchFamily="34" charset="-120"/>
              </a:rPr>
              <a:t>Anything in the exploration folder skips all of it. A lot of analytics work gets thrown away, and putting it through the full process is how you lose people.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8A5E14"/>
                </a:solidFill>
                <a:latin typeface="Arial" pitchFamily="34" charset="0"/>
                <a:ea typeface="Arial" pitchFamily="34" charset="-122"/>
                <a:cs typeface="Arial" pitchFamily="34" charset="-120"/>
              </a:rPr>
              <a:t>QUESTION 7</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Four weeks. Nobody stops working.</a:t>
            </a:r>
            <a:endParaRPr lang="en-US" sz="3300" dirty="0"/>
          </a:p>
        </p:txBody>
      </p:sp>
      <p:sp>
        <p:nvSpPr>
          <p:cNvPr id="4" name="Shape 2"/>
          <p:cNvSpPr/>
          <p:nvPr/>
        </p:nvSpPr>
        <p:spPr>
          <a:xfrm>
            <a:off x="877824" y="2267712"/>
            <a:ext cx="0" cy="932688"/>
          </a:xfrm>
          <a:prstGeom prst="line">
            <a:avLst/>
          </a:prstGeom>
          <a:noFill/>
          <a:ln w="16510">
            <a:solidFill>
              <a:srgbClr val="CDD4DE"/>
            </a:solidFill>
            <a:prstDash val="solid"/>
          </a:ln>
        </p:spPr>
        <p:txBody>
          <a:bodyPr/>
          <a:p/>
        </p:txBody>
      </p:sp>
      <p:sp>
        <p:nvSpPr>
          <p:cNvPr id="5" name="Shape 3"/>
          <p:cNvSpPr/>
          <p:nvPr/>
        </p:nvSpPr>
        <p:spPr>
          <a:xfrm>
            <a:off x="804672" y="2194560"/>
            <a:ext cx="146304" cy="146304"/>
          </a:xfrm>
          <a:prstGeom prst="ellipse">
            <a:avLst/>
          </a:prstGeom>
          <a:solidFill>
            <a:srgbClr val="1F3B5C"/>
          </a:solidFill>
          <a:ln w="12700">
            <a:solidFill>
              <a:srgbClr val="1F3B5C"/>
            </a:solidFill>
            <a:prstDash val="solid"/>
          </a:ln>
        </p:spPr>
        <p:txBody>
          <a:bodyPr/>
          <a:p/>
        </p:txBody>
      </p:sp>
      <p:sp>
        <p:nvSpPr>
          <p:cNvPr id="6" name="Text 4"/>
          <p:cNvSpPr txBox="1"/>
          <p:nvPr/>
        </p:nvSpPr>
        <p:spPr>
          <a:xfrm>
            <a:off x="1188720" y="2121408"/>
            <a:ext cx="1463040" cy="274320"/>
          </a:xfrm>
          <a:prstGeom prst="rect">
            <a:avLst/>
          </a:prstGeom>
          <a:noFill/>
          <a:ln/>
        </p:spPr>
        <p:txBody>
          <a:bodyPr wrap="square" lIns="0" tIns="0" rIns="0" bIns="0" rtlCol="0" anchor="ctr"/>
          <a:lstStyle/>
          <a:p>
            <a:pPr indent="0" marL="0">
              <a:buNone/>
            </a:pPr>
            <a:r>
              <a:rPr lang="en-US" sz="1250" b="1" dirty="0">
                <a:solidFill>
                  <a:srgbClr val="1F3B5C"/>
                </a:solidFill>
                <a:latin typeface="Arial" pitchFamily="34" charset="0"/>
                <a:ea typeface="Arial" pitchFamily="34" charset="-122"/>
                <a:cs typeface="Arial" pitchFamily="34" charset="-120"/>
              </a:rPr>
              <a:t>WEEK 0</a:t>
            </a:r>
            <a:endParaRPr lang="en-US" sz="1250" dirty="0"/>
          </a:p>
        </p:txBody>
      </p:sp>
      <p:sp>
        <p:nvSpPr>
          <p:cNvPr id="7" name="Text 5"/>
          <p:cNvSpPr txBox="1"/>
          <p:nvPr/>
        </p:nvSpPr>
        <p:spPr>
          <a:xfrm>
            <a:off x="2834640" y="2084832"/>
            <a:ext cx="8412480" cy="640080"/>
          </a:xfrm>
          <a:prstGeom prst="rect">
            <a:avLst/>
          </a:prstGeom>
          <a:noFill/>
          <a:ln/>
        </p:spPr>
        <p:txBody>
          <a:bodyPr wrap="square" lIns="0" tIns="0" rIns="0" bIns="0" rtlCol="0" anchor="ctr"/>
          <a:lstStyle/>
          <a:p>
            <a:pPr indent="0" marL="0">
              <a:lnSpc>
                <a:spcPts val="2100"/>
              </a:lnSpc>
              <a:buNone/>
            </a:pPr>
            <a:r>
              <a:rPr lang="en-US" sz="1500" dirty="0">
                <a:solidFill>
                  <a:srgbClr val="121821"/>
                </a:solidFill>
                <a:latin typeface="Calibri" pitchFamily="34" charset="0"/>
                <a:ea typeface="Calibri" pitchFamily="34" charset="-122"/>
                <a:cs typeface="Calibri" pitchFamily="34" charset="-120"/>
              </a:rPr>
              <a:t>The two who know Git build a template repo. CI, hooks and the PR template already wired.</a:t>
            </a:r>
            <a:endParaRPr lang="en-US" sz="1500" dirty="0"/>
          </a:p>
        </p:txBody>
      </p:sp>
      <p:sp>
        <p:nvSpPr>
          <p:cNvPr id="8" name="Shape 6"/>
          <p:cNvSpPr/>
          <p:nvPr/>
        </p:nvSpPr>
        <p:spPr>
          <a:xfrm>
            <a:off x="877824" y="3200400"/>
            <a:ext cx="0" cy="932688"/>
          </a:xfrm>
          <a:prstGeom prst="line">
            <a:avLst/>
          </a:prstGeom>
          <a:noFill/>
          <a:ln w="16510">
            <a:solidFill>
              <a:srgbClr val="CDD4DE"/>
            </a:solidFill>
            <a:prstDash val="solid"/>
          </a:ln>
        </p:spPr>
        <p:txBody>
          <a:bodyPr/>
          <a:p/>
        </p:txBody>
      </p:sp>
      <p:sp>
        <p:nvSpPr>
          <p:cNvPr id="9" name="Shape 7"/>
          <p:cNvSpPr/>
          <p:nvPr/>
        </p:nvSpPr>
        <p:spPr>
          <a:xfrm>
            <a:off x="804672" y="3127248"/>
            <a:ext cx="146304" cy="146304"/>
          </a:xfrm>
          <a:prstGeom prst="ellipse">
            <a:avLst/>
          </a:prstGeom>
          <a:solidFill>
            <a:srgbClr val="1F3B5C"/>
          </a:solidFill>
          <a:ln w="12700">
            <a:solidFill>
              <a:srgbClr val="1F3B5C"/>
            </a:solidFill>
            <a:prstDash val="solid"/>
          </a:ln>
        </p:spPr>
        <p:txBody>
          <a:bodyPr/>
          <a:p/>
        </p:txBody>
      </p:sp>
      <p:sp>
        <p:nvSpPr>
          <p:cNvPr id="10" name="Text 8"/>
          <p:cNvSpPr txBox="1"/>
          <p:nvPr/>
        </p:nvSpPr>
        <p:spPr>
          <a:xfrm>
            <a:off x="1188720" y="3054096"/>
            <a:ext cx="1463040" cy="274320"/>
          </a:xfrm>
          <a:prstGeom prst="rect">
            <a:avLst/>
          </a:prstGeom>
          <a:noFill/>
          <a:ln/>
        </p:spPr>
        <p:txBody>
          <a:bodyPr wrap="square" lIns="0" tIns="0" rIns="0" bIns="0" rtlCol="0" anchor="ctr"/>
          <a:lstStyle/>
          <a:p>
            <a:pPr indent="0" marL="0">
              <a:buNone/>
            </a:pPr>
            <a:r>
              <a:rPr lang="en-US" sz="1250" b="1" dirty="0">
                <a:solidFill>
                  <a:srgbClr val="1F3B5C"/>
                </a:solidFill>
                <a:latin typeface="Arial" pitchFamily="34" charset="0"/>
                <a:ea typeface="Arial" pitchFamily="34" charset="-122"/>
                <a:cs typeface="Arial" pitchFamily="34" charset="-120"/>
              </a:rPr>
              <a:t>WEEK 1</a:t>
            </a:r>
            <a:endParaRPr lang="en-US" sz="1250" dirty="0"/>
          </a:p>
        </p:txBody>
      </p:sp>
      <p:sp>
        <p:nvSpPr>
          <p:cNvPr id="11" name="Text 9"/>
          <p:cNvSpPr txBox="1"/>
          <p:nvPr/>
        </p:nvSpPr>
        <p:spPr>
          <a:xfrm>
            <a:off x="2834640" y="3017520"/>
            <a:ext cx="8412480" cy="640080"/>
          </a:xfrm>
          <a:prstGeom prst="rect">
            <a:avLst/>
          </a:prstGeom>
          <a:noFill/>
          <a:ln/>
        </p:spPr>
        <p:txBody>
          <a:bodyPr wrap="square" lIns="0" tIns="0" rIns="0" bIns="0" rtlCol="0" anchor="ctr"/>
          <a:lstStyle/>
          <a:p>
            <a:pPr indent="0" marL="0">
              <a:lnSpc>
                <a:spcPts val="2100"/>
              </a:lnSpc>
              <a:buNone/>
            </a:pPr>
            <a:r>
              <a:rPr lang="en-US" sz="1500" dirty="0">
                <a:solidFill>
                  <a:srgbClr val="121821"/>
                </a:solidFill>
                <a:latin typeface="Calibri" pitchFamily="34" charset="0"/>
                <a:ea typeface="Calibri" pitchFamily="34" charset="-122"/>
                <a:cs typeface="Calibri" pitchFamily="34" charset="-120"/>
              </a:rPr>
              <a:t>Ninety minutes. Everyone opens a throwaway PR and merges it. I stage a conflict on purpose.</a:t>
            </a:r>
            <a:endParaRPr lang="en-US" sz="1500" dirty="0"/>
          </a:p>
        </p:txBody>
      </p:sp>
      <p:sp>
        <p:nvSpPr>
          <p:cNvPr id="12" name="Shape 10"/>
          <p:cNvSpPr/>
          <p:nvPr/>
        </p:nvSpPr>
        <p:spPr>
          <a:xfrm>
            <a:off x="877824" y="4133088"/>
            <a:ext cx="0" cy="932688"/>
          </a:xfrm>
          <a:prstGeom prst="line">
            <a:avLst/>
          </a:prstGeom>
          <a:noFill/>
          <a:ln w="16510">
            <a:solidFill>
              <a:srgbClr val="CDD4DE"/>
            </a:solidFill>
            <a:prstDash val="solid"/>
          </a:ln>
        </p:spPr>
        <p:txBody>
          <a:bodyPr/>
          <a:p/>
        </p:txBody>
      </p:sp>
      <p:sp>
        <p:nvSpPr>
          <p:cNvPr id="13" name="Shape 11"/>
          <p:cNvSpPr/>
          <p:nvPr/>
        </p:nvSpPr>
        <p:spPr>
          <a:xfrm>
            <a:off x="804672" y="4059936"/>
            <a:ext cx="146304" cy="146304"/>
          </a:xfrm>
          <a:prstGeom prst="ellipse">
            <a:avLst/>
          </a:prstGeom>
          <a:solidFill>
            <a:srgbClr val="1F3B5C"/>
          </a:solidFill>
          <a:ln w="12700">
            <a:solidFill>
              <a:srgbClr val="1F3B5C"/>
            </a:solidFill>
            <a:prstDash val="solid"/>
          </a:ln>
        </p:spPr>
        <p:txBody>
          <a:bodyPr/>
          <a:p/>
        </p:txBody>
      </p:sp>
      <p:sp>
        <p:nvSpPr>
          <p:cNvPr id="14" name="Text 12"/>
          <p:cNvSpPr txBox="1"/>
          <p:nvPr/>
        </p:nvSpPr>
        <p:spPr>
          <a:xfrm>
            <a:off x="1188720" y="3986784"/>
            <a:ext cx="1463040" cy="274320"/>
          </a:xfrm>
          <a:prstGeom prst="rect">
            <a:avLst/>
          </a:prstGeom>
          <a:noFill/>
          <a:ln/>
        </p:spPr>
        <p:txBody>
          <a:bodyPr wrap="square" lIns="0" tIns="0" rIns="0" bIns="0" rtlCol="0" anchor="ctr"/>
          <a:lstStyle/>
          <a:p>
            <a:pPr indent="0" marL="0">
              <a:buNone/>
            </a:pPr>
            <a:r>
              <a:rPr lang="en-US" sz="1250" b="1" dirty="0">
                <a:solidFill>
                  <a:srgbClr val="1F3B5C"/>
                </a:solidFill>
                <a:latin typeface="Arial" pitchFamily="34" charset="0"/>
                <a:ea typeface="Arial" pitchFamily="34" charset="-122"/>
                <a:cs typeface="Arial" pitchFamily="34" charset="-120"/>
              </a:rPr>
              <a:t>WEEK 2</a:t>
            </a:r>
            <a:endParaRPr lang="en-US" sz="1250" dirty="0"/>
          </a:p>
        </p:txBody>
      </p:sp>
      <p:sp>
        <p:nvSpPr>
          <p:cNvPr id="15" name="Text 13"/>
          <p:cNvSpPr txBox="1"/>
          <p:nvPr/>
        </p:nvSpPr>
        <p:spPr>
          <a:xfrm>
            <a:off x="2834640" y="3950208"/>
            <a:ext cx="8412480" cy="640080"/>
          </a:xfrm>
          <a:prstGeom prst="rect">
            <a:avLst/>
          </a:prstGeom>
          <a:noFill/>
          <a:ln/>
        </p:spPr>
        <p:txBody>
          <a:bodyPr wrap="square" lIns="0" tIns="0" rIns="0" bIns="0" rtlCol="0" anchor="ctr"/>
          <a:lstStyle/>
          <a:p>
            <a:pPr indent="0" marL="0">
              <a:lnSpc>
                <a:spcPts val="2100"/>
              </a:lnSpc>
              <a:buNone/>
            </a:pPr>
            <a:r>
              <a:rPr lang="en-US" sz="1500" dirty="0">
                <a:solidFill>
                  <a:srgbClr val="121821"/>
                </a:solidFill>
                <a:latin typeface="Calibri" pitchFamily="34" charset="0"/>
                <a:ea typeface="Calibri" pitchFamily="34" charset="-122"/>
                <a:cs typeface="Calibri" pitchFamily="34" charset="-120"/>
              </a:rPr>
              <a:t>The next new client project starts in the repo. Half finished work stays where it is.</a:t>
            </a:r>
            <a:endParaRPr lang="en-US" sz="1500" dirty="0"/>
          </a:p>
        </p:txBody>
      </p:sp>
      <p:sp>
        <p:nvSpPr>
          <p:cNvPr id="16" name="Shape 14"/>
          <p:cNvSpPr/>
          <p:nvPr/>
        </p:nvSpPr>
        <p:spPr>
          <a:xfrm>
            <a:off x="804672" y="4992624"/>
            <a:ext cx="146304" cy="146304"/>
          </a:xfrm>
          <a:prstGeom prst="ellipse">
            <a:avLst/>
          </a:prstGeom>
          <a:solidFill>
            <a:srgbClr val="1F3B5C"/>
          </a:solidFill>
          <a:ln w="12700">
            <a:solidFill>
              <a:srgbClr val="1F3B5C"/>
            </a:solidFill>
            <a:prstDash val="solid"/>
          </a:ln>
        </p:spPr>
        <p:txBody>
          <a:bodyPr/>
          <a:p/>
        </p:txBody>
      </p:sp>
      <p:sp>
        <p:nvSpPr>
          <p:cNvPr id="17" name="Text 15"/>
          <p:cNvSpPr txBox="1"/>
          <p:nvPr/>
        </p:nvSpPr>
        <p:spPr>
          <a:xfrm>
            <a:off x="1188720" y="4919472"/>
            <a:ext cx="1463040" cy="274320"/>
          </a:xfrm>
          <a:prstGeom prst="rect">
            <a:avLst/>
          </a:prstGeom>
          <a:noFill/>
          <a:ln/>
        </p:spPr>
        <p:txBody>
          <a:bodyPr wrap="square" lIns="0" tIns="0" rIns="0" bIns="0" rtlCol="0" anchor="ctr"/>
          <a:lstStyle/>
          <a:p>
            <a:pPr indent="0" marL="0">
              <a:buNone/>
            </a:pPr>
            <a:r>
              <a:rPr lang="en-US" sz="1250" b="1" dirty="0">
                <a:solidFill>
                  <a:srgbClr val="1F3B5C"/>
                </a:solidFill>
                <a:latin typeface="Arial" pitchFamily="34" charset="0"/>
                <a:ea typeface="Arial" pitchFamily="34" charset="-122"/>
                <a:cs typeface="Arial" pitchFamily="34" charset="-120"/>
              </a:rPr>
              <a:t>WEEKS 3 TO 4</a:t>
            </a:r>
            <a:endParaRPr lang="en-US" sz="1250" dirty="0"/>
          </a:p>
        </p:txBody>
      </p:sp>
      <p:sp>
        <p:nvSpPr>
          <p:cNvPr id="18" name="Text 16"/>
          <p:cNvSpPr txBox="1"/>
          <p:nvPr/>
        </p:nvSpPr>
        <p:spPr>
          <a:xfrm>
            <a:off x="2834640" y="4882896"/>
            <a:ext cx="8412480" cy="640080"/>
          </a:xfrm>
          <a:prstGeom prst="rect">
            <a:avLst/>
          </a:prstGeom>
          <a:noFill/>
          <a:ln/>
        </p:spPr>
        <p:txBody>
          <a:bodyPr wrap="square" lIns="0" tIns="0" rIns="0" bIns="0" rtlCol="0" anchor="ctr"/>
          <a:lstStyle/>
          <a:p>
            <a:pPr indent="0" marL="0">
              <a:lnSpc>
                <a:spcPts val="2100"/>
              </a:lnSpc>
              <a:buNone/>
            </a:pPr>
            <a:r>
              <a:rPr lang="en-US" sz="1500" dirty="0">
                <a:solidFill>
                  <a:srgbClr val="121821"/>
                </a:solidFill>
                <a:latin typeface="Calibri" pitchFamily="34" charset="0"/>
                <a:ea typeface="Calibri" pitchFamily="34" charset="-122"/>
                <a:cs typeface="Calibri" pitchFamily="34" charset="-120"/>
              </a:rPr>
              <a:t>Add the data and model checks. Start tagging. Move a second project across.</a:t>
            </a:r>
            <a:endParaRPr lang="en-US" sz="1500" dirty="0"/>
          </a:p>
        </p:txBody>
      </p:sp>
      <p:sp>
        <p:nvSpPr>
          <p:cNvPr id="19" name="Shape 17"/>
          <p:cNvSpPr/>
          <p:nvPr/>
        </p:nvSpPr>
        <p:spPr>
          <a:xfrm>
            <a:off x="731520" y="5806440"/>
            <a:ext cx="10698480" cy="0"/>
          </a:xfrm>
          <a:prstGeom prst="line">
            <a:avLst/>
          </a:prstGeom>
          <a:noFill/>
          <a:ln w="12700">
            <a:solidFill>
              <a:srgbClr val="CDD4DE"/>
            </a:solidFill>
            <a:prstDash val="solid"/>
          </a:ln>
        </p:spPr>
        <p:txBody>
          <a:bodyPr/>
          <a:p/>
        </p:txBody>
      </p:sp>
      <p:sp>
        <p:nvSpPr>
          <p:cNvPr id="20" name="Text 18"/>
          <p:cNvSpPr txBox="1"/>
          <p:nvPr/>
        </p:nvSpPr>
        <p:spPr>
          <a:xfrm>
            <a:off x="731520" y="5989320"/>
            <a:ext cx="6858000" cy="329184"/>
          </a:xfrm>
          <a:prstGeom prst="rect">
            <a:avLst/>
          </a:prstGeom>
          <a:noFill/>
          <a:ln/>
        </p:spPr>
        <p:txBody>
          <a:bodyPr wrap="square" lIns="0" tIns="0" rIns="0" bIns="0" rtlCol="0" anchor="ctr"/>
          <a:lstStyle/>
          <a:p>
            <a:pPr indent="0" marL="0">
              <a:buNone/>
            </a:pPr>
            <a:r>
              <a:rPr lang="en-US" sz="1700" b="1" dirty="0">
                <a:solidFill>
                  <a:srgbClr val="8A5E14"/>
                </a:solidFill>
                <a:latin typeface="Calibri" pitchFamily="34" charset="0"/>
                <a:ea typeface="Calibri" pitchFamily="34" charset="-122"/>
                <a:cs typeface="Calibri" pitchFamily="34" charset="-120"/>
              </a:rPr>
              <a:t>The three who have never used Git should not learn Git.</a:t>
            </a:r>
            <a:endParaRPr lang="en-US" sz="1700" dirty="0"/>
          </a:p>
        </p:txBody>
      </p:sp>
      <p:sp>
        <p:nvSpPr>
          <p:cNvPr id="21" name="Text 19"/>
          <p:cNvSpPr txBox="1"/>
          <p:nvPr/>
        </p:nvSpPr>
        <p:spPr>
          <a:xfrm>
            <a:off x="731520" y="6364224"/>
            <a:ext cx="6858000" cy="292608"/>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Four buttons in VS Code. Conflicts go to an experienced colleague for the first month.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3B5C"/>
        </a:solidFill>
      </p:bgPr>
    </p:bg>
    <p:spTree>
      <p:nvGrpSpPr>
        <p:cNvPr id="1" name=""/>
        <p:cNvGrpSpPr/>
        <p:nvPr/>
      </p:nvGrpSpPr>
      <p:grpSpPr>
        <a:xfrm>
          <a:off x="0" y="0"/>
          <a:ext cx="0" cy="0"/>
          <a:chOff x="0" y="0"/>
          <a:chExt cx="0" cy="0"/>
        </a:xfrm>
      </p:grpSpPr>
      <p:sp>
        <p:nvSpPr>
          <p:cNvPr id="2" name="Text 0"/>
          <p:cNvSpPr txBox="1"/>
          <p:nvPr/>
        </p:nvSpPr>
        <p:spPr>
          <a:xfrm>
            <a:off x="731520" y="822960"/>
            <a:ext cx="10698480" cy="237744"/>
          </a:xfrm>
          <a:prstGeom prst="rect">
            <a:avLst/>
          </a:prstGeom>
          <a:noFill/>
          <a:ln/>
        </p:spPr>
        <p:txBody>
          <a:bodyPr wrap="square" lIns="0" tIns="0" rIns="0" bIns="0" rtlCol="0" anchor="ctr"/>
          <a:lstStyle/>
          <a:p>
            <a:pPr indent="0" marL="0">
              <a:buNone/>
            </a:pPr>
            <a:r>
              <a:rPr lang="en-US" sz="1050" b="1" spc="200" kern="0" dirty="0">
                <a:solidFill>
                  <a:srgbClr val="D6A24A"/>
                </a:solidFill>
                <a:latin typeface="Arial" pitchFamily="34" charset="0"/>
                <a:ea typeface="Arial" pitchFamily="34" charset="-122"/>
                <a:cs typeface="Arial" pitchFamily="34" charset="-120"/>
              </a:rPr>
              <a:t>IF YOU TAKE THREE THINGS</a:t>
            </a:r>
            <a:endParaRPr lang="en-US" sz="1050" dirty="0"/>
          </a:p>
        </p:txBody>
      </p:sp>
      <p:sp>
        <p:nvSpPr>
          <p:cNvPr id="3" name="Text 1"/>
          <p:cNvSpPr txBox="1"/>
          <p:nvPr/>
        </p:nvSpPr>
        <p:spPr>
          <a:xfrm>
            <a:off x="731520" y="1234440"/>
            <a:ext cx="10698480" cy="64008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The ones that actually matter</a:t>
            </a:r>
            <a:endParaRPr lang="en-US" sz="3300" dirty="0"/>
          </a:p>
        </p:txBody>
      </p:sp>
      <p:sp>
        <p:nvSpPr>
          <p:cNvPr id="4" name="Text 2"/>
          <p:cNvSpPr txBox="1"/>
          <p:nvPr/>
        </p:nvSpPr>
        <p:spPr>
          <a:xfrm>
            <a:off x="731520" y="2423160"/>
            <a:ext cx="914400" cy="457200"/>
          </a:xfrm>
          <a:prstGeom prst="rect">
            <a:avLst/>
          </a:prstGeom>
          <a:noFill/>
          <a:ln/>
        </p:spPr>
        <p:txBody>
          <a:bodyPr wrap="square" lIns="0" tIns="0" rIns="0" bIns="0" rtlCol="0" anchor="ctr"/>
          <a:lstStyle/>
          <a:p>
            <a:pPr indent="0" marL="0">
              <a:buNone/>
            </a:pPr>
            <a:r>
              <a:rPr lang="en-US" sz="2900" b="1" dirty="0">
                <a:solidFill>
                  <a:srgbClr val="D6A24A"/>
                </a:solidFill>
                <a:latin typeface="Arial" pitchFamily="34" charset="0"/>
                <a:ea typeface="Arial" pitchFamily="34" charset="-122"/>
                <a:cs typeface="Arial" pitchFamily="34" charset="-120"/>
              </a:rPr>
              <a:t>01</a:t>
            </a:r>
            <a:endParaRPr lang="en-US" sz="2900" dirty="0"/>
          </a:p>
        </p:txBody>
      </p:sp>
      <p:sp>
        <p:nvSpPr>
          <p:cNvPr id="5" name="Text 3"/>
          <p:cNvSpPr txBox="1"/>
          <p:nvPr/>
        </p:nvSpPr>
        <p:spPr>
          <a:xfrm>
            <a:off x="1965960" y="2441448"/>
            <a:ext cx="603504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Protected main, from day one</a:t>
            </a:r>
            <a:endParaRPr lang="en-US" sz="2000" dirty="0"/>
          </a:p>
        </p:txBody>
      </p:sp>
      <p:sp>
        <p:nvSpPr>
          <p:cNvPr id="6" name="Text 4"/>
          <p:cNvSpPr txBox="1"/>
          <p:nvPr/>
        </p:nvSpPr>
        <p:spPr>
          <a:xfrm>
            <a:off x="1965960" y="2898648"/>
            <a:ext cx="6035040" cy="292608"/>
          </a:xfrm>
          <a:prstGeom prst="rect">
            <a:avLst/>
          </a:prstGeom>
          <a:noFill/>
          <a:ln/>
        </p:spPr>
        <p:txBody>
          <a:bodyPr wrap="square" lIns="0" tIns="0" rIns="0" bIns="0" rtlCol="0" anchor="ctr"/>
          <a:lstStyle/>
          <a:p>
            <a:pPr indent="0" marL="0">
              <a:buNone/>
            </a:pPr>
            <a:r>
              <a:rPr lang="en-US" sz="1400" dirty="0">
                <a:solidFill>
                  <a:srgbClr val="C3D2E2"/>
                </a:solidFill>
                <a:latin typeface="Calibri" pitchFamily="34" charset="0"/>
                <a:ea typeface="Calibri" pitchFamily="34" charset="-122"/>
                <a:cs typeface="Calibri" pitchFamily="34" charset="-120"/>
              </a:rPr>
              <a:t>Otherwise the rest is a suggestion.</a:t>
            </a:r>
            <a:endParaRPr lang="en-US" sz="1400" dirty="0"/>
          </a:p>
        </p:txBody>
      </p:sp>
      <p:sp>
        <p:nvSpPr>
          <p:cNvPr id="7" name="Text 5"/>
          <p:cNvSpPr txBox="1"/>
          <p:nvPr/>
        </p:nvSpPr>
        <p:spPr>
          <a:xfrm>
            <a:off x="731520" y="3566160"/>
            <a:ext cx="914400" cy="457200"/>
          </a:xfrm>
          <a:prstGeom prst="rect">
            <a:avLst/>
          </a:prstGeom>
          <a:noFill/>
          <a:ln/>
        </p:spPr>
        <p:txBody>
          <a:bodyPr wrap="square" lIns="0" tIns="0" rIns="0" bIns="0" rtlCol="0" anchor="ctr"/>
          <a:lstStyle/>
          <a:p>
            <a:pPr indent="0" marL="0">
              <a:buNone/>
            </a:pPr>
            <a:r>
              <a:rPr lang="en-US" sz="2900" b="1" dirty="0">
                <a:solidFill>
                  <a:srgbClr val="D6A24A"/>
                </a:solidFill>
                <a:latin typeface="Arial" pitchFamily="34" charset="0"/>
                <a:ea typeface="Arial" pitchFamily="34" charset="-122"/>
                <a:cs typeface="Arial" pitchFamily="34" charset="-120"/>
              </a:rPr>
              <a:t>02</a:t>
            </a:r>
            <a:endParaRPr lang="en-US" sz="2900" dirty="0"/>
          </a:p>
        </p:txBody>
      </p:sp>
      <p:sp>
        <p:nvSpPr>
          <p:cNvPr id="8" name="Text 6"/>
          <p:cNvSpPr txBox="1"/>
          <p:nvPr/>
        </p:nvSpPr>
        <p:spPr>
          <a:xfrm>
            <a:off x="1965960" y="3584448"/>
            <a:ext cx="603504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Client numbers never come from a notebook</a:t>
            </a:r>
            <a:endParaRPr lang="en-US" sz="2000" dirty="0"/>
          </a:p>
        </p:txBody>
      </p:sp>
      <p:sp>
        <p:nvSpPr>
          <p:cNvPr id="9" name="Text 7"/>
          <p:cNvSpPr txBox="1"/>
          <p:nvPr/>
        </p:nvSpPr>
        <p:spPr>
          <a:xfrm>
            <a:off x="1965960" y="4041648"/>
            <a:ext cx="6035040" cy="292608"/>
          </a:xfrm>
          <a:prstGeom prst="rect">
            <a:avLst/>
          </a:prstGeom>
          <a:noFill/>
          <a:ln/>
        </p:spPr>
        <p:txBody>
          <a:bodyPr wrap="square" lIns="0" tIns="0" rIns="0" bIns="0" rtlCol="0" anchor="ctr"/>
          <a:lstStyle/>
          <a:p>
            <a:pPr indent="0" marL="0">
              <a:buNone/>
            </a:pPr>
            <a:r>
              <a:rPr lang="en-US" sz="1400" dirty="0">
                <a:solidFill>
                  <a:srgbClr val="C3D2E2"/>
                </a:solidFill>
                <a:latin typeface="Calibri" pitchFamily="34" charset="0"/>
                <a:ea typeface="Calibri" pitchFamily="34" charset="-122"/>
                <a:cs typeface="Calibri" pitchFamily="34" charset="-120"/>
              </a:rPr>
              <a:t>Everything else depends on this.</a:t>
            </a:r>
            <a:endParaRPr lang="en-US" sz="1400" dirty="0"/>
          </a:p>
        </p:txBody>
      </p:sp>
      <p:sp>
        <p:nvSpPr>
          <p:cNvPr id="10" name="Text 8"/>
          <p:cNvSpPr txBox="1"/>
          <p:nvPr/>
        </p:nvSpPr>
        <p:spPr>
          <a:xfrm>
            <a:off x="731520" y="4709160"/>
            <a:ext cx="914400" cy="457200"/>
          </a:xfrm>
          <a:prstGeom prst="rect">
            <a:avLst/>
          </a:prstGeom>
          <a:noFill/>
          <a:ln/>
        </p:spPr>
        <p:txBody>
          <a:bodyPr wrap="square" lIns="0" tIns="0" rIns="0" bIns="0" rtlCol="0" anchor="ctr"/>
          <a:lstStyle/>
          <a:p>
            <a:pPr indent="0" marL="0">
              <a:buNone/>
            </a:pPr>
            <a:r>
              <a:rPr lang="en-US" sz="2900" b="1" dirty="0">
                <a:solidFill>
                  <a:srgbClr val="D6A24A"/>
                </a:solidFill>
                <a:latin typeface="Arial" pitchFamily="34" charset="0"/>
                <a:ea typeface="Arial" pitchFamily="34" charset="-122"/>
                <a:cs typeface="Arial" pitchFamily="34" charset="-120"/>
              </a:rPr>
              <a:t>03</a:t>
            </a:r>
            <a:endParaRPr lang="en-US" sz="2900" dirty="0"/>
          </a:p>
        </p:txBody>
      </p:sp>
      <p:sp>
        <p:nvSpPr>
          <p:cNvPr id="11" name="Text 9"/>
          <p:cNvSpPr txBox="1"/>
          <p:nvPr/>
        </p:nvSpPr>
        <p:spPr>
          <a:xfrm>
            <a:off x="1965960" y="4727448"/>
            <a:ext cx="603504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Tag every deliverable</a:t>
            </a:r>
            <a:endParaRPr lang="en-US" sz="2000" dirty="0"/>
          </a:p>
        </p:txBody>
      </p:sp>
      <p:sp>
        <p:nvSpPr>
          <p:cNvPr id="12" name="Text 10"/>
          <p:cNvSpPr txBox="1"/>
          <p:nvPr/>
        </p:nvSpPr>
        <p:spPr>
          <a:xfrm>
            <a:off x="1965960" y="5184648"/>
            <a:ext cx="6035040" cy="292608"/>
          </a:xfrm>
          <a:prstGeom prst="rect">
            <a:avLst/>
          </a:prstGeom>
          <a:noFill/>
          <a:ln/>
        </p:spPr>
        <p:txBody>
          <a:bodyPr wrap="square" lIns="0" tIns="0" rIns="0" bIns="0" rtlCol="0" anchor="ctr"/>
          <a:lstStyle/>
          <a:p>
            <a:pPr indent="0" marL="0">
              <a:buNone/>
            </a:pPr>
            <a:r>
              <a:rPr lang="en-US" sz="1400" dirty="0">
                <a:solidFill>
                  <a:srgbClr val="C3D2E2"/>
                </a:solidFill>
                <a:latin typeface="Calibri" pitchFamily="34" charset="0"/>
                <a:ea typeface="Calibri" pitchFamily="34" charset="-122"/>
                <a:cs typeface="Calibri" pitchFamily="34" charset="-120"/>
              </a:rPr>
              <a:t>Rebuilding becomes a checkout.</a:t>
            </a:r>
            <a:endParaRPr lang="en-US" sz="1400" dirty="0"/>
          </a:p>
        </p:txBody>
      </p:sp>
      <p:sp>
        <p:nvSpPr>
          <p:cNvPr id="13" name="Text 11"/>
          <p:cNvSpPr txBox="1"/>
          <p:nvPr/>
        </p:nvSpPr>
        <p:spPr>
          <a:xfrm>
            <a:off x="731520" y="6035040"/>
            <a:ext cx="10698480" cy="320040"/>
          </a:xfrm>
          <a:prstGeom prst="rect">
            <a:avLst/>
          </a:prstGeom>
          <a:noFill/>
          <a:ln/>
        </p:spPr>
        <p:txBody>
          <a:bodyPr wrap="square" lIns="0" tIns="0" rIns="0" bIns="0" rtlCol="0" anchor="ctr"/>
          <a:lstStyle/>
          <a:p>
            <a:pPr indent="0" marL="0">
              <a:buNone/>
            </a:pPr>
            <a:r>
              <a:rPr lang="en-US" sz="1500" b="1" dirty="0">
                <a:solidFill>
                  <a:srgbClr val="D6A24A"/>
                </a:solidFill>
                <a:latin typeface="Calibri" pitchFamily="34" charset="0"/>
                <a:ea typeface="Calibri" pitchFamily="34" charset="-122"/>
                <a:cs typeface="Calibri" pitchFamily="34" charset="-120"/>
              </a:rPr>
              <a:t>Take these three, ignore every tool I have named, and you get most of the value.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731520" y="566928"/>
            <a:ext cx="10698480" cy="219456"/>
          </a:xfrm>
          <a:prstGeom prst="rect">
            <a:avLst/>
          </a:prstGeom>
          <a:noFill/>
          <a:ln/>
        </p:spPr>
        <p:txBody>
          <a:bodyPr wrap="square" lIns="0" tIns="0" rIns="0" bIns="0" rtlCol="0" anchor="ctr"/>
          <a:lstStyle/>
          <a:p>
            <a:pPr indent="0" marL="0">
              <a:buNone/>
            </a:pPr>
            <a:r>
              <a:rPr lang="en-US" sz="1000" b="1" spc="190" kern="0" dirty="0">
                <a:solidFill>
                  <a:srgbClr val="9B3720"/>
                </a:solidFill>
                <a:latin typeface="Arial" pitchFamily="34" charset="0"/>
                <a:ea typeface="Arial" pitchFamily="34" charset="-122"/>
                <a:cs typeface="Arial" pitchFamily="34" charset="-120"/>
              </a:rPr>
              <a:t>AN HONEST READ</a:t>
            </a:r>
            <a:endParaRPr lang="en-US" sz="1000" dirty="0"/>
          </a:p>
        </p:txBody>
      </p:sp>
      <p:sp>
        <p:nvSpPr>
          <p:cNvPr id="3" name="Text 1"/>
          <p:cNvSpPr txBox="1"/>
          <p:nvPr/>
        </p:nvSpPr>
        <p:spPr>
          <a:xfrm>
            <a:off x="731520" y="914400"/>
            <a:ext cx="10698480" cy="640080"/>
          </a:xfrm>
          <a:prstGeom prst="rect">
            <a:avLst/>
          </a:prstGeom>
          <a:noFill/>
          <a:ln/>
        </p:spPr>
        <p:txBody>
          <a:bodyPr wrap="square" lIns="0" tIns="0" rIns="0" bIns="0" rtlCol="0" anchor="ctr"/>
          <a:lstStyle/>
          <a:p>
            <a:pPr indent="0" marL="0">
              <a:buNone/>
            </a:pPr>
            <a:r>
              <a:rPr lang="en-US" sz="3300" b="1" dirty="0">
                <a:solidFill>
                  <a:srgbClr val="121821"/>
                </a:solidFill>
                <a:latin typeface="Arial" pitchFamily="34" charset="0"/>
                <a:ea typeface="Arial" pitchFamily="34" charset="-122"/>
                <a:cs typeface="Arial" pitchFamily="34" charset="-120"/>
              </a:rPr>
              <a:t>Where this falls over</a:t>
            </a:r>
            <a:endParaRPr lang="en-US" sz="3300" dirty="0"/>
          </a:p>
        </p:txBody>
      </p:sp>
      <p:sp>
        <p:nvSpPr>
          <p:cNvPr id="4" name="Shape 2"/>
          <p:cNvSpPr/>
          <p:nvPr/>
        </p:nvSpPr>
        <p:spPr>
          <a:xfrm>
            <a:off x="772668" y="2098548"/>
            <a:ext cx="100584" cy="100584"/>
          </a:xfrm>
          <a:prstGeom prst="ellipse">
            <a:avLst/>
          </a:prstGeom>
          <a:solidFill>
            <a:srgbClr val="9B3720"/>
          </a:solidFill>
          <a:ln w="12700">
            <a:solidFill>
              <a:srgbClr val="9B3720"/>
            </a:solidFill>
            <a:prstDash val="solid"/>
          </a:ln>
        </p:spPr>
        <p:txBody>
          <a:bodyPr/>
          <a:p/>
        </p:txBody>
      </p:sp>
      <p:sp>
        <p:nvSpPr>
          <p:cNvPr id="5" name="Text 3"/>
          <p:cNvSpPr txBox="1"/>
          <p:nvPr/>
        </p:nvSpPr>
        <p:spPr>
          <a:xfrm>
            <a:off x="1051560" y="1965960"/>
            <a:ext cx="3931920" cy="292608"/>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Review becomes the bottleneck</a:t>
            </a:r>
            <a:endParaRPr lang="en-US" sz="1500" dirty="0"/>
          </a:p>
        </p:txBody>
      </p:sp>
      <p:sp>
        <p:nvSpPr>
          <p:cNvPr id="6" name="Text 4"/>
          <p:cNvSpPr txBox="1"/>
          <p:nvPr/>
        </p:nvSpPr>
        <p:spPr>
          <a:xfrm>
            <a:off x="1051560" y="2276856"/>
            <a:ext cx="3931920" cy="274320"/>
          </a:xfrm>
          <a:prstGeom prst="rect">
            <a:avLst/>
          </a:prstGeom>
          <a:noFill/>
          <a:ln/>
        </p:spPr>
        <p:txBody>
          <a:bodyPr wrap="square" lIns="0" tIns="0" rIns="0" bIns="0" rtlCol="0" anchor="ctr"/>
          <a:lstStyle/>
          <a:p>
            <a:pPr indent="0" marL="0">
              <a:buNone/>
            </a:pPr>
            <a:r>
              <a:rPr lang="en-US" sz="1250" dirty="0">
                <a:solidFill>
                  <a:srgbClr val="6E7A8C"/>
                </a:solidFill>
                <a:latin typeface="Calibri" pitchFamily="34" charset="0"/>
                <a:ea typeface="Calibri" pitchFamily="34" charset="-122"/>
                <a:cs typeface="Calibri" pitchFamily="34" charset="-120"/>
              </a:rPr>
              <a:t>Only two people can really review</a:t>
            </a:r>
            <a:endParaRPr lang="en-US" sz="1250" dirty="0"/>
          </a:p>
        </p:txBody>
      </p:sp>
      <p:sp>
        <p:nvSpPr>
          <p:cNvPr id="7" name="Text 5"/>
          <p:cNvSpPr txBox="1"/>
          <p:nvPr/>
        </p:nvSpPr>
        <p:spPr>
          <a:xfrm>
            <a:off x="5486400" y="2075688"/>
            <a:ext cx="5852160" cy="365760"/>
          </a:xfrm>
          <a:prstGeom prst="rect">
            <a:avLst/>
          </a:prstGeom>
          <a:noFill/>
          <a:ln/>
        </p:spPr>
        <p:txBody>
          <a:bodyPr wrap="square" lIns="0" tIns="0" rIns="0" bIns="0" rtlCol="0" anchor="ctr"/>
          <a:lstStyle/>
          <a:p>
            <a:pPr indent="0" marL="0">
              <a:buNone/>
            </a:pPr>
            <a:r>
              <a:rPr lang="en-US" sz="1350" dirty="0">
                <a:solidFill>
                  <a:srgbClr val="1F3B5C"/>
                </a:solidFill>
                <a:latin typeface="Calibri" pitchFamily="34" charset="0"/>
                <a:ea typeface="Calibri" pitchFamily="34" charset="-122"/>
                <a:cs typeface="Calibri" pitchFamily="34" charset="-120"/>
              </a:rPr>
              <a:t>Review within a day. Let people merge their own rough work.</a:t>
            </a:r>
            <a:endParaRPr lang="en-US" sz="1350" dirty="0"/>
          </a:p>
        </p:txBody>
      </p:sp>
      <p:sp>
        <p:nvSpPr>
          <p:cNvPr id="8" name="Shape 6"/>
          <p:cNvSpPr/>
          <p:nvPr/>
        </p:nvSpPr>
        <p:spPr>
          <a:xfrm>
            <a:off x="772668" y="2903220"/>
            <a:ext cx="100584" cy="100584"/>
          </a:xfrm>
          <a:prstGeom prst="ellipse">
            <a:avLst/>
          </a:prstGeom>
          <a:solidFill>
            <a:srgbClr val="9B3720"/>
          </a:solidFill>
          <a:ln w="12700">
            <a:solidFill>
              <a:srgbClr val="9B3720"/>
            </a:solidFill>
            <a:prstDash val="solid"/>
          </a:ln>
        </p:spPr>
        <p:txBody>
          <a:bodyPr/>
          <a:p/>
        </p:txBody>
      </p:sp>
      <p:sp>
        <p:nvSpPr>
          <p:cNvPr id="9" name="Text 7"/>
          <p:cNvSpPr txBox="1"/>
          <p:nvPr/>
        </p:nvSpPr>
        <p:spPr>
          <a:xfrm>
            <a:off x="1051560" y="2770632"/>
            <a:ext cx="3931920" cy="292608"/>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The checks become noise</a:t>
            </a:r>
            <a:endParaRPr lang="en-US" sz="1500" dirty="0"/>
          </a:p>
        </p:txBody>
      </p:sp>
      <p:sp>
        <p:nvSpPr>
          <p:cNvPr id="10" name="Text 8"/>
          <p:cNvSpPr txBox="1"/>
          <p:nvPr/>
        </p:nvSpPr>
        <p:spPr>
          <a:xfrm>
            <a:off x="1051560" y="3081528"/>
            <a:ext cx="3931920" cy="274320"/>
          </a:xfrm>
          <a:prstGeom prst="rect">
            <a:avLst/>
          </a:prstGeom>
          <a:noFill/>
          <a:ln/>
        </p:spPr>
        <p:txBody>
          <a:bodyPr wrap="square" lIns="0" tIns="0" rIns="0" bIns="0" rtlCol="0" anchor="ctr"/>
          <a:lstStyle/>
          <a:p>
            <a:pPr indent="0" marL="0">
              <a:buNone/>
            </a:pPr>
            <a:r>
              <a:rPr lang="en-US" sz="1250" dirty="0">
                <a:solidFill>
                  <a:srgbClr val="6E7A8C"/>
                </a:solidFill>
                <a:latin typeface="Calibri" pitchFamily="34" charset="0"/>
                <a:ea typeface="Calibri" pitchFamily="34" charset="-122"/>
                <a:cs typeface="Calibri" pitchFamily="34" charset="-120"/>
              </a:rPr>
              <a:t>A check nobody trusts is worse than none</a:t>
            </a:r>
            <a:endParaRPr lang="en-US" sz="1250" dirty="0"/>
          </a:p>
        </p:txBody>
      </p:sp>
      <p:sp>
        <p:nvSpPr>
          <p:cNvPr id="11" name="Text 9"/>
          <p:cNvSpPr txBox="1"/>
          <p:nvPr/>
        </p:nvSpPr>
        <p:spPr>
          <a:xfrm>
            <a:off x="5486400" y="2880360"/>
            <a:ext cx="5852160" cy="365760"/>
          </a:xfrm>
          <a:prstGeom prst="rect">
            <a:avLst/>
          </a:prstGeom>
          <a:noFill/>
          <a:ln/>
        </p:spPr>
        <p:txBody>
          <a:bodyPr wrap="square" lIns="0" tIns="0" rIns="0" bIns="0" rtlCol="0" anchor="ctr"/>
          <a:lstStyle/>
          <a:p>
            <a:pPr indent="0" marL="0">
              <a:buNone/>
            </a:pPr>
            <a:r>
              <a:rPr lang="en-US" sz="1350" dirty="0">
                <a:solidFill>
                  <a:srgbClr val="1F3B5C"/>
                </a:solidFill>
                <a:latin typeface="Calibri" pitchFamily="34" charset="0"/>
                <a:ea typeface="Calibri" pitchFamily="34" charset="-122"/>
                <a:cs typeface="Calibri" pitchFamily="34" charset="-120"/>
              </a:rPr>
              <a:t>Start with two. Delete false alarms.</a:t>
            </a:r>
            <a:endParaRPr lang="en-US" sz="1350" dirty="0"/>
          </a:p>
        </p:txBody>
      </p:sp>
      <p:sp>
        <p:nvSpPr>
          <p:cNvPr id="12" name="Shape 10"/>
          <p:cNvSpPr/>
          <p:nvPr/>
        </p:nvSpPr>
        <p:spPr>
          <a:xfrm>
            <a:off x="772668" y="3707892"/>
            <a:ext cx="100584" cy="100584"/>
          </a:xfrm>
          <a:prstGeom prst="ellipse">
            <a:avLst/>
          </a:prstGeom>
          <a:solidFill>
            <a:srgbClr val="9B3720"/>
          </a:solidFill>
          <a:ln w="12700">
            <a:solidFill>
              <a:srgbClr val="9B3720"/>
            </a:solidFill>
            <a:prstDash val="solid"/>
          </a:ln>
        </p:spPr>
        <p:txBody>
          <a:bodyPr/>
          <a:p/>
        </p:txBody>
      </p:sp>
      <p:sp>
        <p:nvSpPr>
          <p:cNvPr id="13" name="Text 11"/>
          <p:cNvSpPr txBox="1"/>
          <p:nvPr/>
        </p:nvSpPr>
        <p:spPr>
          <a:xfrm>
            <a:off x="1051560" y="3575304"/>
            <a:ext cx="3931920" cy="292608"/>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The novices bounce</a:t>
            </a:r>
            <a:endParaRPr lang="en-US" sz="1500" dirty="0"/>
          </a:p>
        </p:txBody>
      </p:sp>
      <p:sp>
        <p:nvSpPr>
          <p:cNvPr id="14" name="Text 12"/>
          <p:cNvSpPr txBox="1"/>
          <p:nvPr/>
        </p:nvSpPr>
        <p:spPr>
          <a:xfrm>
            <a:off x="1051560" y="3886200"/>
            <a:ext cx="3931920" cy="274320"/>
          </a:xfrm>
          <a:prstGeom prst="rect">
            <a:avLst/>
          </a:prstGeom>
          <a:noFill/>
          <a:ln/>
        </p:spPr>
        <p:txBody>
          <a:bodyPr wrap="square" lIns="0" tIns="0" rIns="0" bIns="0" rtlCol="0" anchor="ctr"/>
          <a:lstStyle/>
          <a:p>
            <a:pPr indent="0" marL="0">
              <a:buNone/>
            </a:pPr>
            <a:r>
              <a:rPr lang="en-US" sz="1250" dirty="0">
                <a:solidFill>
                  <a:srgbClr val="6E7A8C"/>
                </a:solidFill>
                <a:latin typeface="Calibri" pitchFamily="34" charset="0"/>
                <a:ea typeface="Calibri" pitchFamily="34" charset="-122"/>
                <a:cs typeface="Calibri" pitchFamily="34" charset="-120"/>
              </a:rPr>
              <a:t>One bad conflict at a deadline</a:t>
            </a:r>
            <a:endParaRPr lang="en-US" sz="1250" dirty="0"/>
          </a:p>
        </p:txBody>
      </p:sp>
      <p:sp>
        <p:nvSpPr>
          <p:cNvPr id="15" name="Text 13"/>
          <p:cNvSpPr txBox="1"/>
          <p:nvPr/>
        </p:nvSpPr>
        <p:spPr>
          <a:xfrm>
            <a:off x="5486400" y="3685032"/>
            <a:ext cx="5852160" cy="365760"/>
          </a:xfrm>
          <a:prstGeom prst="rect">
            <a:avLst/>
          </a:prstGeom>
          <a:noFill/>
          <a:ln/>
        </p:spPr>
        <p:txBody>
          <a:bodyPr wrap="square" lIns="0" tIns="0" rIns="0" bIns="0" rtlCol="0" anchor="ctr"/>
          <a:lstStyle/>
          <a:p>
            <a:pPr indent="0" marL="0">
              <a:buNone/>
            </a:pPr>
            <a:r>
              <a:rPr lang="en-US" sz="1350" dirty="0">
                <a:solidFill>
                  <a:srgbClr val="1F3B5C"/>
                </a:solidFill>
                <a:latin typeface="Calibri" pitchFamily="34" charset="0"/>
                <a:ea typeface="Calibri" pitchFamily="34" charset="-122"/>
                <a:cs typeface="Calibri" pitchFamily="34" charset="-120"/>
              </a:rPr>
              <a:t>GUI, escalation, practise project.</a:t>
            </a:r>
            <a:endParaRPr lang="en-US" sz="1350" dirty="0"/>
          </a:p>
        </p:txBody>
      </p:sp>
      <p:sp>
        <p:nvSpPr>
          <p:cNvPr id="16" name="Shape 14"/>
          <p:cNvSpPr/>
          <p:nvPr/>
        </p:nvSpPr>
        <p:spPr>
          <a:xfrm>
            <a:off x="772668" y="4512564"/>
            <a:ext cx="100584" cy="100584"/>
          </a:xfrm>
          <a:prstGeom prst="ellipse">
            <a:avLst/>
          </a:prstGeom>
          <a:solidFill>
            <a:srgbClr val="9B3720"/>
          </a:solidFill>
          <a:ln w="12700">
            <a:solidFill>
              <a:srgbClr val="9B3720"/>
            </a:solidFill>
            <a:prstDash val="solid"/>
          </a:ln>
        </p:spPr>
        <p:txBody>
          <a:bodyPr/>
          <a:p/>
        </p:txBody>
      </p:sp>
      <p:sp>
        <p:nvSpPr>
          <p:cNvPr id="17" name="Text 15"/>
          <p:cNvSpPr txBox="1"/>
          <p:nvPr/>
        </p:nvSpPr>
        <p:spPr>
          <a:xfrm>
            <a:off x="1051560" y="4379976"/>
            <a:ext cx="3931920" cy="292608"/>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Client data cannot live here</a:t>
            </a:r>
            <a:endParaRPr lang="en-US" sz="1500" dirty="0"/>
          </a:p>
        </p:txBody>
      </p:sp>
      <p:sp>
        <p:nvSpPr>
          <p:cNvPr id="18" name="Text 16"/>
          <p:cNvSpPr txBox="1"/>
          <p:nvPr/>
        </p:nvSpPr>
        <p:spPr>
          <a:xfrm>
            <a:off x="1051560" y="4690872"/>
            <a:ext cx="3931920" cy="274320"/>
          </a:xfrm>
          <a:prstGeom prst="rect">
            <a:avLst/>
          </a:prstGeom>
          <a:noFill/>
          <a:ln/>
        </p:spPr>
        <p:txBody>
          <a:bodyPr wrap="square" lIns="0" tIns="0" rIns="0" bIns="0" rtlCol="0" anchor="ctr"/>
          <a:lstStyle/>
          <a:p>
            <a:pPr indent="0" marL="0">
              <a:buNone/>
            </a:pPr>
            <a:r>
              <a:rPr lang="en-US" sz="1250" dirty="0">
                <a:solidFill>
                  <a:srgbClr val="6E7A8C"/>
                </a:solidFill>
                <a:latin typeface="Calibri" pitchFamily="34" charset="0"/>
                <a:ea typeface="Calibri" pitchFamily="34" charset="-122"/>
                <a:cs typeface="Calibri" pitchFamily="34" charset="-120"/>
              </a:rPr>
              <a:t>Rules about where data must stay</a:t>
            </a:r>
            <a:endParaRPr lang="en-US" sz="1250" dirty="0"/>
          </a:p>
        </p:txBody>
      </p:sp>
      <p:sp>
        <p:nvSpPr>
          <p:cNvPr id="19" name="Text 17"/>
          <p:cNvSpPr txBox="1"/>
          <p:nvPr/>
        </p:nvSpPr>
        <p:spPr>
          <a:xfrm>
            <a:off x="5486400" y="4489704"/>
            <a:ext cx="5852160" cy="365760"/>
          </a:xfrm>
          <a:prstGeom prst="rect">
            <a:avLst/>
          </a:prstGeom>
          <a:noFill/>
          <a:ln/>
        </p:spPr>
        <p:txBody>
          <a:bodyPr wrap="square" lIns="0" tIns="0" rIns="0" bIns="0" rtlCol="0" anchor="ctr"/>
          <a:lstStyle/>
          <a:p>
            <a:pPr indent="0" marL="0">
              <a:buNone/>
            </a:pPr>
            <a:r>
              <a:rPr lang="en-US" sz="1350" dirty="0">
                <a:solidFill>
                  <a:srgbClr val="1F3B5C"/>
                </a:solidFill>
                <a:latin typeface="Calibri" pitchFamily="34" charset="0"/>
                <a:ea typeface="Calibri" pitchFamily="34" charset="-122"/>
                <a:cs typeface="Calibri" pitchFamily="34" charset="-120"/>
              </a:rPr>
              <a:t>This is the assumption I most want tested.</a:t>
            </a:r>
            <a:endParaRPr lang="en-US" sz="1350" dirty="0"/>
          </a:p>
        </p:txBody>
      </p:sp>
      <p:sp>
        <p:nvSpPr>
          <p:cNvPr id="20" name="Shape 18"/>
          <p:cNvSpPr/>
          <p:nvPr/>
        </p:nvSpPr>
        <p:spPr>
          <a:xfrm>
            <a:off x="772668" y="5317236"/>
            <a:ext cx="100584" cy="100584"/>
          </a:xfrm>
          <a:prstGeom prst="ellipse">
            <a:avLst/>
          </a:prstGeom>
          <a:solidFill>
            <a:srgbClr val="9B3720"/>
          </a:solidFill>
          <a:ln w="12700">
            <a:solidFill>
              <a:srgbClr val="9B3720"/>
            </a:solidFill>
            <a:prstDash val="solid"/>
          </a:ln>
        </p:spPr>
        <p:txBody>
          <a:bodyPr/>
          <a:p/>
        </p:txBody>
      </p:sp>
      <p:sp>
        <p:nvSpPr>
          <p:cNvPr id="21" name="Text 19"/>
          <p:cNvSpPr txBox="1"/>
          <p:nvPr/>
        </p:nvSpPr>
        <p:spPr>
          <a:xfrm>
            <a:off x="1051560" y="5184648"/>
            <a:ext cx="3931920" cy="292608"/>
          </a:xfrm>
          <a:prstGeom prst="rect">
            <a:avLst/>
          </a:prstGeom>
          <a:noFill/>
          <a:ln/>
        </p:spPr>
        <p:txBody>
          <a:bodyPr wrap="square" lIns="0" tIns="0" rIns="0" bIns="0" rtlCol="0" anchor="ctr"/>
          <a:lstStyle/>
          <a:p>
            <a:pPr indent="0" marL="0">
              <a:buNone/>
            </a:pPr>
            <a:r>
              <a:rPr lang="en-US" sz="1500" b="1" dirty="0">
                <a:solidFill>
                  <a:srgbClr val="121821"/>
                </a:solidFill>
                <a:latin typeface="Arial" pitchFamily="34" charset="0"/>
                <a:ea typeface="Arial" pitchFamily="34" charset="-122"/>
                <a:cs typeface="Arial" pitchFamily="34" charset="-120"/>
              </a:rPr>
              <a:t>The work is mostly exploration</a:t>
            </a:r>
            <a:endParaRPr lang="en-US" sz="1500" dirty="0"/>
          </a:p>
        </p:txBody>
      </p:sp>
      <p:sp>
        <p:nvSpPr>
          <p:cNvPr id="22" name="Text 20"/>
          <p:cNvSpPr txBox="1"/>
          <p:nvPr/>
        </p:nvSpPr>
        <p:spPr>
          <a:xfrm>
            <a:off x="1051560" y="5495544"/>
            <a:ext cx="3931920" cy="274320"/>
          </a:xfrm>
          <a:prstGeom prst="rect">
            <a:avLst/>
          </a:prstGeom>
          <a:noFill/>
          <a:ln/>
        </p:spPr>
        <p:txBody>
          <a:bodyPr wrap="square" lIns="0" tIns="0" rIns="0" bIns="0" rtlCol="0" anchor="ctr"/>
          <a:lstStyle/>
          <a:p>
            <a:pPr indent="0" marL="0">
              <a:buNone/>
            </a:pPr>
            <a:r>
              <a:rPr lang="en-US" sz="1250" dirty="0">
                <a:solidFill>
                  <a:srgbClr val="6E7A8C"/>
                </a:solidFill>
                <a:latin typeface="Calibri" pitchFamily="34" charset="0"/>
                <a:ea typeface="Calibri" pitchFamily="34" charset="-122"/>
                <a:cs typeface="Calibri" pitchFamily="34" charset="-120"/>
              </a:rPr>
              <a:t>Then review is a tax</a:t>
            </a:r>
            <a:endParaRPr lang="en-US" sz="1250" dirty="0"/>
          </a:p>
        </p:txBody>
      </p:sp>
      <p:sp>
        <p:nvSpPr>
          <p:cNvPr id="23" name="Text 21"/>
          <p:cNvSpPr txBox="1"/>
          <p:nvPr/>
        </p:nvSpPr>
        <p:spPr>
          <a:xfrm>
            <a:off x="5486400" y="5294376"/>
            <a:ext cx="5852160" cy="365760"/>
          </a:xfrm>
          <a:prstGeom prst="rect">
            <a:avLst/>
          </a:prstGeom>
          <a:noFill/>
          <a:ln/>
        </p:spPr>
        <p:txBody>
          <a:bodyPr wrap="square" lIns="0" tIns="0" rIns="0" bIns="0" rtlCol="0" anchor="ctr"/>
          <a:lstStyle/>
          <a:p>
            <a:pPr indent="0" marL="0">
              <a:buNone/>
            </a:pPr>
            <a:r>
              <a:rPr lang="en-US" sz="1350" dirty="0">
                <a:solidFill>
                  <a:srgbClr val="1F3B5C"/>
                </a:solidFill>
                <a:latin typeface="Calibri" pitchFamily="34" charset="0"/>
                <a:ea typeface="Calibri" pitchFamily="34" charset="-122"/>
                <a:cs typeface="Calibri" pitchFamily="34" charset="-120"/>
              </a:rPr>
              <a:t>The two lane rule does the work.</a:t>
            </a:r>
            <a:endParaRPr lang="en-US" sz="1350" dirty="0"/>
          </a:p>
        </p:txBody>
      </p:sp>
      <p:sp>
        <p:nvSpPr>
          <p:cNvPr id="24" name="Shape 22"/>
          <p:cNvSpPr/>
          <p:nvPr/>
        </p:nvSpPr>
        <p:spPr>
          <a:xfrm>
            <a:off x="731520" y="6080760"/>
            <a:ext cx="10698480" cy="0"/>
          </a:xfrm>
          <a:prstGeom prst="line">
            <a:avLst/>
          </a:prstGeom>
          <a:noFill/>
          <a:ln w="12700">
            <a:solidFill>
              <a:srgbClr val="CDD4DE"/>
            </a:solidFill>
            <a:prstDash val="solid"/>
          </a:ln>
        </p:spPr>
        <p:txBody>
          <a:bodyPr/>
          <a:p/>
        </p:txBody>
      </p:sp>
      <p:sp>
        <p:nvSpPr>
          <p:cNvPr id="25" name="Text 23"/>
          <p:cNvSpPr txBox="1"/>
          <p:nvPr/>
        </p:nvSpPr>
        <p:spPr>
          <a:xfrm>
            <a:off x="731520" y="6309360"/>
            <a:ext cx="10698480" cy="329184"/>
          </a:xfrm>
          <a:prstGeom prst="rect">
            <a:avLst/>
          </a:prstGeom>
          <a:noFill/>
          <a:ln/>
        </p:spPr>
        <p:txBody>
          <a:bodyPr wrap="square" lIns="0" tIns="0" rIns="0" bIns="0" rtlCol="0" anchor="ctr"/>
          <a:lstStyle/>
          <a:p>
            <a:pPr indent="0" marL="0">
              <a:buNone/>
            </a:pPr>
            <a:r>
              <a:rPr lang="en-US" sz="1400" i="1" dirty="0">
                <a:solidFill>
                  <a:srgbClr val="6E7A8C"/>
                </a:solidFill>
                <a:latin typeface="Calibri" pitchFamily="34" charset="0"/>
                <a:ea typeface="Calibri" pitchFamily="34" charset="-122"/>
                <a:cs typeface="Calibri" pitchFamily="34" charset="-120"/>
              </a:rPr>
              <a:t>I would change my mind if the team passed ten, or if compliance blocked central storage.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B5C"/>
        </a:solidFill>
      </p:bgPr>
    </p:bg>
    <p:spTree>
      <p:nvGrpSpPr>
        <p:cNvPr id="1" name=""/>
        <p:cNvGrpSpPr/>
        <p:nvPr/>
      </p:nvGrpSpPr>
      <p:grpSpPr>
        <a:xfrm>
          <a:off x="0" y="0"/>
          <a:ext cx="0" cy="0"/>
          <a:chOff x="0" y="0"/>
          <a:chExt cx="0" cy="0"/>
        </a:xfrm>
      </p:grpSpPr>
      <p:sp>
        <p:nvSpPr>
          <p:cNvPr id="2" name="Text 0"/>
          <p:cNvSpPr txBox="1"/>
          <p:nvPr/>
        </p:nvSpPr>
        <p:spPr>
          <a:xfrm>
            <a:off x="731520" y="1280160"/>
            <a:ext cx="10698480" cy="237744"/>
          </a:xfrm>
          <a:prstGeom prst="rect">
            <a:avLst/>
          </a:prstGeom>
          <a:noFill/>
          <a:ln/>
        </p:spPr>
        <p:txBody>
          <a:bodyPr wrap="square" lIns="0" tIns="0" rIns="0" bIns="0" rtlCol="0" anchor="ctr"/>
          <a:lstStyle/>
          <a:p>
            <a:pPr indent="0" marL="0">
              <a:buNone/>
            </a:pPr>
            <a:r>
              <a:rPr lang="en-US" sz="1050" b="1" spc="200" kern="0" dirty="0">
                <a:solidFill>
                  <a:srgbClr val="D6A24A"/>
                </a:solidFill>
                <a:latin typeface="Arial" pitchFamily="34" charset="0"/>
                <a:ea typeface="Arial" pitchFamily="34" charset="-122"/>
                <a:cs typeface="Arial" pitchFamily="34" charset="-120"/>
              </a:rPr>
              <a:t>WHAT I COULD NOT FIND OUT</a:t>
            </a:r>
            <a:endParaRPr lang="en-US" sz="1050" dirty="0"/>
          </a:p>
        </p:txBody>
      </p:sp>
      <p:sp>
        <p:nvSpPr>
          <p:cNvPr id="3" name="Text 1"/>
          <p:cNvSpPr txBox="1"/>
          <p:nvPr/>
        </p:nvSpPr>
        <p:spPr>
          <a:xfrm>
            <a:off x="731520" y="1691640"/>
            <a:ext cx="1069848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Four questions for you</a:t>
            </a:r>
            <a:endParaRPr lang="en-US" sz="3600" dirty="0"/>
          </a:p>
        </p:txBody>
      </p:sp>
      <p:sp>
        <p:nvSpPr>
          <p:cNvPr id="4" name="Shape 2"/>
          <p:cNvSpPr/>
          <p:nvPr/>
        </p:nvSpPr>
        <p:spPr>
          <a:xfrm>
            <a:off x="818388" y="2939796"/>
            <a:ext cx="155448" cy="155448"/>
          </a:xfrm>
          <a:prstGeom prst="ellipse">
            <a:avLst/>
          </a:prstGeom>
          <a:solidFill>
            <a:srgbClr val="D6A24A"/>
          </a:solidFill>
          <a:ln w="12700">
            <a:solidFill>
              <a:srgbClr val="D6A24A"/>
            </a:solidFill>
            <a:prstDash val="solid"/>
          </a:ln>
        </p:spPr>
        <p:txBody>
          <a:bodyPr/>
          <a:p/>
        </p:txBody>
      </p:sp>
      <p:sp>
        <p:nvSpPr>
          <p:cNvPr id="5" name="Text 3"/>
          <p:cNvSpPr txBox="1"/>
          <p:nvPr/>
        </p:nvSpPr>
        <p:spPr>
          <a:xfrm>
            <a:off x="1280160" y="2834640"/>
            <a:ext cx="9966960" cy="45720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Do any contracts restrict where client data can live?</a:t>
            </a:r>
            <a:endParaRPr lang="en-US" sz="1900" dirty="0"/>
          </a:p>
        </p:txBody>
      </p:sp>
      <p:sp>
        <p:nvSpPr>
          <p:cNvPr id="6" name="Shape 4"/>
          <p:cNvSpPr/>
          <p:nvPr/>
        </p:nvSpPr>
        <p:spPr>
          <a:xfrm>
            <a:off x="818388" y="3717036"/>
            <a:ext cx="155448" cy="155448"/>
          </a:xfrm>
          <a:prstGeom prst="ellipse">
            <a:avLst/>
          </a:prstGeom>
          <a:solidFill>
            <a:srgbClr val="D6A24A"/>
          </a:solidFill>
          <a:ln w="12700">
            <a:solidFill>
              <a:srgbClr val="D6A24A"/>
            </a:solidFill>
            <a:prstDash val="solid"/>
          </a:ln>
        </p:spPr>
        <p:txBody>
          <a:bodyPr/>
          <a:p/>
        </p:txBody>
      </p:sp>
      <p:sp>
        <p:nvSpPr>
          <p:cNvPr id="7" name="Text 5"/>
          <p:cNvSpPr txBox="1"/>
          <p:nvPr/>
        </p:nvSpPr>
        <p:spPr>
          <a:xfrm>
            <a:off x="1280160" y="3611880"/>
            <a:ext cx="9966960" cy="45720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Are notebooks ever the deliverable itself?</a:t>
            </a:r>
            <a:endParaRPr lang="en-US" sz="1900" dirty="0"/>
          </a:p>
        </p:txBody>
      </p:sp>
      <p:sp>
        <p:nvSpPr>
          <p:cNvPr id="8" name="Shape 6"/>
          <p:cNvSpPr/>
          <p:nvPr/>
        </p:nvSpPr>
        <p:spPr>
          <a:xfrm>
            <a:off x="818388" y="4494276"/>
            <a:ext cx="155448" cy="155448"/>
          </a:xfrm>
          <a:prstGeom prst="ellipse">
            <a:avLst/>
          </a:prstGeom>
          <a:solidFill>
            <a:srgbClr val="D6A24A"/>
          </a:solidFill>
          <a:ln w="12700">
            <a:solidFill>
              <a:srgbClr val="D6A24A"/>
            </a:solidFill>
            <a:prstDash val="solid"/>
          </a:ln>
        </p:spPr>
        <p:txBody>
          <a:bodyPr/>
          <a:p/>
        </p:txBody>
      </p:sp>
      <p:sp>
        <p:nvSpPr>
          <p:cNvPr id="9" name="Text 7"/>
          <p:cNvSpPr txBox="1"/>
          <p:nvPr/>
        </p:nvSpPr>
        <p:spPr>
          <a:xfrm>
            <a:off x="1280160" y="4389120"/>
            <a:ext cx="9966960" cy="45720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How much of the work is thrown away?</a:t>
            </a:r>
            <a:endParaRPr lang="en-US" sz="1900" dirty="0"/>
          </a:p>
        </p:txBody>
      </p:sp>
      <p:sp>
        <p:nvSpPr>
          <p:cNvPr id="10" name="Shape 8"/>
          <p:cNvSpPr/>
          <p:nvPr/>
        </p:nvSpPr>
        <p:spPr>
          <a:xfrm>
            <a:off x="818388" y="5271516"/>
            <a:ext cx="155448" cy="155448"/>
          </a:xfrm>
          <a:prstGeom prst="ellipse">
            <a:avLst/>
          </a:prstGeom>
          <a:solidFill>
            <a:srgbClr val="D6A24A"/>
          </a:solidFill>
          <a:ln w="12700">
            <a:solidFill>
              <a:srgbClr val="D6A24A"/>
            </a:solidFill>
            <a:prstDash val="solid"/>
          </a:ln>
        </p:spPr>
        <p:txBody>
          <a:bodyPr/>
          <a:p/>
        </p:txBody>
      </p:sp>
      <p:sp>
        <p:nvSpPr>
          <p:cNvPr id="11" name="Text 9"/>
          <p:cNvSpPr txBox="1"/>
          <p:nvPr/>
        </p:nvSpPr>
        <p:spPr>
          <a:xfrm>
            <a:off x="1280160" y="5166360"/>
            <a:ext cx="9966960" cy="45720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Is rebuilding old numbers an audit requirement?</a:t>
            </a:r>
            <a:endParaRPr lang="en-US" sz="1900" dirty="0"/>
          </a:p>
        </p:txBody>
      </p:sp>
      <p:sp>
        <p:nvSpPr>
          <p:cNvPr id="12" name="Text 10"/>
          <p:cNvSpPr txBox="1"/>
          <p:nvPr/>
        </p:nvSpPr>
        <p:spPr>
          <a:xfrm>
            <a:off x="731520" y="6080760"/>
            <a:ext cx="10698480" cy="320040"/>
          </a:xfrm>
          <a:prstGeom prst="rect">
            <a:avLst/>
          </a:prstGeom>
          <a:noFill/>
          <a:ln/>
        </p:spPr>
        <p:txBody>
          <a:bodyPr wrap="square" lIns="0" tIns="0" rIns="0" bIns="0" rtlCol="0" anchor="ctr"/>
          <a:lstStyle/>
          <a:p>
            <a:pPr indent="0" marL="0">
              <a:buNone/>
            </a:pPr>
            <a:r>
              <a:rPr lang="en-US" sz="1400" i="1" dirty="0">
                <a:solidFill>
                  <a:srgbClr val="7C93AE"/>
                </a:solidFill>
                <a:latin typeface="Calibri" pitchFamily="34" charset="0"/>
                <a:ea typeface="Calibri" pitchFamily="34" charset="-122"/>
                <a:cs typeface="Calibri" pitchFamily="34" charset="-120"/>
              </a:rPr>
              <a:t>The first one changes my answer on data.</a:t>
            </a:r>
            <a:endParaRPr lang="en-US" sz="14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914400"/>
            <a:ext cx="10789920" cy="274320"/>
          </a:xfrm>
          <a:prstGeom prst="rect">
            <a:avLst/>
          </a:prstGeom>
          <a:noFill/>
        </p:spPr>
        <p:txBody>
          <a:bodyPr wrap="none">
            <a:spAutoFit/>
          </a:bodyPr>
          <a:lstStyle/>
          <a:p>
            <a:r>
              <a:rPr sz="1000" b="1">
                <a:solidFill>
                  <a:srgbClr val="68748A"/>
                </a:solidFill>
                <a:latin typeface="Arial"/>
              </a:rPr>
              <a:t>APPENDIX</a:t>
            </a:r>
          </a:p>
        </p:txBody>
      </p:sp>
      <p:sp>
        <p:nvSpPr>
          <p:cNvPr id="3" name="TextBox 2"/>
          <p:cNvSpPr txBox="1"/>
          <p:nvPr/>
        </p:nvSpPr>
        <p:spPr>
          <a:xfrm>
            <a:off x="731520" y="1261872"/>
            <a:ext cx="10789920" cy="640080"/>
          </a:xfrm>
          <a:prstGeom prst="rect">
            <a:avLst/>
          </a:prstGeom>
          <a:noFill/>
        </p:spPr>
        <p:txBody>
          <a:bodyPr wrap="none">
            <a:spAutoFit/>
          </a:bodyPr>
          <a:lstStyle/>
          <a:p>
            <a:r>
              <a:rPr sz="3400">
                <a:solidFill>
                  <a:srgbClr val="101722"/>
                </a:solidFill>
                <a:latin typeface="Arial"/>
              </a:rPr>
              <a:t>Sources I leaned on</a:t>
            </a:r>
          </a:p>
        </p:txBody>
      </p:sp>
      <p:sp>
        <p:nvSpPr>
          <p:cNvPr id="4" name="Oval 3"/>
          <p:cNvSpPr/>
          <p:nvPr/>
        </p:nvSpPr>
        <p:spPr>
          <a:xfrm>
            <a:off x="841248" y="2221992"/>
            <a:ext cx="146304" cy="146304"/>
          </a:xfrm>
          <a:prstGeom prst="ellipse">
            <a:avLst/>
          </a:prstGeom>
          <a:solidFill>
            <a:srgbClr val="DAA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148840"/>
            <a:ext cx="9966960" cy="475488"/>
          </a:xfrm>
          <a:prstGeom prst="rect">
            <a:avLst/>
          </a:prstGeom>
          <a:noFill/>
        </p:spPr>
        <p:txBody>
          <a:bodyPr wrap="square" lIns="0" rIns="0" tIns="0" bIns="0">
            <a:spAutoFit/>
          </a:bodyPr>
          <a:lstStyle/>
          <a:p>
            <a:r>
              <a:rPr sz="1700" b="1">
                <a:solidFill>
                  <a:srgbClr val="101722"/>
                </a:solidFill>
                <a:latin typeface="Arial"/>
              </a:rPr>
              <a:t>GitHub Docs: </a:t>
            </a:r>
            <a:r>
              <a:rPr sz="1700">
                <a:solidFill>
                  <a:srgbClr val="101722"/>
                </a:solidFill>
                <a:latin typeface="Arial"/>
              </a:rPr>
              <a:t>GitHub Flow, pull requests, GitHub Actions, rulesets, protected branches, and required status checks.</a:t>
            </a:r>
          </a:p>
        </p:txBody>
      </p:sp>
      <p:sp>
        <p:nvSpPr>
          <p:cNvPr id="6" name="Oval 5"/>
          <p:cNvSpPr/>
          <p:nvPr/>
        </p:nvSpPr>
        <p:spPr>
          <a:xfrm>
            <a:off x="841248" y="2880360"/>
            <a:ext cx="146304" cy="146304"/>
          </a:xfrm>
          <a:prstGeom prst="ellipse">
            <a:avLst/>
          </a:prstGeom>
          <a:solidFill>
            <a:srgbClr val="DAA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807208"/>
            <a:ext cx="9966960" cy="475488"/>
          </a:xfrm>
          <a:prstGeom prst="rect">
            <a:avLst/>
          </a:prstGeom>
          <a:noFill/>
        </p:spPr>
        <p:txBody>
          <a:bodyPr wrap="square" lIns="0" rIns="0" tIns="0" bIns="0">
            <a:spAutoFit/>
          </a:bodyPr>
          <a:lstStyle/>
          <a:p>
            <a:r>
              <a:rPr sz="1700" b="1">
                <a:solidFill>
                  <a:srgbClr val="101722"/>
                </a:solidFill>
                <a:latin typeface="Arial"/>
              </a:rPr>
              <a:t>DORA / Accelerate: </a:t>
            </a:r>
            <a:r>
              <a:rPr sz="1700">
                <a:solidFill>
                  <a:srgbClr val="101722"/>
                </a:solidFill>
                <a:latin typeface="Arial"/>
              </a:rPr>
              <a:t>Small batches, short-lived branches, CI and fast feedback as reliability practices.</a:t>
            </a:r>
          </a:p>
        </p:txBody>
      </p:sp>
      <p:sp>
        <p:nvSpPr>
          <p:cNvPr id="8" name="Oval 7"/>
          <p:cNvSpPr/>
          <p:nvPr/>
        </p:nvSpPr>
        <p:spPr>
          <a:xfrm>
            <a:off x="841248" y="3538728"/>
            <a:ext cx="146304" cy="146304"/>
          </a:xfrm>
          <a:prstGeom prst="ellipse">
            <a:avLst/>
          </a:prstGeom>
          <a:solidFill>
            <a:srgbClr val="DAA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465576"/>
            <a:ext cx="9966960" cy="475488"/>
          </a:xfrm>
          <a:prstGeom prst="rect">
            <a:avLst/>
          </a:prstGeom>
          <a:noFill/>
        </p:spPr>
        <p:txBody>
          <a:bodyPr wrap="square" lIns="0" rIns="0" tIns="0" bIns="0">
            <a:spAutoFit/>
          </a:bodyPr>
          <a:lstStyle/>
          <a:p>
            <a:r>
              <a:rPr sz="1700" b="1">
                <a:solidFill>
                  <a:srgbClr val="101722"/>
                </a:solidFill>
                <a:latin typeface="Arial"/>
              </a:rPr>
              <a:t>Jupyter ecosystem: </a:t>
            </a:r>
            <a:r>
              <a:rPr sz="1700">
                <a:solidFill>
                  <a:srgbClr val="101722"/>
                </a:solidFill>
                <a:latin typeface="Arial"/>
              </a:rPr>
              <a:t>nbstripout / Jupytext for reviewable notebooks and clean diffs.</a:t>
            </a:r>
          </a:p>
        </p:txBody>
      </p:sp>
      <p:sp>
        <p:nvSpPr>
          <p:cNvPr id="10" name="Oval 9"/>
          <p:cNvSpPr/>
          <p:nvPr/>
        </p:nvSpPr>
        <p:spPr>
          <a:xfrm>
            <a:off x="841248" y="4197096"/>
            <a:ext cx="146304" cy="146304"/>
          </a:xfrm>
          <a:prstGeom prst="ellipse">
            <a:avLst/>
          </a:prstGeom>
          <a:solidFill>
            <a:srgbClr val="DAA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123944"/>
            <a:ext cx="9966960" cy="475488"/>
          </a:xfrm>
          <a:prstGeom prst="rect">
            <a:avLst/>
          </a:prstGeom>
          <a:noFill/>
        </p:spPr>
        <p:txBody>
          <a:bodyPr wrap="square" lIns="0" rIns="0" tIns="0" bIns="0">
            <a:spAutoFit/>
          </a:bodyPr>
          <a:lstStyle/>
          <a:p>
            <a:r>
              <a:rPr sz="1700" b="1">
                <a:solidFill>
                  <a:srgbClr val="101722"/>
                </a:solidFill>
                <a:latin typeface="Arial"/>
              </a:rPr>
              <a:t>Artifact/versioning tools: </a:t>
            </a:r>
            <a:r>
              <a:rPr sz="1700">
                <a:solidFill>
                  <a:srgbClr val="101722"/>
                </a:solidFill>
                <a:latin typeface="Arial"/>
              </a:rPr>
              <a:t>Git LFS, DVC and MLflow for large data, models and experiment lineage.</a:t>
            </a:r>
          </a:p>
        </p:txBody>
      </p:sp>
      <p:sp>
        <p:nvSpPr>
          <p:cNvPr id="12" name="Oval 11"/>
          <p:cNvSpPr/>
          <p:nvPr/>
        </p:nvSpPr>
        <p:spPr>
          <a:xfrm>
            <a:off x="841248" y="4855464"/>
            <a:ext cx="146304" cy="146304"/>
          </a:xfrm>
          <a:prstGeom prst="ellipse">
            <a:avLst/>
          </a:prstGeom>
          <a:solidFill>
            <a:srgbClr val="DAA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4782312"/>
            <a:ext cx="9966960" cy="475488"/>
          </a:xfrm>
          <a:prstGeom prst="rect">
            <a:avLst/>
          </a:prstGeom>
          <a:noFill/>
        </p:spPr>
        <p:txBody>
          <a:bodyPr wrap="square" lIns="0" rIns="0" tIns="0" bIns="0">
            <a:spAutoFit/>
          </a:bodyPr>
          <a:lstStyle/>
          <a:p>
            <a:r>
              <a:rPr sz="1700" b="1">
                <a:solidFill>
                  <a:srgbClr val="101722"/>
                </a:solidFill>
                <a:latin typeface="Arial"/>
              </a:rPr>
              <a:t>Internal questions to verify: </a:t>
            </a:r>
            <a:r>
              <a:rPr sz="1700">
                <a:solidFill>
                  <a:srgbClr val="101722"/>
                </a:solidFill>
                <a:latin typeface="Arial"/>
              </a:rPr>
              <a:t>Client data residency, whether notebooks are deliverables, and whether rebuilds are audit requirements.</a:t>
            </a:r>
          </a:p>
        </p:txBody>
      </p:sp>
      <p:sp>
        <p:nvSpPr>
          <p:cNvPr id="14" name="Rectangle 13"/>
          <p:cNvSpPr/>
          <p:nvPr/>
        </p:nvSpPr>
        <p:spPr>
          <a:xfrm>
            <a:off x="731520" y="5715000"/>
            <a:ext cx="10789920" cy="9144"/>
          </a:xfrm>
          <a:prstGeom prst="rect">
            <a:avLst/>
          </a:prstGeom>
          <a:solidFill>
            <a:srgbClr val="DC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833872"/>
            <a:ext cx="10789920" cy="320040"/>
          </a:xfrm>
          <a:prstGeom prst="rect">
            <a:avLst/>
          </a:prstGeom>
          <a:noFill/>
        </p:spPr>
        <p:txBody>
          <a:bodyPr wrap="none">
            <a:spAutoFit/>
          </a:bodyPr>
          <a:lstStyle/>
          <a:p>
            <a:r>
              <a:rPr sz="1200">
                <a:solidFill>
                  <a:srgbClr val="68748A"/>
                </a:solidFill>
                <a:latin typeface="Arial"/>
              </a:rPr>
              <a:t>I would not present this unless asked; it is there to defend the research behind the recommendation.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Analytics on GitHub</dc:title>
  <dc:subject>PptxGenJS Presentation</dc:subject>
  <dc:creator>PptxGenJS</dc:creator>
  <cp:lastModifiedBy>PptxGenJS</cp:lastModifiedBy>
  <cp:revision>1</cp:revision>
  <dcterms:created xsi:type="dcterms:W3CDTF">2026-09-01T01:22:23Z</dcterms:created>
  <dcterms:modified xsi:type="dcterms:W3CDTF">2026-09-01T01:22:23Z</dcterms:modified>
</cp:coreProperties>
</file>